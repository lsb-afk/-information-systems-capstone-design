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RedSlide1"/>
    <p:sldId id="257" r:id="rIdRedSlide2"/>
    <p:sldId id="258" r:id="rIdRedSlide3"/>
    <p:sldId id="259" r:id="rIdRedSlide4"/>
    <p:sldId id="260" r:id="rIdRedSlide5"/>
    <p:sldId id="261" r:id="rIdRedSlide6"/>
    <p:sldId id="262" r:id="rIdRedSlide7"/>
    <p:sldId id="263" r:id="rIdRedSlide8"/>
    <p:sldId id="264" r:id="rIdRedSlide9"/>
    <p:sldId id="265" r:id="rIdRedSlide10"/>
    <p:sldId id="266" r:id="rIdRedSlide11"/>
    <p:sldId id="267" r:id="rIdRedSlide12"/>
    <p:sldId id="268" r:id="rIdRedSlide13"/>
    <p:sldId id="269" r:id="rIdRedSlide14"/>
    <p:sldId id="270" r:id="rIdRedSlide15"/>
    <p:sldId id="271" r:id="rIdRedSlide16"/>
    <p:sldId id="272" r:id="rIdRedSlide17"/>
    <p:sldId id="273" r:id="rIdRedSlide18"/>
    <p:sldId id="274" r:id="rIdRedSlide19"/>
    <p:sldId id="275" r:id="rIdRedSlide20"/>
    <p:sldId id="276" r:id="rIdRedSlide21"/>
    <p:sldId id="277" r:id="rIdRedSlide22"/>
    <p:sldId id="278" r:id="rIdRedSlide23"/>
    <p:sldId id="279" r:id="rIdRedSlide24"/>
    <p:sldId id="280" r:id="rIdRedSlide25"/>
    <p:sldId id="281" r:id="rIdRedSlide26"/>
    <p:sldId id="282" r:id="rIdRedSlide27"/>
    <p:sldId id="283" r:id="rIdRedSlide28"/>
    <p:sldId id="284" r:id="rIdRedSlide29"/>
    <p:sldId id="285" r:id="rIdRedSlide30"/>
    <p:sldId id="286" r:id="rIdRedSlide31"/>
    <p:sldId id="287" r:id="rIdRedSlide32"/>
    <p:sldId id="288" r:id="rIdRedSlide33"/>
    <p:sldId id="289" r:id="rIdRedSlide34"/>
  </p:sldIdLst>
  <p:notesMasterIdLst>
    <p:notesMasterId r:id="rIdRedNotes"/>
  </p:notes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RedSlide1" Type="http://schemas.openxmlformats.org/officeDocument/2006/relationships/slide" Target="slides/slide1.xml" /><Relationship Id="rIdRedSlide2" Type="http://schemas.openxmlformats.org/officeDocument/2006/relationships/slide" Target="slides/slide2.xml" /><Relationship Id="rIdRedSlide3" Type="http://schemas.openxmlformats.org/officeDocument/2006/relationships/slide" Target="slides/slide3.xml" /><Relationship Id="rIdRedSlide4" Type="http://schemas.openxmlformats.org/officeDocument/2006/relationships/slide" Target="slides/slide4.xml" /><Relationship Id="rIdRedSlide5" Type="http://schemas.openxmlformats.org/officeDocument/2006/relationships/slide" Target="slides/slide5.xml" /><Relationship Id="rIdRedSlide6" Type="http://schemas.openxmlformats.org/officeDocument/2006/relationships/slide" Target="slides/slide6.xml" /><Relationship Id="rIdRedSlide7" Type="http://schemas.openxmlformats.org/officeDocument/2006/relationships/slide" Target="slides/slide7.xml" /><Relationship Id="rIdRedSlide8" Type="http://schemas.openxmlformats.org/officeDocument/2006/relationships/slide" Target="slides/slide8.xml" /><Relationship Id="rIdRedSlide9" Type="http://schemas.openxmlformats.org/officeDocument/2006/relationships/slide" Target="slides/slide9.xml" /><Relationship Id="rIdRedSlide10" Type="http://schemas.openxmlformats.org/officeDocument/2006/relationships/slide" Target="slides/slide10.xml" /><Relationship Id="rIdRedSlide11" Type="http://schemas.openxmlformats.org/officeDocument/2006/relationships/slide" Target="slides/slide11.xml" /><Relationship Id="rIdRedSlide12" Type="http://schemas.openxmlformats.org/officeDocument/2006/relationships/slide" Target="slides/slide12.xml" /><Relationship Id="rIdRedSlide13" Type="http://schemas.openxmlformats.org/officeDocument/2006/relationships/slide" Target="slides/slide13.xml" /><Relationship Id="rIdRedSlide14" Type="http://schemas.openxmlformats.org/officeDocument/2006/relationships/slide" Target="slides/slide14.xml" /><Relationship Id="rIdRedSlide15" Type="http://schemas.openxmlformats.org/officeDocument/2006/relationships/slide" Target="slides/slide15.xml" /><Relationship Id="rIdRedSlide16" Type="http://schemas.openxmlformats.org/officeDocument/2006/relationships/slide" Target="slides/slide16.xml" /><Relationship Id="rIdRedSlide17" Type="http://schemas.openxmlformats.org/officeDocument/2006/relationships/slide" Target="slides/slide17.xml" /><Relationship Id="rIdRedSlide18" Type="http://schemas.openxmlformats.org/officeDocument/2006/relationships/slide" Target="slides/slide18.xml" /><Relationship Id="rIdRedSlide19" Type="http://schemas.openxmlformats.org/officeDocument/2006/relationships/slide" Target="slides/slide19.xml" /><Relationship Id="rIdRedSlide20" Type="http://schemas.openxmlformats.org/officeDocument/2006/relationships/slide" Target="slides/slide20.xml" /><Relationship Id="rIdRedSlide21" Type="http://schemas.openxmlformats.org/officeDocument/2006/relationships/slide" Target="slides/slide21.xml" /><Relationship Id="rIdRedSlide22" Type="http://schemas.openxmlformats.org/officeDocument/2006/relationships/slide" Target="slides/slide22.xml" /><Relationship Id="rIdRedSlide23" Type="http://schemas.openxmlformats.org/officeDocument/2006/relationships/slide" Target="slides/slide23.xml" /><Relationship Id="rIdRedSlide24" Type="http://schemas.openxmlformats.org/officeDocument/2006/relationships/slide" Target="slides/slide24.xml" /><Relationship Id="rIdRedSlide25" Type="http://schemas.openxmlformats.org/officeDocument/2006/relationships/slide" Target="slides/slide25.xml" /><Relationship Id="rIdRedSlide26" Type="http://schemas.openxmlformats.org/officeDocument/2006/relationships/slide" Target="slides/slide26.xml" /><Relationship Id="rIdRedSlide27" Type="http://schemas.openxmlformats.org/officeDocument/2006/relationships/slide" Target="slides/slide27.xml" /><Relationship Id="rIdRedSlide28" Type="http://schemas.openxmlformats.org/officeDocument/2006/relationships/slide" Target="slides/slide28.xml" /><Relationship Id="rIdRedSlide29" Type="http://schemas.openxmlformats.org/officeDocument/2006/relationships/slide" Target="slides/slide29.xml" /><Relationship Id="rIdRedSlide30" Type="http://schemas.openxmlformats.org/officeDocument/2006/relationships/slide" Target="slides/slide30.xml" /><Relationship Id="rIdRedSlide31" Type="http://schemas.openxmlformats.org/officeDocument/2006/relationships/slide" Target="slides/slide31.xml" /><Relationship Id="rIdRedSlide32" Type="http://schemas.openxmlformats.org/officeDocument/2006/relationships/slide" Target="slides/slide32.xml" /><Relationship Id="rIdRedSlide33" Type="http://schemas.openxmlformats.org/officeDocument/2006/relationships/slide" Target="slides/slide33.xml" /><Relationship Id="rIdRedSlide34" Type="http://schemas.openxmlformats.org/officeDocument/2006/relationships/slide" Target="slides/slide34.xml" /><Relationship Id="rIdRedNotes" Type="http://schemas.openxmlformats.org/officeDocument/2006/relationships/notesMaster" Target="notesMasters/notesMaster1.xml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5fbeafad2b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968bba9f240a7" /><Relationship Type="http://schemas.openxmlformats.org/officeDocument/2006/relationships/notesMaster" Target="/ppt/notesMasters/notesMaster1.xml" Id="R9e6be07f1e8544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0dcd44526d44cb" /><Relationship Type="http://schemas.openxmlformats.org/officeDocument/2006/relationships/notesMaster" Target="/ppt/notesMasters/notesMaster1.xml" Id="R35cfd69eadaf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2367d56af64756" /><Relationship Type="http://schemas.openxmlformats.org/officeDocument/2006/relationships/notesMaster" Target="/ppt/notesMasters/notesMaster1.xml" Id="R61764b60d3044f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b53beab1364145" /><Relationship Type="http://schemas.openxmlformats.org/officeDocument/2006/relationships/notesMaster" Target="/ppt/notesMasters/notesMaster1.xml" Id="Ra672d3c1f1e044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9eccf41bcb4d61" /><Relationship Type="http://schemas.openxmlformats.org/officeDocument/2006/relationships/notesMaster" Target="/ppt/notesMasters/notesMaster1.xml" Id="R592f695d27f245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df0a936fb14c96" /><Relationship Type="http://schemas.openxmlformats.org/officeDocument/2006/relationships/notesMaster" Target="/ppt/notesMasters/notesMaster1.xml" Id="R24cf4ad017304f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1ca8daccad420a" /><Relationship Type="http://schemas.openxmlformats.org/officeDocument/2006/relationships/notesMaster" Target="/ppt/notesMasters/notesMaster1.xml" Id="Rab9aeb6aca7041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453eb0e5e14389" /><Relationship Type="http://schemas.openxmlformats.org/officeDocument/2006/relationships/notesMaster" Target="/ppt/notesMasters/notesMaster1.xml" Id="Rc25aca5f18b84c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1a36a7aaee4a00" /><Relationship Type="http://schemas.openxmlformats.org/officeDocument/2006/relationships/notesMaster" Target="/ppt/notesMasters/notesMaster1.xml" Id="R38d492080ed046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7eaf1b69fe4bdb" /><Relationship Type="http://schemas.openxmlformats.org/officeDocument/2006/relationships/notesMaster" Target="/ppt/notesMasters/notesMaster1.xml" Id="Rfa79be23cab44f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356a6c65934ef2" /><Relationship Type="http://schemas.openxmlformats.org/officeDocument/2006/relationships/notesMaster" Target="/ppt/notesMasters/notesMaster1.xml" Id="R096fdfd1f3cd47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34127c7cb44c09" /><Relationship Type="http://schemas.openxmlformats.org/officeDocument/2006/relationships/notesMaster" Target="/ppt/notesMasters/notesMaster1.xml" Id="R25a727de527f46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b3f78235d54c4f" /><Relationship Type="http://schemas.openxmlformats.org/officeDocument/2006/relationships/notesMaster" Target="/ppt/notesMasters/notesMaster1.xml" Id="R613be9b13be24d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868f68dd634d77" /><Relationship Type="http://schemas.openxmlformats.org/officeDocument/2006/relationships/notesMaster" Target="/ppt/notesMasters/notesMaster1.xml" Id="R19c46257c79949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3236717e5a4afc" /><Relationship Type="http://schemas.openxmlformats.org/officeDocument/2006/relationships/notesMaster" Target="/ppt/notesMasters/notesMaster1.xml" Id="R8fc14b20a84b41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80fa61eeb844fb" /><Relationship Type="http://schemas.openxmlformats.org/officeDocument/2006/relationships/notesMaster" Target="/ppt/notesMasters/notesMaster1.xml" Id="R3c16930d211f43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059be118304f60" /><Relationship Type="http://schemas.openxmlformats.org/officeDocument/2006/relationships/notesMaster" Target="/ppt/notesMasters/notesMaster1.xml" Id="R0aae04d8bc314b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2c4af362ed466c" /><Relationship Type="http://schemas.openxmlformats.org/officeDocument/2006/relationships/notesMaster" Target="/ppt/notesMasters/notesMaster1.xml" Id="Rba09ed6a06dd48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ad139ac27d4426" /><Relationship Type="http://schemas.openxmlformats.org/officeDocument/2006/relationships/notesMaster" Target="/ppt/notesMasters/notesMaster1.xml" Id="Rf1cbbaca306743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8f560def984343" /><Relationship Type="http://schemas.openxmlformats.org/officeDocument/2006/relationships/notesMaster" Target="/ppt/notesMasters/notesMaster1.xml" Id="Rb34ddd5b049b46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62835b3f764002" /><Relationship Type="http://schemas.openxmlformats.org/officeDocument/2006/relationships/notesMaster" Target="/ppt/notesMasters/notesMaster1.xml" Id="Rb805d919cf9e45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14eb58ccbbe49f7" /><Relationship Type="http://schemas.openxmlformats.org/officeDocument/2006/relationships/notesMaster" Target="/ppt/notesMasters/notesMaster1.xml" Id="Rf2c41893221944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6732caabcf41f7" /><Relationship Type="http://schemas.openxmlformats.org/officeDocument/2006/relationships/notesMaster" Target="/ppt/notesMasters/notesMaster1.xml" Id="R4dddadcb49fb4f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2ca9c085cdd4fb2" /><Relationship Type="http://schemas.openxmlformats.org/officeDocument/2006/relationships/notesMaster" Target="/ppt/notesMasters/notesMaster1.xml" Id="R6557c0f0ca184a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a50e44d9fd4317" /><Relationship Type="http://schemas.openxmlformats.org/officeDocument/2006/relationships/notesMaster" Target="/ppt/notesMasters/notesMaster1.xml" Id="R9071ae4945b64e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c246f2ef594f58" /><Relationship Type="http://schemas.openxmlformats.org/officeDocument/2006/relationships/notesMaster" Target="/ppt/notesMasters/notesMaster1.xml" Id="R8f12a278b10d45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d4f59648e2e47b1" /><Relationship Type="http://schemas.openxmlformats.org/officeDocument/2006/relationships/notesMaster" Target="/ppt/notesMasters/notesMaster1.xml" Id="R428e0d5eba6b4b7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e08dfdc6b84b1e" /><Relationship Type="http://schemas.openxmlformats.org/officeDocument/2006/relationships/notesMaster" Target="/ppt/notesMasters/notesMaster1.xml" Id="R03da191463df452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86c86404e0c4c0b" /><Relationship Type="http://schemas.openxmlformats.org/officeDocument/2006/relationships/notesMaster" Target="/ppt/notesMasters/notesMaster1.xml" Id="R67df04d470b94a0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13131a821e747a1" /><Relationship Type="http://schemas.openxmlformats.org/officeDocument/2006/relationships/notesMaster" Target="/ppt/notesMasters/notesMaster1.xml" Id="R6403660d5849423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a42907961549a1" /><Relationship Type="http://schemas.openxmlformats.org/officeDocument/2006/relationships/notesMaster" Target="/ppt/notesMasters/notesMaster1.xml" Id="Rdc0ac46ab4ec43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fa5c56e889435f" /><Relationship Type="http://schemas.openxmlformats.org/officeDocument/2006/relationships/notesMaster" Target="/ppt/notesMasters/notesMaster1.xml" Id="Rbe5c2930040c416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532a56d7aaa478e" /><Relationship Type="http://schemas.openxmlformats.org/officeDocument/2006/relationships/notesMaster" Target="/ppt/notesMasters/notesMaster1.xml" Id="R386ea87f8c5e4d3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555b410ad0446c9" /><Relationship Type="http://schemas.openxmlformats.org/officeDocument/2006/relationships/notesMaster" Target="/ppt/notesMasters/notesMaster1.xml" Id="R2a5e0632be0040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https://www.figma.com/design/3g5xR8OkcV6sUclyGM5d30?node-id=8-2</a:t>
            </a:r>
          </a:p>
          <a:p xmlns:a="http://schemas.openxmlformats.org/drawingml/2006/main">
            <a:r>
              <a:t>Screen ID: SCR-C-001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</a:t>
            </a:r>
          </a:p>
          <a:p xmlns:a="http://schemas.openxmlformats.org/drawingml/2006/main">
            <a:r>
              <a:t>경로: 최초 진입</a:t>
            </a:r>
          </a:p>
          <a:p xmlns:a="http://schemas.openxmlformats.org/drawingml/2006/main">
            <a:r>
              <a:t>정상: 체험 계정 확인 후 메인 이동</a:t>
            </a:r>
          </a:p>
          <a:p xmlns:a="http://schemas.openxmlformats.org/drawingml/2006/main">
            <a:r>
              <a:t>오류: 입력 유지·이메일/비밀번호 메시지 표시</a:t>
            </a:r>
          </a:p>
          <a:p xmlns:a="http://schemas.openxmlformats.org/drawingml/2006/main">
            <a:r>
              <a:t>실제 서버 인증·권한 보호는 후속 구현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https://www.figma.com/design/3g5xR8OkcV6sUclyGM5d30?node-id=9-2</a:t>
            </a:r>
          </a:p>
          <a:p xmlns:a="http://schemas.openxmlformats.org/drawingml/2006/main">
            <a:r>
              <a:t>Screen ID: SCR-C-002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UC01-1, UC02-4, UC03-4, UC10</a:t>
            </a:r>
          </a:p>
          <a:p xmlns:a="http://schemas.openxmlformats.org/drawingml/2006/main">
            <a:r>
              <a:t>경로: 로그인 &gt; 한눈에 보기</a:t>
            </a:r>
          </a:p>
          <a:p xmlns:a="http://schemas.openxmlformats.org/drawingml/2006/main">
            <a:r>
              <a:t>새로 방문: 기본 메뉴 248px</a:t>
            </a:r>
          </a:p>
          <a:p xmlns:a="http://schemas.openxmlformats.org/drawingml/2006/main">
            <a:r>
              <a:t>모바일: 너비 조절 대신 스크롤 가능한 서랍 메뉴</a:t>
            </a:r>
          </a:p>
          <a:p xmlns:a="http://schemas.openxmlformats.org/drawingml/2006/main">
            <a:r>
              <a:t>AI 계획 도우미는 확장 검토용 고정 예시 시연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https://www.figma.com/design/3g5xR8OkcV6sUclyGM5d30?node-id=10-2</a:t>
            </a:r>
          </a:p>
          <a:p xmlns:a="http://schemas.openxmlformats.org/drawingml/2006/main">
            <a:r>
              <a:t>Screen ID: SCR-C-003</a:t>
            </a:r>
          </a:p>
          <a:p xmlns:a="http://schemas.openxmlformats.org/drawingml/2006/main">
            <a:r>
              <a:t>Actor: 사용자(조회 가정) · 사업체 운영자 · 서비스 운영자</a:t>
            </a:r>
          </a:p>
          <a:p xmlns:a="http://schemas.openxmlformats.org/drawingml/2006/main">
            <a:r>
              <a:t>관련 UC: UC01-1, UC01-2, UC10</a:t>
            </a:r>
          </a:p>
          <a:p xmlns:a="http://schemas.openxmlformats.org/drawingml/2006/main">
            <a:r>
              <a:t>경로: 로그인 &gt; 한눈에 보기 &gt; 지역 분석 &gt; 방문과 계절</a:t>
            </a:r>
          </a:p>
          <a:p xmlns:a="http://schemas.openxmlformats.org/drawingml/2006/main">
            <a:r>
              <a:t>2025년: 인위적으로 만든 화면용 예시</a:t>
            </a:r>
          </a:p>
          <a:p xmlns:a="http://schemas.openxmlformats.org/drawingml/2006/main">
            <a:r>
              <a:t>2023년·2024년: 자료 없음</a:t>
            </a:r>
          </a:p>
          <a:p xmlns:a="http://schemas.openxmlformats.org/drawingml/2006/main">
            <a:r>
              <a:t>UC10 출처·기간·집계 기준은 결과와 함께 상시 표시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https://www.figma.com/design/3g5xR8OkcV6sUclyGM5d30?node-id=11-2</a:t>
            </a:r>
          </a:p>
          <a:p xmlns:a="http://schemas.openxmlformats.org/drawingml/2006/main">
            <a:r>
              <a:t>Screen ID: SCR-C-003</a:t>
            </a:r>
          </a:p>
          <a:p xmlns:a="http://schemas.openxmlformats.org/drawingml/2006/main">
            <a:r>
              <a:t>Actor: 사용자(조회 가정) · 사업체 운영자 · 서비스 운영자</a:t>
            </a:r>
          </a:p>
          <a:p xmlns:a="http://schemas.openxmlformats.org/drawingml/2006/main">
            <a:r>
              <a:t>관련 UC: UC02-1, UC02-2, UC02-3, UC10</a:t>
            </a:r>
          </a:p>
          <a:p xmlns:a="http://schemas.openxmlformats.org/drawingml/2006/main">
            <a:r>
              <a:t>경로: 로그인 &gt; 한눈에 보기 &gt; 지역 분석 &gt; 소비 비교</a:t>
            </a:r>
          </a:p>
          <a:p xmlns:a="http://schemas.openxmlformats.org/drawingml/2006/main">
            <a:r>
              <a:t>내국인·외국인 비중: 예시 집계값과 단위 표시</a:t>
            </a:r>
          </a:p>
          <a:p xmlns:a="http://schemas.openxmlformats.org/drawingml/2006/main">
            <a:r>
              <a:t>소비 미수집: 0원으로 바꾸지 않음</a:t>
            </a:r>
          </a:p>
          <a:p xmlns:a="http://schemas.openxmlformats.org/drawingml/2006/main">
            <a:r>
              <a:t>공급사·집계 기준이 다르면 비교 제한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https://www.figma.com/design/3g5xR8OkcV6sUclyGM5d30?node-id=12-2</a:t>
            </a:r>
          </a:p>
          <a:p xmlns:a="http://schemas.openxmlformats.org/drawingml/2006/main">
            <a:r>
              <a:t>Screen ID: SCR-C-004</a:t>
            </a:r>
          </a:p>
          <a:p xmlns:a="http://schemas.openxmlformats.org/drawingml/2006/main">
            <a:r>
              <a:t>Actor: 사용자(조회 가정) · 사업체 운영자 · 서비스 운영자</a:t>
            </a:r>
          </a:p>
          <a:p xmlns:a="http://schemas.openxmlformats.org/drawingml/2006/main">
            <a:r>
              <a:t>관련 UC: UC02-4, UC02-5, UC02-6, UC02-7, UC10</a:t>
            </a:r>
          </a:p>
          <a:p xmlns:a="http://schemas.openxmlformats.org/drawingml/2006/main">
            <a:r>
              <a:t>경로: 로그인 &gt; 한눈에 보기 &gt; 홍보 제안</a:t>
            </a:r>
          </a:p>
          <a:p xmlns:a="http://schemas.openxmlformats.org/drawingml/2006/main">
            <a:r>
              <a:t>일반 조회 Actor: 일정 저장·비공개 데이터 접근 없음(설계 가정)</a:t>
            </a:r>
          </a:p>
          <a:p xmlns:a="http://schemas.openxmlformats.org/drawingml/2006/main">
            <a:r>
              <a:t>F04 설명 초안: 선택·도입 검토 중, 비활성 상태</a:t>
            </a:r>
          </a:p>
          <a:p xmlns:a="http://schemas.openxmlformats.org/drawingml/2006/main">
            <a:r>
              <a:t>근거 부족·운영 조건 미확인은 해당 제안에 표시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https://www.figma.com/design/3g5xR8OkcV6sUclyGM5d30?node-id=13-2</a:t>
            </a:r>
          </a:p>
          <a:p xmlns:a="http://schemas.openxmlformats.org/drawingml/2006/main">
            <a:r>
              <a:t>Screen ID: SCR-B-001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UC03-1, UC03-2, UC03-3, UC03-4</a:t>
            </a:r>
          </a:p>
          <a:p xmlns:a="http://schemas.openxmlformats.org/drawingml/2006/main">
            <a:r>
              <a:t>경로: 로그인 &gt; 한눈에 보기 &gt; 3개월 일정</a:t>
            </a:r>
          </a:p>
          <a:p xmlns:a="http://schemas.openxmlformats.org/drawingml/2006/main">
            <a:r>
              <a:t>정상: 저장한 계획을 월별로 표시</a:t>
            </a:r>
          </a:p>
          <a:p xmlns:a="http://schemas.openxmlformats.org/drawingml/2006/main">
            <a:r>
              <a:t>빈 상태: 해당 월 계획 추가 제공</a:t>
            </a:r>
          </a:p>
          <a:p xmlns:a="http://schemas.openxmlformats.org/drawingml/2006/main">
            <a:r>
              <a:t>저장 실패: 입력 보존·재시도, 작성 완료로 표시하지 않음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https://www.figma.com/design/3g5xR8OkcV6sUclyGM5d30?node-id=38-2</a:t>
            </a:r>
          </a:p>
          <a:p xmlns:a="http://schemas.openxmlformats.org/drawingml/2006/main">
            <a:r>
              <a:t>Screen ID: SCR-B-001-P01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UC03-1, UC03-2, UC03-3</a:t>
            </a:r>
          </a:p>
          <a:p xmlns:a="http://schemas.openxmlformats.org/drawingml/2006/main">
            <a:r>
              <a:t>경로: 로그인 &gt; 한눈에 보기 &gt; 3개월 일정 &gt; 계획 작성·수정 팝업</a:t>
            </a:r>
          </a:p>
          <a:p xmlns:a="http://schemas.openxmlformats.org/drawingml/2006/main">
            <a:r>
              <a:t>필수값 오류: 폼 안에 원인 표시</a:t>
            </a:r>
          </a:p>
          <a:p xmlns:a="http://schemas.openxmlformats.org/drawingml/2006/main">
            <a:r>
              <a:t>저장 실패: 원래 저장본 유지, 입력한 수정본으로 재시도</a:t>
            </a:r>
          </a:p>
          <a:p xmlns:a="http://schemas.openxmlformats.org/drawingml/2006/main">
            <a:r>
              <a:t>저장 성공: 목록 갱신과 완료 안내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https://www.figma.com/design/3g5xR8OkcV6sUclyGM5d30?node-id=15-2</a:t>
            </a:r>
          </a:p>
          <a:p xmlns:a="http://schemas.openxmlformats.org/drawingml/2006/main">
            <a:r>
              <a:t>Screen ID: SCR-B-002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UC04-1, UC04-2, UC04-3, UC04-4, UC04-5, UC04-6, UC05-1, UC05-2</a:t>
            </a:r>
          </a:p>
          <a:p xmlns:a="http://schemas.openxmlformats.org/drawingml/2006/main">
            <a:r>
              <a:t>경로: 로그인 &gt; 한눈에 보기 &gt; 실행 기록</a:t>
            </a:r>
          </a:p>
          <a:p xmlns:a="http://schemas.openxmlformats.org/drawingml/2006/main">
            <a:r>
              <a:t>빈 상태: 먼저 계획을 만들도록 일정 이동 제공</a:t>
            </a:r>
          </a:p>
          <a:p xmlns:a="http://schemas.openxmlformats.org/drawingml/2006/main">
            <a:r>
              <a:t>숫자 0: 실제 확인한 0건, 빈칸: 미수집</a:t>
            </a:r>
          </a:p>
          <a:p xmlns:a="http://schemas.openxmlformats.org/drawingml/2006/main">
            <a:r>
              <a:t>F04 보고서 초안은 도입 검토 중, 필수 요약과 분리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https://www.figma.com/design/3g5xR8OkcV6sUclyGM5d30?node-id=39-2</a:t>
            </a:r>
          </a:p>
          <a:p xmlns:a="http://schemas.openxmlformats.org/drawingml/2006/main">
            <a:r>
              <a:t>Screen ID: SCR-B-002-P01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UC04-1, UC04-2, UC04-3, UC04-4, UC04-5, UC04-6</a:t>
            </a:r>
          </a:p>
          <a:p xmlns:a="http://schemas.openxmlformats.org/drawingml/2006/main">
            <a:r>
              <a:t>경로: 로그인 &gt; 한눈에 보기 &gt; 실행 기록 &gt; 사용·실행 기록 입력 팝업</a:t>
            </a:r>
          </a:p>
          <a:p xmlns:a="http://schemas.openxmlformats.org/drawingml/2006/main">
            <a:r>
              <a:t>미실행: 실제 실행 날짜 필수 아님</a:t>
            </a:r>
          </a:p>
          <a:p xmlns:a="http://schemas.openxmlformats.org/drawingml/2006/main">
            <a:r>
              <a:t>결과 미확보: 빈칸 허용·0 자동 입력 금지</a:t>
            </a:r>
          </a:p>
          <a:p xmlns:a="http://schemas.openxmlformats.org/drawingml/2006/main">
            <a:r>
              <a:t>수집값 오류·저장 오류: 입력 내용 유지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https://www.figma.com/design/3g5xR8OkcV6sUclyGM5d30?node-id=40-2</a:t>
            </a:r>
          </a:p>
          <a:p xmlns:a="http://schemas.openxmlformats.org/drawingml/2006/main">
            <a:r>
              <a:t>Screen ID: SCR-B-002-P02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UC05-1, UC05-2</a:t>
            </a:r>
          </a:p>
          <a:p xmlns:a="http://schemas.openxmlformats.org/drawingml/2006/main">
            <a:r>
              <a:t>경로: 로그인 &gt; 한눈에 보기 &gt; 실행 기록 &gt; 사용 결과 요약 팝업</a:t>
            </a:r>
          </a:p>
          <a:p xmlns:a="http://schemas.openxmlformats.org/drawingml/2006/main">
            <a:r>
              <a:t>기록 없음: 미기록 안내</a:t>
            </a:r>
          </a:p>
          <a:p xmlns:a="http://schemas.openxmlformats.org/drawingml/2006/main">
            <a:r>
              <a:t>미확보 결과: 요약에서도 미확보로 유지</a:t>
            </a:r>
          </a:p>
          <a:p xmlns:a="http://schemas.openxmlformats.org/drawingml/2006/main">
            <a:r>
              <a:t>규칙 기반 필수 요약이며 선택 AI 보고서와 구분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https://www.figma.com/design/3g5xR8OkcV6sUclyGM5d30?node-id=19-2</a:t>
            </a:r>
          </a:p>
          <a:p xmlns:a="http://schemas.openxmlformats.org/drawingml/2006/main">
            <a:r>
              <a:t>Screen ID: SCR-C-005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UC10</a:t>
            </a:r>
          </a:p>
          <a:p xmlns:a="http://schemas.openxmlformats.org/drawingml/2006/main">
            <a:r>
              <a:t>경로: 로그인 &gt; 한눈에 보기 &gt; 근거 연결</a:t>
            </a:r>
          </a:p>
          <a:p xmlns:a="http://schemas.openxmlformats.org/drawingml/2006/main">
            <a:r>
              <a:t>현재 관계는 고정 예시이며 실제 온톨로지 추론 아님</a:t>
            </a:r>
          </a:p>
          <a:p xmlns:a="http://schemas.openxmlformats.org/drawingml/2006/main">
            <a:r>
              <a:t>일반 조회 상태에는 비공개 상품·일정·기록 연결 제외</a:t>
            </a:r>
          </a:p>
          <a:p xmlns:a="http://schemas.openxmlformats.org/drawingml/2006/main">
            <a:r>
              <a:t>그래프와 동등한 글로 읽는 관계 제공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https://www.figma.com/design/3g5xR8OkcV6sUclyGM5d30?node-id=41-2</a:t>
            </a:r>
          </a:p>
          <a:p xmlns:a="http://schemas.openxmlformats.org/drawingml/2006/main">
            <a:r>
              <a:t>Screen ID: SCR-C-004-P01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UC02-4, UC02-5, UC02-6, UC02-7, UC10</a:t>
            </a:r>
          </a:p>
          <a:p xmlns:a="http://schemas.openxmlformats.org/drawingml/2006/main">
            <a:r>
              <a:t>경로: 로그인 &gt; 한눈에 보기 &gt; 홍보 제안 &gt; 추천 근거 상세 패널</a:t>
            </a:r>
          </a:p>
          <a:p xmlns:a="http://schemas.openxmlformats.org/drawingml/2006/main">
            <a:r>
              <a:t>중복 담기: 새 항목 대신 기존 계획 수정으로 연결</a:t>
            </a:r>
          </a:p>
          <a:p xmlns:a="http://schemas.openxmlformats.org/drawingml/2006/main">
            <a:r>
              <a:t>닫기/Escape: 이전 화면과 호출 버튼 복귀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https://www.figma.com/design/3g5xR8OkcV6sUclyGM5d30?node-id=21-2</a:t>
            </a:r>
          </a:p>
          <a:p xmlns:a="http://schemas.openxmlformats.org/drawingml/2006/main">
            <a:r>
              <a:t>Screen ID: SCR-A-001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UC10</a:t>
            </a:r>
          </a:p>
          <a:p xmlns:a="http://schemas.openxmlformats.org/drawingml/2006/main">
            <a:r>
              <a:t>경로: 로그인 &gt; 한눈에 보기 &gt; 자료 둘러보기 &gt; 조회 상태</a:t>
            </a:r>
          </a:p>
          <a:p xmlns:a="http://schemas.openxmlformats.org/drawingml/2006/main">
            <a:r>
              <a:t>사업체 운영자: 읽기 화면, 등록·기준 변경 없음</a:t>
            </a:r>
          </a:p>
          <a:p xmlns:a="http://schemas.openxmlformats.org/drawingml/2006/main">
            <a:r>
              <a:t>검색 결과 없음: 검색 조건 수정 안내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https://www.figma.com/design/3g5xR8OkcV6sUclyGM5d30?node-id=35-2</a:t>
            </a:r>
          </a:p>
          <a:p xmlns:a="http://schemas.openxmlformats.org/drawingml/2006/main">
            <a:r>
              <a:t>Screen ID: SCR-A-001</a:t>
            </a:r>
          </a:p>
          <a:p xmlns:a="http://schemas.openxmlformats.org/drawingml/2006/main">
            <a:r>
              <a:t>Actor: 서비스 운영자</a:t>
            </a:r>
          </a:p>
          <a:p xmlns:a="http://schemas.openxmlformats.org/drawingml/2006/main">
            <a:r>
              <a:t>관련 UC: UC07, UC08-1, UC08-2, UC08-3, UC08-4, UC08-5, UC09-1, UC09-2</a:t>
            </a:r>
          </a:p>
          <a:p xmlns:a="http://schemas.openxmlformats.org/drawingml/2006/main">
            <a:r>
              <a:t>경로: 로그인 &gt; 한눈에 보기 &gt; 자료·기준 관리</a:t>
            </a:r>
          </a:p>
          <a:p xmlns:a="http://schemas.openxmlformats.org/drawingml/2006/main">
            <a:r>
              <a:t>자료 검증은 등록의 필수 선행 처리</a:t>
            </a:r>
          </a:p>
          <a:p xmlns:a="http://schemas.openxmlformats.org/drawingml/2006/main">
            <a:r>
              <a:t>검증 실패·미확인 항목: 등록 차단</a:t>
            </a:r>
          </a:p>
          <a:p xmlns:a="http://schemas.openxmlformats.org/drawingml/2006/main">
            <a:r>
              <a:t>등록·기준 편집은 브라우저 시연이며 서버 처리 미연결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https://www.figma.com/design/3g5xR8OkcV6sUclyGM5d30?node-id=42-2</a:t>
            </a:r>
          </a:p>
          <a:p xmlns:a="http://schemas.openxmlformats.org/drawingml/2006/main">
            <a:r>
              <a:t>Screen ID: SCR-A-001-P01</a:t>
            </a:r>
          </a:p>
          <a:p xmlns:a="http://schemas.openxmlformats.org/drawingml/2006/main">
            <a:r>
              <a:t>Actor: 서비스 운영자</a:t>
            </a:r>
          </a:p>
          <a:p xmlns:a="http://schemas.openxmlformats.org/drawingml/2006/main">
            <a:r>
              <a:t>관련 UC: UC07, UC08-1, UC08-2, UC08-3, UC08-4, UC08-5</a:t>
            </a:r>
          </a:p>
          <a:p xmlns:a="http://schemas.openxmlformats.org/drawingml/2006/main">
            <a:r>
              <a:t>경로: 로그인 &gt; 한눈에 보기 &gt; 자료·기준 관리 &gt; CSV 검증 결과</a:t>
            </a:r>
          </a:p>
          <a:p xmlns:a="http://schemas.openxmlformats.org/drawingml/2006/main">
            <a:r>
              <a:t>일부 누락: 제외 여부와 사용 가능 범위 명시</a:t>
            </a:r>
          </a:p>
          <a:p xmlns:a="http://schemas.openxmlformats.org/drawingml/2006/main">
            <a:r>
              <a:t>실패·미확인: 등록 비활성</a:t>
            </a:r>
          </a:p>
          <a:p xmlns:a="http://schemas.openxmlformats.org/drawingml/2006/main">
            <a:r>
              <a:t>검증 이후 파일·기준 변경: 이전 통과 상태 무효화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https://www.figma.com/design/3g5xR8OkcV6sUclyGM5d30?node-id=44-2</a:t>
            </a:r>
          </a:p>
          <a:p xmlns:a="http://schemas.openxmlformats.org/drawingml/2006/main">
            <a:r>
              <a:t>Screen ID: SCR-A-001-P01</a:t>
            </a:r>
          </a:p>
          <a:p xmlns:a="http://schemas.openxmlformats.org/drawingml/2006/main">
            <a:r>
              <a:t>Actor: 서비스 운영자</a:t>
            </a:r>
          </a:p>
          <a:p xmlns:a="http://schemas.openxmlformats.org/drawingml/2006/main">
            <a:r>
              <a:t>관련 UC: UC08-1, UC08-2, UC08-3, UC08-4, UC08-5</a:t>
            </a:r>
          </a:p>
          <a:p xmlns:a="http://schemas.openxmlformats.org/drawingml/2006/main">
            <a:r>
              <a:t>경로: 로그인 &gt; 한눈에 보기 &gt; 자료·기준 관리 &gt; CSV 검증 · 등록 불가 상태</a:t>
            </a:r>
          </a:p>
          <a:p xmlns:a="http://schemas.openxmlformats.org/drawingml/2006/main">
            <a:r>
              <a:t>검증 오류를 성공으로 표시하지 않음</a:t>
            </a:r>
          </a:p>
          <a:p xmlns:a="http://schemas.openxmlformats.org/drawingml/2006/main">
            <a:r>
              <a:t>없는 수치를 만들어 보완하지 않음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https://www.figma.com/design/3g5xR8OkcV6sUclyGM5d30?node-id=45-2</a:t>
            </a:r>
          </a:p>
          <a:p xmlns:a="http://schemas.openxmlformats.org/drawingml/2006/main">
            <a:r>
              <a:t>Screen ID: SCR-A-001-P02</a:t>
            </a:r>
          </a:p>
          <a:p xmlns:a="http://schemas.openxmlformats.org/drawingml/2006/main">
            <a:r>
              <a:t>Actor: 서비스 운영자</a:t>
            </a:r>
          </a:p>
          <a:p xmlns:a="http://schemas.openxmlformats.org/drawingml/2006/main">
            <a:r>
              <a:t>관련 UC: UC09-1, UC09-2</a:t>
            </a:r>
          </a:p>
          <a:p xmlns:a="http://schemas.openxmlformats.org/drawingml/2006/main">
            <a:r>
              <a:t>경로: 로그인 &gt; 한눈에 보기 &gt; 자료·기준 관리 &gt; 추천 기준·근거 편집</a:t>
            </a:r>
          </a:p>
          <a:p xmlns:a="http://schemas.openxmlformats.org/drawingml/2006/main">
            <a:r>
              <a:t>실제 분석 결과·CSV 확보 후 운영 기준 확정</a:t>
            </a:r>
          </a:p>
          <a:p xmlns:a="http://schemas.openxmlformats.org/drawingml/2006/main">
            <a:r>
              <a:t>근거 필수값 누락: 오류 안내</a:t>
            </a:r>
          </a:p>
          <a:p xmlns:a="http://schemas.openxmlformats.org/drawingml/2006/main">
            <a:r>
              <a:t>저장 실패: 입력 보존·재시도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https://www.figma.com/design/3g5xR8OkcV6sUclyGM5d30?node-id=26-2</a:t>
            </a:r>
          </a:p>
          <a:p xmlns:a="http://schemas.openxmlformats.org/drawingml/2006/main">
            <a:r>
              <a:t>Screen ID: SCR-C-001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</a:t>
            </a:r>
          </a:p>
          <a:p xmlns:a="http://schemas.openxmlformats.org/drawingml/2006/main">
            <a:r>
              <a:t>경로: 최초 진입 &gt; 로그인 오류</a:t>
            </a:r>
          </a:p>
          <a:p xmlns:a="http://schemas.openxmlformats.org/drawingml/2006/main">
            <a:r>
              <a:t>연결 오류·서버 오류는 실인증 도입 시 추가 검증 필요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https://www.figma.com/design/3g5xR8OkcV6sUclyGM5d30?node-id=28-2</a:t>
            </a:r>
          </a:p>
          <a:p xmlns:a="http://schemas.openxmlformats.org/drawingml/2006/main">
            <a:r>
              <a:t>Screen ID: SCR-C-003</a:t>
            </a:r>
          </a:p>
          <a:p xmlns:a="http://schemas.openxmlformats.org/drawingml/2006/main">
            <a:r>
              <a:t>Actor: 사용자(조회 가정) · 사업체 운영자 · 서비스 운영자</a:t>
            </a:r>
          </a:p>
          <a:p xmlns:a="http://schemas.openxmlformats.org/drawingml/2006/main">
            <a:r>
              <a:t>관련 UC: UC01-1, UC01-2, UC10</a:t>
            </a:r>
          </a:p>
          <a:p xmlns:a="http://schemas.openxmlformats.org/drawingml/2006/main">
            <a:r>
              <a:t>경로: 로그인 &gt; 한눈에 보기 &gt; 지역 분석 &gt; 자료 없음 상태</a:t>
            </a:r>
          </a:p>
          <a:p xmlns:a="http://schemas.openxmlformats.org/drawingml/2006/main">
            <a:r>
              <a:t>자료 미확보는 실제 0명·0원과 다름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https://www.figma.com/design/3g5xR8OkcV6sUclyGM5d30?node-id=46-2</a:t>
            </a:r>
          </a:p>
          <a:p xmlns:a="http://schemas.openxmlformats.org/drawingml/2006/main">
            <a:r>
              <a:t>Screen ID: SCR-B-001-P01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UC03-1, UC03-3</a:t>
            </a:r>
          </a:p>
          <a:p xmlns:a="http://schemas.openxmlformats.org/drawingml/2006/main">
            <a:r>
              <a:t>경로: 로그인 &gt; 한눈에 보기 &gt; 3개월 일정 &gt; 계획 작성 · 저장 실패 상태</a:t>
            </a:r>
          </a:p>
          <a:p xmlns:a="http://schemas.openxmlformats.org/drawingml/2006/main">
            <a:r>
              <a:t>저장 실패 상태 재현은 테스트용 브라우저에서만 수행</a:t>
            </a:r>
          </a:p>
          <a:p xmlns:a="http://schemas.openxmlformats.org/drawingml/2006/main">
            <a:r>
              <a:t>일정 작성·수정의 완료 조건은 저장 성공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02_제품/화면설계/storyboards.json</a:t>
            </a:r>
          </a:p>
          <a:p xmlns:a="http://schemas.openxmlformats.org/drawingml/2006/main">
            <a:r>
              <a:t>https://www.figma.com/design/3g5xR8OkcV6sUclyGM5d30?node-id=30-2</a:t>
            </a:r>
          </a:p>
          <a:p xmlns:a="http://schemas.openxmlformats.org/drawingml/2006/main">
            <a:r>
              <a:t>Screen ID: SCR-A-001</a:t>
            </a:r>
          </a:p>
          <a:p xmlns:a="http://schemas.openxmlformats.org/drawingml/2006/main">
            <a:r>
              <a:t>Actor: 사업체 운영자 · 서비스 운영자</a:t>
            </a:r>
          </a:p>
          <a:p xmlns:a="http://schemas.openxmlformats.org/drawingml/2006/main">
            <a:r>
              <a:t>관련 UC: UC10</a:t>
            </a:r>
          </a:p>
          <a:p xmlns:a="http://schemas.openxmlformats.org/drawingml/2006/main">
            <a:r>
              <a:t>경로: 로그인 &gt; 한눈에 보기 &gt; 자료 둘러보기 &gt; 검색 결과 없음</a:t>
            </a:r>
          </a:p>
          <a:p xmlns:a="http://schemas.openxmlformats.org/drawingml/2006/main">
            <a:r>
              <a:t>빈 표만 보여주지 않고 검색어 수정 안내 제공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00_제출/Red_PROJECT.md; 00_제출/Red_USECASE.md; 00_제출/Red_SCREEN.md; 02_제품/화면설계/storyboards.json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2.xml" /><Relationship Id="rIdScreen" Type="http://schemas.openxmlformats.org/officeDocument/2006/relationships/image" Target="../media/storyboard-login.png" /><Relationship Id="rIdFigma" Type="http://schemas.openxmlformats.org/officeDocument/2006/relationships/hyperlink" Target="https://www.figma.com/design/3g5xR8OkcV6sUclyGM5d30?node-id=8-2" TargetMode="External" /><Relationship Id="rIdMove3" Type="http://schemas.openxmlformats.org/officeDocument/2006/relationships/slide" Target="slide13.xml" /><Relationship Id="rIdMove5" Type="http://schemas.openxmlformats.org/officeDocument/2006/relationships/slide" Target="slide13.xml" /><Relationship Id="rIdLink3" Type="http://schemas.openxmlformats.org/officeDocument/2006/relationships/hyperlink" Target="https://www.figma.com/design/3g5xR8OkcV6sUclyGM5d30?node-id=8-2" TargetMode="Externa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3.xml" /><Relationship Id="rIdScreen" Type="http://schemas.openxmlformats.org/officeDocument/2006/relationships/image" Target="../media/storyboard-overview.png" /><Relationship Id="rIdFigma" Type="http://schemas.openxmlformats.org/officeDocument/2006/relationships/hyperlink" Target="https://www.figma.com/design/3g5xR8OkcV6sUclyGM5d30?node-id=9-2" TargetMode="External" /><Relationship Id="rIdMove3" Type="http://schemas.openxmlformats.org/officeDocument/2006/relationships/slide" Target="slide14.xml" /><Relationship Id="rIdMove4" Type="http://schemas.openxmlformats.org/officeDocument/2006/relationships/slide" Target="slide16.xml" /><Relationship Id="rIdLink3" Type="http://schemas.openxmlformats.org/officeDocument/2006/relationships/hyperlink" Target="https://www.figma.com/design/3g5xR8OkcV6sUclyGM5d30?node-id=9-2" TargetMode="Externa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4.xml" /><Relationship Id="rIdScreen" Type="http://schemas.openxmlformats.org/officeDocument/2006/relationships/image" Target="../media/storyboard-analysis-visits.png" /><Relationship Id="rIdFigma" Type="http://schemas.openxmlformats.org/officeDocument/2006/relationships/hyperlink" Target="https://www.figma.com/design/3g5xR8OkcV6sUclyGM5d30?node-id=10-2" TargetMode="External" /><Relationship Id="rIdLink3" Type="http://schemas.openxmlformats.org/officeDocument/2006/relationships/hyperlink" Target="https://www.figma.com/design/3g5xR8OkcV6sUclyGM5d30?node-id=10-2" TargetMode="Externa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5.xml" /><Relationship Id="rIdScreen" Type="http://schemas.openxmlformats.org/officeDocument/2006/relationships/image" Target="../media/storyboard-analysis-consumption.png" /><Relationship Id="rIdFigma" Type="http://schemas.openxmlformats.org/officeDocument/2006/relationships/hyperlink" Target="https://www.figma.com/design/3g5xR8OkcV6sUclyGM5d30?node-id=11-2" TargetMode="External" /><Relationship Id="rIdLink3" Type="http://schemas.openxmlformats.org/officeDocument/2006/relationships/hyperlink" Target="https://www.figma.com/design/3g5xR8OkcV6sUclyGM5d30?node-id=11-2" TargetMode="Externa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6.xml" /><Relationship Id="rIdScreen" Type="http://schemas.openxmlformats.org/officeDocument/2006/relationships/image" Target="../media/storyboard-recommendations.png" /><Relationship Id="rIdFigma" Type="http://schemas.openxmlformats.org/officeDocument/2006/relationships/hyperlink" Target="https://www.figma.com/design/3g5xR8OkcV6sUclyGM5d30?node-id=12-2" TargetMode="External" /><Relationship Id="rIdMove1" Type="http://schemas.openxmlformats.org/officeDocument/2006/relationships/slide" Target="slide23.xml" /><Relationship Id="rIdMove2" Type="http://schemas.openxmlformats.org/officeDocument/2006/relationships/slide" Target="slide18.xml" /><Relationship Id="rIdMove3" Type="http://schemas.openxmlformats.org/officeDocument/2006/relationships/slide" Target="slide22.xml" /><Relationship Id="rIdLink3" Type="http://schemas.openxmlformats.org/officeDocument/2006/relationships/hyperlink" Target="https://www.figma.com/design/3g5xR8OkcV6sUclyGM5d30?node-id=12-2" TargetMode="Externa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7.xml" /><Relationship Id="rIdScreen" Type="http://schemas.openxmlformats.org/officeDocument/2006/relationships/image" Target="../media/storyboard-calendar.png" /><Relationship Id="rIdFigma" Type="http://schemas.openxmlformats.org/officeDocument/2006/relationships/hyperlink" Target="https://www.figma.com/design/3g5xR8OkcV6sUclyGM5d30?node-id=13-2" TargetMode="External" /><Relationship Id="rIdMove0" Type="http://schemas.openxmlformats.org/officeDocument/2006/relationships/slide" Target="slide18.xml" /><Relationship Id="rIdMove1" Type="http://schemas.openxmlformats.org/officeDocument/2006/relationships/slide" Target="slide18.xml" /><Relationship Id="rIdMove2" Type="http://schemas.openxmlformats.org/officeDocument/2006/relationships/slide" Target="slide20.xml" /><Relationship Id="rIdMove3" Type="http://schemas.openxmlformats.org/officeDocument/2006/relationships/slide" Target="slide18.xml" /><Relationship Id="rIdLink3" Type="http://schemas.openxmlformats.org/officeDocument/2006/relationships/hyperlink" Target="https://www.figma.com/design/3g5xR8OkcV6sUclyGM5d30?node-id=13-2" TargetMode="Externa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8.xml" /><Relationship Id="rIdScreen" Type="http://schemas.openxmlformats.org/officeDocument/2006/relationships/image" Target="../media/storyboard-plan-edit.png" /><Relationship Id="rIdFigma" Type="http://schemas.openxmlformats.org/officeDocument/2006/relationships/hyperlink" Target="https://www.figma.com/design/3g5xR8OkcV6sUclyGM5d30?node-id=38-2" TargetMode="External" /><Relationship Id="rIdMove3" Type="http://schemas.openxmlformats.org/officeDocument/2006/relationships/slide" Target="slide17.xml" /><Relationship Id="rIdMove4" Type="http://schemas.openxmlformats.org/officeDocument/2006/relationships/slide" Target="slide17.xml" /><Relationship Id="rIdLink3" Type="http://schemas.openxmlformats.org/officeDocument/2006/relationships/hyperlink" Target="https://www.figma.com/design/3g5xR8OkcV6sUclyGM5d30?node-id=38-2" TargetMode="Externa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19.xml" /><Relationship Id="rIdScreen" Type="http://schemas.openxmlformats.org/officeDocument/2006/relationships/image" Target="../media/storyboard-records.png" /><Relationship Id="rIdFigma" Type="http://schemas.openxmlformats.org/officeDocument/2006/relationships/hyperlink" Target="https://www.figma.com/design/3g5xR8OkcV6sUclyGM5d30?node-id=15-2" TargetMode="External" /><Relationship Id="rIdMove0" Type="http://schemas.openxmlformats.org/officeDocument/2006/relationships/slide" Target="slide20.xml" /><Relationship Id="rIdMove2" Type="http://schemas.openxmlformats.org/officeDocument/2006/relationships/slide" Target="slide21.xml" /><Relationship Id="rIdLink3" Type="http://schemas.openxmlformats.org/officeDocument/2006/relationships/hyperlink" Target="https://www.figma.com/design/3g5xR8OkcV6sUclyGM5d30?node-id=15-2" TargetMode="Externa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0.xml" /><Relationship Id="rIdScreen" Type="http://schemas.openxmlformats.org/officeDocument/2006/relationships/image" Target="../media/storyboard-record-edit.png" /><Relationship Id="rIdFigma" Type="http://schemas.openxmlformats.org/officeDocument/2006/relationships/hyperlink" Target="https://www.figma.com/design/3g5xR8OkcV6sUclyGM5d30?node-id=39-2" TargetMode="External" /><Relationship Id="rIdMove5" Type="http://schemas.openxmlformats.org/officeDocument/2006/relationships/slide" Target="slide19.xml" /><Relationship Id="rIdLink3" Type="http://schemas.openxmlformats.org/officeDocument/2006/relationships/hyperlink" Target="https://www.figma.com/design/3g5xR8OkcV6sUclyGM5d30?node-id=39-2" TargetMode="Externa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1.xml" /><Relationship Id="rIdScreen" Type="http://schemas.openxmlformats.org/officeDocument/2006/relationships/image" Target="../media/storyboard-summary.png" /><Relationship Id="rIdFigma" Type="http://schemas.openxmlformats.org/officeDocument/2006/relationships/hyperlink" Target="https://www.figma.com/design/3g5xR8OkcV6sUclyGM5d30?node-id=40-2" TargetMode="External" /><Relationship Id="rIdMove1" Type="http://schemas.openxmlformats.org/officeDocument/2006/relationships/slide" Target="slide19.xml" /><Relationship Id="rIdLink26" Type="http://schemas.openxmlformats.org/officeDocument/2006/relationships/hyperlink" Target="https://www.figma.com/design/3g5xR8OkcV6sUclyGM5d30?node-id=40-2" TargetMode="Externa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2.xml" /><Relationship Id="rIdScreen" Type="http://schemas.openxmlformats.org/officeDocument/2006/relationships/image" Target="../media/storyboard-ontology.png" /><Relationship Id="rIdFigma" Type="http://schemas.openxmlformats.org/officeDocument/2006/relationships/hyperlink" Target="https://www.figma.com/design/3g5xR8OkcV6sUclyGM5d30?node-id=19-2" TargetMode="External" /><Relationship Id="rIdMove2" Type="http://schemas.openxmlformats.org/officeDocument/2006/relationships/slide" Target="slide23.xml" /><Relationship Id="rIdLink26" Type="http://schemas.openxmlformats.org/officeDocument/2006/relationships/hyperlink" Target="https://www.figma.com/design/3g5xR8OkcV6sUclyGM5d30?node-id=19-2" TargetMode="Externa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3.xml" /><Relationship Id="rIdScreen" Type="http://schemas.openxmlformats.org/officeDocument/2006/relationships/image" Target="../media/storyboard-evidence.png" /><Relationship Id="rIdFigma" Type="http://schemas.openxmlformats.org/officeDocument/2006/relationships/hyperlink" Target="https://www.figma.com/design/3g5xR8OkcV6sUclyGM5d30?node-id=41-2" TargetMode="External" /><Relationship Id="rIdMove2" Type="http://schemas.openxmlformats.org/officeDocument/2006/relationships/slide" Target="slide18.xml" /><Relationship Id="rIdLink26" Type="http://schemas.openxmlformats.org/officeDocument/2006/relationships/hyperlink" Target="https://www.figma.com/design/3g5xR8OkcV6sUclyGM5d30?node-id=41-2" TargetMode="Externa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4.xml" /><Relationship Id="rIdScreen" Type="http://schemas.openxmlformats.org/officeDocument/2006/relationships/image" Target="../media/storyboard-data-read.png" /><Relationship Id="rIdFigma" Type="http://schemas.openxmlformats.org/officeDocument/2006/relationships/hyperlink" Target="https://www.figma.com/design/3g5xR8OkcV6sUclyGM5d30?node-id=21-2" TargetMode="External" /><Relationship Id="rIdLink26" Type="http://schemas.openxmlformats.org/officeDocument/2006/relationships/hyperlink" Target="https://www.figma.com/design/3g5xR8OkcV6sUclyGM5d30?node-id=21-2" TargetMode="Externa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5.xml" /><Relationship Id="rIdScreen" Type="http://schemas.openxmlformats.org/officeDocument/2006/relationships/image" Target="../media/storyboard-data-admin.png" /><Relationship Id="rIdFigma" Type="http://schemas.openxmlformats.org/officeDocument/2006/relationships/hyperlink" Target="https://www.figma.com/design/3g5xR8OkcV6sUclyGM5d30?node-id=35-2" TargetMode="External" /><Relationship Id="rIdMove2" Type="http://schemas.openxmlformats.org/officeDocument/2006/relationships/slide" Target="slide26.xml" /><Relationship Id="rIdMove3" Type="http://schemas.openxmlformats.org/officeDocument/2006/relationships/slide" Target="slide28.xml" /><Relationship Id="rIdLink3" Type="http://schemas.openxmlformats.org/officeDocument/2006/relationships/hyperlink" Target="https://www.figma.com/design/3g5xR8OkcV6sUclyGM5d30?node-id=35-2" TargetMode="Externa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6.xml" /><Relationship Id="rIdScreen" Type="http://schemas.openxmlformats.org/officeDocument/2006/relationships/image" Target="../media/storyboard-csv-validation.png" /><Relationship Id="rIdFigma" Type="http://schemas.openxmlformats.org/officeDocument/2006/relationships/hyperlink" Target="https://www.figma.com/design/3g5xR8OkcV6sUclyGM5d30?node-id=42-2" TargetMode="External" /><Relationship Id="rIdMove1" Type="http://schemas.openxmlformats.org/officeDocument/2006/relationships/slide" Target="slide24.xml" /><Relationship Id="rIdLink26" Type="http://schemas.openxmlformats.org/officeDocument/2006/relationships/hyperlink" Target="https://www.figma.com/design/3g5xR8OkcV6sUclyGM5d30?node-id=42-2" TargetMode="Externa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7.xml" /><Relationship Id="rIdScreen" Type="http://schemas.openxmlformats.org/officeDocument/2006/relationships/image" Target="../media/storyboard-csv-error.png" /><Relationship Id="rIdFigma" Type="http://schemas.openxmlformats.org/officeDocument/2006/relationships/hyperlink" Target="https://www.figma.com/design/3g5xR8OkcV6sUclyGM5d30?node-id=44-2" TargetMode="External" /><Relationship Id="rIdMove1" Type="http://schemas.openxmlformats.org/officeDocument/2006/relationships/slide" Target="slide26.xml" /><Relationship Id="rIdLink26" Type="http://schemas.openxmlformats.org/officeDocument/2006/relationships/hyperlink" Target="https://www.figma.com/design/3g5xR8OkcV6sUclyGM5d30?node-id=44-2" TargetMode="Externa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8.xml" /><Relationship Id="rIdScreen" Type="http://schemas.openxmlformats.org/officeDocument/2006/relationships/image" Target="../media/storyboard-criteria.png" /><Relationship Id="rIdFigma" Type="http://schemas.openxmlformats.org/officeDocument/2006/relationships/hyperlink" Target="https://www.figma.com/design/3g5xR8OkcV6sUclyGM5d30?node-id=45-2" TargetMode="External" /><Relationship Id="rIdMove1" Type="http://schemas.openxmlformats.org/officeDocument/2006/relationships/slide" Target="slide24.xml" /><Relationship Id="rIdLink26" Type="http://schemas.openxmlformats.org/officeDocument/2006/relationships/hyperlink" Target="https://www.figma.com/design/3g5xR8OkcV6sUclyGM5d30?node-id=45-2" TargetMode="Externa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29.xml" /><Relationship Id="rIdScreen" Type="http://schemas.openxmlformats.org/officeDocument/2006/relationships/image" Target="../media/storyboard-login-error.png" /><Relationship Id="rIdFigma" Type="http://schemas.openxmlformats.org/officeDocument/2006/relationships/hyperlink" Target="https://www.figma.com/design/3g5xR8OkcV6sUclyGM5d30?node-id=26-2" TargetMode="External" /><Relationship Id="rIdLink26" Type="http://schemas.openxmlformats.org/officeDocument/2006/relationships/hyperlink" Target="https://www.figma.com/design/3g5xR8OkcV6sUclyGM5d30?node-id=26-2" TargetMode="Externa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30.xml" /><Relationship Id="rIdScreen" Type="http://schemas.openxmlformats.org/officeDocument/2006/relationships/image" Target="../media/storyboard-analysis-empty.png" /><Relationship Id="rIdFigma" Type="http://schemas.openxmlformats.org/officeDocument/2006/relationships/hyperlink" Target="https://www.figma.com/design/3g5xR8OkcV6sUclyGM5d30?node-id=28-2" TargetMode="External" /><Relationship Id="rIdLink26" Type="http://schemas.openxmlformats.org/officeDocument/2006/relationships/hyperlink" Target="https://www.figma.com/design/3g5xR8OkcV6sUclyGM5d30?node-id=28-2" TargetMode="Externa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31.xml" /><Relationship Id="rIdScreen" Type="http://schemas.openxmlformats.org/officeDocument/2006/relationships/image" Target="../media/storyboard-plan-save-error.png" /><Relationship Id="rIdFigma" Type="http://schemas.openxmlformats.org/officeDocument/2006/relationships/hyperlink" Target="https://www.figma.com/design/3g5xR8OkcV6sUclyGM5d30?node-id=46-2" TargetMode="External" /><Relationship Id="rIdMove2" Type="http://schemas.openxmlformats.org/officeDocument/2006/relationships/slide" Target="slide17.xml" /><Relationship Id="rIdLink26" Type="http://schemas.openxmlformats.org/officeDocument/2006/relationships/hyperlink" Target="https://www.figma.com/design/3g5xR8OkcV6sUclyGM5d30?node-id=46-2" TargetMode="Externa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32.xml" /><Relationship Id="rIdScreen" Type="http://schemas.openxmlformats.org/officeDocument/2006/relationships/image" Target="../media/storyboard-data-empty.png" /><Relationship Id="rIdFigma" Type="http://schemas.openxmlformats.org/officeDocument/2006/relationships/hyperlink" Target="https://www.figma.com/design/3g5xR8OkcV6sUclyGM5d30?node-id=30-2" TargetMode="External" /><Relationship Id="rIdLink26" Type="http://schemas.openxmlformats.org/officeDocument/2006/relationships/hyperlink" Target="https://www.figma.com/design/3g5xR8OkcV6sUclyGM5d30?node-id=30-2" TargetMode="Externa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33.xml" /><Relationship Id="rIdLink20" Type="http://schemas.openxmlformats.org/officeDocument/2006/relationships/hyperlink" Target="https://www.figma.com/design/3g5xR8OkcV6sUclyGM5d30" TargetMode="Externa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Notes" Type="http://schemas.openxmlformats.org/officeDocument/2006/relationships/notesSlide" Target="../notesSlides/notesSlide34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9728" cy="3566160"/>
          </a:xfrm>
          <a:prstGeom prst="rect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875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263E5C"/>
                </a:solidFill>
                <a:latin typeface="Malgun Gothic"/>
              </a:rPr>
              <a:t>정보시스템 화면설계서 · 스토리보드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194560"/>
            <a:ext cx="9418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4371A0"/>
                </a:solidFill>
                <a:latin typeface="Malgun Gothic"/>
              </a:rPr>
              <a:t>제주 비수기 상권 마케팅 캘린더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971800"/>
            <a:ext cx="9418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Malgun Gothic"/>
              </a:rPr>
              <a:t>제주 지역별 방문·소비 데이터를 활용한 소상공인 비수기 마케팅 의사결정 지원 및 적용 사례</a:t>
            </a:r>
          </a:p>
          <a:p>
            <a:pPr algn="l"/>
            <a:r>
              <a:rPr sz="1400" b="0">
                <a:solidFill>
                  <a:srgbClr val="2D2D2D"/>
                </a:solidFill>
                <a:latin typeface="Malgun Gothic"/>
              </a:rPr>
              <a:t>Red_PROJECT.md → Use Case Diagram → 화면설계서 →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25780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Malgun Gothic"/>
              </a:rPr>
              <a:t>Red  |  이승보·김예원·김혜원  |  2026-09-27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작성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01 / 작성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960120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94183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화면 단위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94183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주요 화면 8개를 탭·팝업·예외를 포함한 21개 상태로 작성합니다.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874519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56231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Use Case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56231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정본의 UC 32개를 연결합니다. 로그인은 별도 UC가 없는 보조 화면입니다.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7063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번호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7063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Figma 캡처 위 번호 73개와 우측 Description을 같은 번호로 대응합니다.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8503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상태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68503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자료 없음·입력 오류·CSV 등록 불가·저장 실패·저장 완료를 구분합니다.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9943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화면 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59943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사용자 행위 → 시스템 처리 → 결과·이동 화면을 명시합니다.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623560"/>
            <a:ext cx="107899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4241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※ 화면 수치는 검토용 예시입니다. 일반 사용자의 공개 조회는 설계 가정이며, 서버 인증·권한·자료 연결은 후속 구현입니다.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1. 화면구성도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02 / 전체 메뉴 구조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사용자 유형별로 전체 화면 구조를 한눈에 보이도록 작성하세요.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4800600" cy="502920"/>
          </a:xfrm>
          <a:prstGeom prst="round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00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사용자 · 일반 조회 설계 가정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148840"/>
            <a:ext cx="1965960" cy="502920"/>
          </a:xfrm>
          <a:prstGeom prst="roundRect">
            <a:avLst/>
          </a:prstGeom>
          <a:solidFill>
            <a:srgbClr val="EFF3F7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148840"/>
            <a:ext cx="1965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63E5C"/>
                </a:solidFill>
                <a:latin typeface="Malgun Gothic"/>
              </a:rPr>
              <a:t>허용된 조회 진입</a:t>
            </a:r>
          </a:p>
          <a:p>
            <a:pPr algn="ctr"/>
            <a:r>
              <a:rPr sz="1100" b="1">
                <a:solidFill>
                  <a:srgbClr val="263E5C"/>
                </a:solidFill>
                <a:latin typeface="Malgun Gothic"/>
              </a:rPr>
              <a:t>→ 한눈에 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지역 분석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783080" y="2651760"/>
            <a:ext cx="1527048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24328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264408" y="2651760"/>
            <a:ext cx="45720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05656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6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근거 연결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10128" y="2651760"/>
            <a:ext cx="1435608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4160520"/>
            <a:ext cx="4434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공개 정책 미정 · 비공개 일정·기록·운영 관리 제외</a:t>
            </a:r>
          </a:p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조회: SCR-C-003 / SCR-C-004 / SCR-C-005</a:t>
            </a:r>
          </a:p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메인: SCR-C-002 (공개 범위의 요약)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25880"/>
            <a:ext cx="4800600" cy="502920"/>
          </a:xfrm>
          <a:prstGeom prst="round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325880"/>
            <a:ext cx="4800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사업체 운영자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148840"/>
            <a:ext cx="1965960" cy="502920"/>
          </a:xfrm>
          <a:prstGeom prst="roundRect">
            <a:avLst/>
          </a:prstGeom>
          <a:solidFill>
            <a:srgbClr val="EFF3F7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148840"/>
            <a:ext cx="1965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63E5C"/>
                </a:solidFill>
                <a:latin typeface="Malgun Gothic"/>
              </a:rPr>
              <a:t>로그인</a:t>
            </a:r>
          </a:p>
          <a:p>
            <a:pPr algn="ctr"/>
            <a:r>
              <a:rPr sz="1100" b="1">
                <a:solidFill>
                  <a:srgbClr val="263E5C"/>
                </a:solidFill>
                <a:latin typeface="Malgun Gothic"/>
              </a:rPr>
              <a:t>→ 한눈에 보기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지역 분석</a:t>
            </a:r>
          </a:p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269480" y="2651760"/>
            <a:ext cx="1527048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10728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3개월 일정</a:t>
            </a:r>
          </a:p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실행 기록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8750808" y="2651760"/>
            <a:ext cx="45720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92056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92056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근거 연결</a:t>
            </a:r>
          </a:p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자료 둘러보기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6528" y="2651760"/>
            <a:ext cx="1435608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0" y="4160520"/>
            <a:ext cx="4434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본인 사업체의 계획·기록 이용, 자료는 조회만 제공</a:t>
            </a:r>
          </a:p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로그인 SCR-C-001 → 메인 SCR-C-002</a:t>
            </a:r>
          </a:p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상자 안의 항목은 각각 별도 메뉴이며 직접 진입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1. 화면구성도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02 / 전체 메뉴 구조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사용자 유형별로 전체 화면 구조를 한눈에 보이도록 작성하세요.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4800600" cy="502920"/>
          </a:xfrm>
          <a:prstGeom prst="round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00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서비스 운영자 · 조회 메뉴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148840"/>
            <a:ext cx="1965960" cy="502920"/>
          </a:xfrm>
          <a:prstGeom prst="roundRect">
            <a:avLst/>
          </a:prstGeom>
          <a:solidFill>
            <a:srgbClr val="EFF3F7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148840"/>
            <a:ext cx="1965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63E5C"/>
                </a:solidFill>
                <a:latin typeface="Malgun Gothic"/>
              </a:rPr>
              <a:t>로그인</a:t>
            </a:r>
          </a:p>
          <a:p>
            <a:pPr algn="ctr"/>
            <a:r>
              <a:rPr sz="1100" b="1">
                <a:solidFill>
                  <a:srgbClr val="263E5C"/>
                </a:solidFill>
                <a:latin typeface="Malgun Gothic"/>
              </a:rPr>
              <a:t>→ 한눈에 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지역 분석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783080" y="2651760"/>
            <a:ext cx="1527048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24328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264408" y="2651760"/>
            <a:ext cx="45720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05656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6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근거 연결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10128" y="2651760"/>
            <a:ext cx="1435608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4160520"/>
            <a:ext cx="4434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로그인 SCR-C-001 → 메인 SCR-C-002</a:t>
            </a:r>
          </a:p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조회: SCR-C-003 / SCR-C-004 / SCR-C-005</a:t>
            </a:r>
          </a:p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출처·기간·집계 기준과 추천 이유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25880"/>
            <a:ext cx="4800600" cy="502920"/>
          </a:xfrm>
          <a:prstGeom prst="round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325880"/>
            <a:ext cx="4800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서비스 운영자 · 계획·운영 메뉴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148840"/>
            <a:ext cx="1965960" cy="502920"/>
          </a:xfrm>
          <a:prstGeom prst="roundRect">
            <a:avLst/>
          </a:prstGeom>
          <a:solidFill>
            <a:srgbClr val="EFF3F7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148840"/>
            <a:ext cx="1965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63E5C"/>
                </a:solidFill>
                <a:latin typeface="Malgun Gothic"/>
              </a:rPr>
              <a:t>로그인</a:t>
            </a:r>
          </a:p>
          <a:p>
            <a:pPr algn="ctr"/>
            <a:r>
              <a:rPr sz="1100" b="1">
                <a:solidFill>
                  <a:srgbClr val="263E5C"/>
                </a:solidFill>
                <a:latin typeface="Malgun Gothic"/>
              </a:rPr>
              <a:t>→ 한눈에 보기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3개월 일정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269480" y="2651760"/>
            <a:ext cx="1527048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10728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실행 기록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8750808" y="2651760"/>
            <a:ext cx="45720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92056" y="3246120"/>
            <a:ext cx="1280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92056" y="3246120"/>
            <a:ext cx="1280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6528" y="2651760"/>
            <a:ext cx="1435608" cy="594360"/>
          </a:xfrm>
          <a:prstGeom prst="line">
            <a:avLst/>
          </a:prstGeom>
          <a:ln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0" y="4160520"/>
            <a:ext cx="44348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일정 SCR-B-001 / 기록 SCR-B-002: 권한·동의 범위</a:t>
            </a:r>
          </a:p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관리 SCR-A-001 → CSV 검증·추천 기준 편집</a:t>
            </a:r>
          </a:p>
          <a:p>
            <a:pPr algn="ctr"/>
            <a:r>
              <a:rPr sz="1000" b="0">
                <a:solidFill>
                  <a:srgbClr val="696969"/>
                </a:solidFill>
                <a:latin typeface="Malgun Gothic"/>
              </a:rPr>
              <a:t>검증 통과 후 등록, 기준 저장 후 분석·제안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2. 화면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03 / Screen List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동일 Screen ID의 Use Case를 행별로 기록합니다. 사용자 공개 조회는 설계 가정입니다.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화면명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관련 Use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경로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공통 접근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67335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167335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로그인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7335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67335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별도 UC 없음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 요청의 보조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167335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167335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최초 진입 &gt; 로그인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7844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5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체험 계정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서버 인증 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3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6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메인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24028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2240280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24028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2240280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UC01-1·UC02-4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UC03-4 진입·요약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224028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6215" y="2240280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로그인/허용 조회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한눈에 보기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15015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73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16936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F01 필수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280720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51376" y="2807208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지역 분석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807208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6" y="2807208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UC01-1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월별 방문 추이 조회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280720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6215" y="2807208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지역 분석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5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37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16936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F01 필수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337413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3374136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지역 분석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374136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6" y="3374136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UC01-2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성수기·비수기 비교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640" y="337413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86215" y="3374136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지역 분석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7844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15015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7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73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F02 필수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94106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51376" y="3941064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지역 분석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3941064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6" y="3941064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UC02-1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방문·소비 비교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394106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6215" y="3941064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지역 분석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37844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15015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37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73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16936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F02 필수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450799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51376" y="450799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지역 분석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450799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63056" y="450799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UC02-2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내국인·외국인 소비 비교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49640" y="450799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6215" y="450799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지역 분석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7844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15015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4360" y="5532120"/>
            <a:ext cx="110185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체크: 주요 화면 8개·팝업/패널 6개에 대응합니다. F04의 UC06-1·UC06-2는 선택·검토 중입니다.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2. 화면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03 / Screen List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동일 Screen ID의 Use Case를 행별로 기록합니다. 사용자 공개 조회는 설계 가정입니다.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화면명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관련 Use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경로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F02 필수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67335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167335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지역 분석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7335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67335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UC02-3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시간대별 소비 조회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167335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167335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지역 분석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7844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5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3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6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F02 필수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24028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2240280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24028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2240280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UC02-4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홍보 시기 제안 조회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224028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6215" y="2240280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홍보 제안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15015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73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16936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F02 필수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280720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51376" y="2807208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807208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6" y="2807208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UC02-5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홍보 대상 제안 조회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280720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6215" y="2807208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홍보 제안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5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37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16936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F02 필수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337413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3374136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374136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6" y="3374136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UC02-6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상품 후보 제안 조회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640" y="337413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86215" y="3374136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홍보 제안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7844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15015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7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73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F02 필수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94106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51376" y="3941064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3941064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6" y="3941064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UC02-7 주변 관광지 활용 제안 조회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UC10 자료 출처·기준 표시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394106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6215" y="3941064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홍보 제안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37844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15015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공개 조회는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설계 가정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37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73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16936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450799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51376" y="450799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3개월 일정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450799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63056" y="450799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UC03-1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3개월 일정표 작성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49640" y="450799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6215" y="450799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3개월 일정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7844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15015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4360" y="5532120"/>
            <a:ext cx="110185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체크: 주요 화면 8개·팝업/패널 6개에 대응합니다. F04의 UC06-1·UC06-2는 선택·검토 중입니다.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2. 화면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03 / Screen List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동일 Screen ID의 Use Case를 행별로 기록합니다. 사용자 공개 조회는 설계 가정입니다.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화면명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관련 Use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경로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67335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167335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3개월 일정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7335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67335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UC03-2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3개월 일정표 수정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167335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167335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3개월 일정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7844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5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3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6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24028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2240280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3개월 일정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24028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2240280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UC03-3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3개월 일정표 저장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224028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6215" y="2240280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3개월 일정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15015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73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16936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280720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51376" y="2807208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3개월 일정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807208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6" y="2807208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UC03-4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저장한 일정표 조회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280720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6215" y="2807208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3개월 일정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5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37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16936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337413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3374136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374136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6" y="3374136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UC04-1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계획 소요 시간 기록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640" y="337413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86215" y="3374136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7844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15015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7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73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94106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51376" y="3941064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3941064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6" y="3941064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UC04-2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추천 채택 여부 기록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394106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6215" y="3941064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37844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15015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37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73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16936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450799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51376" y="450799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450799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63056" y="450799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UC04-3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활동·날짜 기록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49640" y="450799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6215" y="450799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7844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15015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4360" y="5532120"/>
            <a:ext cx="110185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체크: 주요 화면 8개·팝업/패널 6개에 대응합니다. F04의 UC06-1·UC06-2는 선택·검토 중입니다.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2. 화면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03 / Screen List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동일 Screen ID의 Use Case를 행별로 기록합니다. 사용자 공개 조회는 설계 가정입니다.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화면명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관련 Use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경로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67335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167335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7335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67335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UC04-4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클릭 결과 기록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167335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167335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7844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5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3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6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24028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2240280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24028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2240280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UC04-5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예약 결과 기록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224028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6215" y="2240280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15015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73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16936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280720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51376" y="2807208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807208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6" y="2807208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UC04-6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쿠폰 사용 결과 기록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280720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6215" y="2807208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5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37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16936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337413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3374136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374136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6" y="3374136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UC05-1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계획·실행 결과 비교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640" y="337413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86215" y="3374136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7844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15015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7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73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F03 필수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94106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51376" y="3941064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3941064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6" y="3941064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UC05-2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 결과 요약 조회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394106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6215" y="3941064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37844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15015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권한·동의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범위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37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73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16936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운영 지원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450799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51376" y="450799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450799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63056" y="450799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UC07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CSV 자료 등록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49640" y="450799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6215" y="450799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자료·기준 관리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7844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15015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4360" y="5532120"/>
            <a:ext cx="110185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체크: 주요 화면 8개·팝업/패널 6개에 대응합니다. F04의 UC06-1·UC06-2는 선택·검토 중입니다.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2. 화면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03 / Screen List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동일 Screen ID의 Use Case를 행별로 기록합니다. 사용자 공개 조회는 설계 가정입니다.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화면명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관련 Use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경로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운영 지원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67335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167335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7335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67335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UC08-1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 기간 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167335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167335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자료·기준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7844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5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3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6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운영 지원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24028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2240280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24028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2240280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UC08-2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집계 기준 검증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224028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6215" y="2240280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자료·기준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15015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73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16936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운영 지원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280720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51376" y="2807208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807208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6" y="2807208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UC08-3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지역 코드 검증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280720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6215" y="2807208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자료·기준 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5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37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16936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운영 지원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337413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3374136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374136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6" y="3374136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UC08-4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누락값 검증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640" y="337413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86215" y="3374136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자료·기준 관리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7844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15015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7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73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운영 지원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94106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51376" y="3941064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3941064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6" y="3941064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UC08-5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제공 기준 일관성 검증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394106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6215" y="3941064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자료·기준 관리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37844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15015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37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73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16936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운영 지원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450799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51376" y="450799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450799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63056" y="450799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UC09-1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추천 기준 설정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49640" y="450799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6215" y="450799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자료·기준 관리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7844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15015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4360" y="5532120"/>
            <a:ext cx="110185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체크: 주요 화면 8개·팝업/패널 6개에 대응합니다. F04의 UC06-1·UC06-2는 선택·검토 중입니다.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2. 화면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03 / Screen List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동일 Screen ID의 Use Case를 행별로 기록합니다. 사용자 공개 조회는 설계 가정입니다.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화면명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관련 Use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경로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운영 지원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67335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167335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7335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67335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UC09-2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추천 근거 기록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167335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167335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자료·기준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7844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5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3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6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공통 표시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24028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2240280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지역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24028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2240280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UC10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 출처·기준 표시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224028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6215" y="2240280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지역 분석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15015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분석·제안에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상시 표시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73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16936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공통 보조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280720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51376" y="2807208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근거 연결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807208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6" y="2807208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UC10 자료 출처·기준 표시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280720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6215" y="2807208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분석/제안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근거 연결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5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고정 관계 예시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추론 미연결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SCR-B-001-P01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37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16936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팝업/패널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337413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3374136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계획 작성·수정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374136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6" y="3374136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UC03-1·UC03-2·UC03-3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640" y="337413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86215" y="3374136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일정 &gt; 추가·수정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7844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15015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부모 화면 내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기능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SCR-B-002-P01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7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73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팝업/패널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94106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51376" y="3941064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사용·실행 기록 입력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3941064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6" y="3941064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UC04-1부터 UC04-6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394106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6215" y="3941064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 &gt; 입력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37844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15015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부모 화면 내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기능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SCR-B-002-P02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37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73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16936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팝업/패널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450799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51376" y="450799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 결과 요약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450799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63056" y="450799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UC05-1·UC05-2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49640" y="450799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6215" y="450799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 &gt; 요약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7844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15015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부모 화면 내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기능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4360" y="5532120"/>
            <a:ext cx="110185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체크: 주요 화면 8개·팝업/패널 6개에 대응합니다. F04의 UC06-1·UC06-2는 선택·검토 중입니다.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2. 화면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03 / Screen List 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동일 Screen ID의 Use Case를 행별로 기록합니다. 사용자 공개 조회는 설계 가정입니다.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Screen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11430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40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화면명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34440"/>
            <a:ext cx="2423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관련 Use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34440"/>
            <a:ext cx="1828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경로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234440"/>
            <a:ext cx="1234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비고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SCR-C-004-P01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67335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167335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사용자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팝업/패널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67335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51376" y="167335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추천 근거 상세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7335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67335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UC02-4·UC02-5·UC02-6·UC02-7·UC10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167335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6215" y="167335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홍보 제안 &gt; 근거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78440" y="16733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5" y="167335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부모 화면 내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기능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SCR-A-001-P01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240280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73936" y="2240280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6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팝업/패널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24028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2240280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CSV 검증 결과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24028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6" y="2240280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UC07·UC08-1·UC08-2·UC08-3·UC08-4·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UC08-5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224028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6215" y="2240280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 검증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24028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15015" y="2240280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부모 화면 내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기능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SCR-A-001-P02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2807208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73936" y="2807208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16936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팝업/패널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280720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51376" y="2807208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추천 기준·근거 편집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807208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3056" y="2807208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UC09-1·UC09-2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9640" y="280720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86215" y="2807208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기준 편집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280720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5" y="2807208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부모 화면 내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기능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SCR-C-004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37360" y="3374136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73936" y="3374136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16936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F04 선택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337413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3374136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374136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6" y="3374136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UC06-1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추천 이유 설명 초안 작성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49640" y="337413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86215" y="3374136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홍보 제안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78440" y="337413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15015" y="3374136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검토 중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비활성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7360" y="3941064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73936" y="3941064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16936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F04 선택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941064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51376" y="3941064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3941064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63056" y="3941064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UC06-2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보고서 초안 작성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394106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6215" y="3941064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실행 기록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378440" y="394106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15015" y="3941064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검토 중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비활성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37360" y="4507992"/>
            <a:ext cx="1143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73936" y="4507992"/>
            <a:ext cx="10698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8036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16936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조회 전용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0" y="450799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51376" y="4507992"/>
            <a:ext cx="193852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자료 둘러보기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4507992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63056" y="4507992"/>
            <a:ext cx="235000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UC10 자료 출처·기준 표시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49640" y="4507992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86215" y="4507992"/>
            <a:ext cx="175564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한눈에 보기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&gt; 자료 둘러보기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78440" y="450799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15015" y="4507992"/>
            <a:ext cx="1161288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조회 상태</a:t>
            </a:r>
          </a:p>
          <a:p>
            <a:pPr algn="ctr"/>
            <a:r>
              <a:rPr sz="850" b="0">
                <a:solidFill>
                  <a:srgbClr val="2D2D2D"/>
                </a:solidFill>
                <a:latin typeface="Malgun Gothic"/>
              </a:rPr>
              <a:t>등록·편집 없음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4360" y="5532120"/>
            <a:ext cx="110185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체크: 주요 화면 8개·팝업/패널 6개에 대응합니다. F04의 UC06-1·UC06-2는 선택·검토 중입니다.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로그인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01 · 로그인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로그인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별도 UC 없음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공통 접근 보조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최초 진입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운영자 역할 선택 → 체험 역할·계정 안내 갱신 → 이메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일·비밀번호 입력 준비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이메일 입력 → 형식·빈칸 검사 → 오류가 있으면 해당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필드에 안내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비밀번호 입력·보기 선택 → 표시만 전환하고 값 유지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→ 전송·저장하지 않음</a:t>
            </a:r>
          </a:p>
        </p:txBody>
      </p:sp>
      <p:sp>
        <p:nvSpPr>
          <p:cNvPr id="62" name="TextBox 61">
            <a:hlinkClick r:id="rIdMove3" action="ppaction://hlinksldjump" tooltip="SCR-C-002"/>
          </p:cNvPr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로그인 클릭 → 역할별 공개 체험 계정 검사 → 성공 시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한눈에 보기 이동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⑤ 체험 계정 채우기 클릭 → 역할별 공개 예시 값 입력 →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로그인 버튼으로 확인</a:t>
            </a:r>
          </a:p>
        </p:txBody>
      </p:sp>
      <p:sp>
        <p:nvSpPr>
          <p:cNvPr id="64" name="TextBox 63">
            <a:hlinkClick r:id="rIdMove5" action="ppaction://hlinksldjump" tooltip="SCR-C-002"/>
          </p:cNvPr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⑥ 시안 둘러보기 클릭 → 운영자 역할 시안 시작 → 메인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이동(실제 인증 우회 아님)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입력 오류 / 체험 로그인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로그인 → 체험 계정 확인 → SCR-C-002 한눈에 보기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login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4854335" y="2587771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4854335" y="2587771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4854335" y="298680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4854335" y="298680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4854335" y="3339902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4854335" y="3339902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4854335" y="3644702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4854335" y="3644702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8" name="Callout 5 circle"/>
          <p:cNvSpPr/>
          <p:nvPr/>
        </p:nvSpPr>
        <p:spPr>
          <a:xfrm>
            <a:off x="4854335" y="3949502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Callout 5 number"/>
          <p:cNvSpPr txBox="1"/>
          <p:nvPr/>
        </p:nvSpPr>
        <p:spPr>
          <a:xfrm>
            <a:off x="4854335" y="3949502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10" name="Callout 6 circle"/>
          <p:cNvSpPr/>
          <p:nvPr/>
        </p:nvSpPr>
        <p:spPr>
          <a:xfrm>
            <a:off x="4854335" y="455171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Callout 6 number"/>
          <p:cNvSpPr txBox="1"/>
          <p:nvPr/>
        </p:nvSpPr>
        <p:spPr>
          <a:xfrm>
            <a:off x="4854335" y="455171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한눈에 보기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02 · 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한눈에 보기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UC01-1·UC02-4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UC03-4·UC10 진입·요약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로그인 &gt; 메인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접기·펼치기 클릭 → 76px 아이콘 또는 저장된 메뉴 폭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적용 → 본문 너비 재배치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경계 드래그·방향키 입력 → 폭을 216px부터 360px까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지 조절·저장 → 다시 열어도 유지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분석 지역 선택 → 지역별 예시 결과 갱신 → 분석·제안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에 같은 지역 적용</a:t>
            </a:r>
          </a:p>
        </p:txBody>
      </p:sp>
      <p:sp>
        <p:nvSpPr>
          <p:cNvPr id="62" name="TextBox 61">
            <a:hlinkClick r:id="rIdMove3" action="ppaction://hlinksldjump" tooltip="SCR-C-003"/>
          </p:cNvPr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방문·소비 지표 선택 → 그래프·단위 갱신 → 자세한 비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교는 지역 분석에서 확인</a:t>
            </a:r>
          </a:p>
        </p:txBody>
      </p:sp>
      <p:sp>
        <p:nvSpPr>
          <p:cNvPr id="63" name="TextBox 62">
            <a:hlinkClick r:id="rIdMove4" action="ppaction://hlinksldjump" tooltip="SCR-C-004"/>
          </p:cNvPr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⑤ 모든 제안 클릭 → 선택 지역 유지 → 홍보 제안 이동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새로 방문: 기본 메뉴 248px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메뉴 폭·접기 상태 저장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지역 분석 선택 → 지역 조건 유지 → SCR-C-003 지역 분석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overview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2790015" y="1498953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2790015" y="1498953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2271617" y="142942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2271617" y="142942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2930007" y="227894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2930007" y="227894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4635476" y="2574916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4635476" y="2574916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8" name="Callout 5 circle"/>
          <p:cNvSpPr/>
          <p:nvPr/>
        </p:nvSpPr>
        <p:spPr>
          <a:xfrm>
            <a:off x="6527733" y="4490176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Callout 5 number"/>
          <p:cNvSpPr txBox="1"/>
          <p:nvPr/>
        </p:nvSpPr>
        <p:spPr>
          <a:xfrm>
            <a:off x="6527733" y="4490176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지역 분석 · 방문과 계절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03 · 지역 분석 · 방문과 계절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지역 분석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방문과 계절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사용자 외 2종*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UC01-1·UC01-2·UC10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방문 추이·계절 비교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메인 &gt; 지역 분석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지역 선택 → 월별 방문 자료·지역 비교 갱신 → 같은 기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간의 결과 표시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분석 연도 선택 → 자료 보유 여부 확인 → 미확보 시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조회 결과 없음 안내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도식 지도에서 지역 선택 → 월별 그래프 연결 → 시안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도식 표시(정확한 행정 경계 아님)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월별 추이 확인 → 같은 기준의 성수기·비수기 비교 →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지역 방문 집계로 표시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⑤ 소비 비교 탭 클릭 → 연도·지역 유지 → 방문·소비·고객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구분 비교 화면 표시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Actor: 사용자(조회 가정)·사업체 운영자·서비스 운영자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자료 없음 / 출처 상시 표시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소비 비교 선택 → 동일 지역 유지 → 지역 분석 내 소비 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analysis-visits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2930007" y="227894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2930007" y="227894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3553937" y="227894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3553937" y="227894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3615555" y="3382428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3615555" y="3382428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4310414" y="2725168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4310414" y="2725168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8" name="Callout 5 circle"/>
          <p:cNvSpPr/>
          <p:nvPr/>
        </p:nvSpPr>
        <p:spPr>
          <a:xfrm>
            <a:off x="2974358" y="258374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Callout 5 number"/>
          <p:cNvSpPr txBox="1"/>
          <p:nvPr/>
        </p:nvSpPr>
        <p:spPr>
          <a:xfrm>
            <a:off x="2974358" y="258374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지역 분석 · 소비 비교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04 · 지역 분석 · 소비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지역 분석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소비 비교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사용자 외 2종*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UC02-1·UC02-2·UC02-3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UC10 · 소비 비교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지역 분석 &gt; 소비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소비 비교 탭 선택 → 조건에 맞는 예시 표 조회 → 방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문·소비를 단위별로 표시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같은 월의 지표 확인 → 기간 겹침·누락 표시 → 구매전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환율·1인당 소비액으로 계산 안 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두 소비 비중 확인 → 같은 월·업종 소비액 기준 비교 →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대상 선정 전 분모·출처·원자료 확인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시간대별 표 확인 → 월별 집계 분포 제공 → 실시간 혼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잡도·개인 기록은 표시 안 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Actor: 사용자(조회 가정)·사업체 운영자·서비스 운영자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내국인·외국인 비중: 예시 집계값과 단위 표시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미수집 / 기준 불일치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홍보 제안 선택 → 조건 유지 → SCR-C-004 홍보 제안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analysis-consumption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2974008" y="247885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2974008" y="247885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2609040" y="272268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2609040" y="272268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2704648" y="380858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2704648" y="380858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4747165" y="380858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4747165" y="380858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홍보 제안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05 · 홍보 제안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홍보 제안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사용자 외 2종*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UC02-4부터 UC02-7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UC10 · 홍보 제안 조회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메인 &gt; 홍보 제안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시기·대상·상품·관광지 제안 확인 → 이유·출처·기간·조건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표시 → 실제 판매 가능성은 사업체 확인</a:t>
            </a:r>
          </a:p>
        </p:txBody>
      </p:sp>
      <p:sp>
        <p:nvSpPr>
          <p:cNvPr id="60" name="TextBox 59">
            <a:hlinkClick r:id="rIdMove1" action="ppaction://hlinksldjump" tooltip="SCR-C-004-P01"/>
          </p:cNvPr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추천 근거 클릭 → 선택 제안의 이유·미확인 운영 조건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조회 → 근거 상세 패널 표시</a:t>
            </a:r>
          </a:p>
        </p:txBody>
      </p:sp>
      <p:sp>
        <p:nvSpPr>
          <p:cNvPr id="61" name="TextBox 60">
            <a:hlinkClick r:id="rIdMove2" action="ppaction://hlinksldjump" tooltip="SCR-B-001-P01"/>
          </p:cNvPr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일정에 담기 클릭 → 제안 제목·날짜를 계획 편집 폼에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반영 → 수정 후 명시적 저장</a:t>
            </a:r>
          </a:p>
        </p:txBody>
      </p:sp>
      <p:sp>
        <p:nvSpPr>
          <p:cNvPr id="62" name="TextBox 61">
            <a:hlinkClick r:id="rIdMove3" action="ppaction://hlinksldjump" tooltip="SCR-C-005"/>
          </p:cNvPr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근거 연결 보기 클릭 → 자료·관측값·계획 관계 표시 →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근거 연결 화면 이동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Actor: 사용자(조회 가정)·사업체 운영자·서비스 운영자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일반 조회 Actor: 일정 저장·비공개 데이터 접근 없음(설계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가정)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근거 부족 / F04 비활성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일정에 담기 → 조건 채우기 → SCR-B-001-P01 계획 작성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recommendations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892402" y="1371600"/>
            <a:ext cx="4844845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2765488" y="2888493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2765488" y="2888493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2838384" y="5044491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2838384" y="5044491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3551652" y="505122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3551652" y="505122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6157862" y="2451601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6157862" y="2451601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3개월 일정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06 · 3개월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SCR-B-001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3개월 일정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UC03-1부터 UC03-4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일정 작성·수정·저장·조회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메인 &gt; 3개월 일정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>
            <a:hlinkClick r:id="rIdMove0" action="ppaction://hlinksldjump" tooltip="SCR-B-001-P01"/>
          </p:cNvPr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직접 계획 추가 클릭 → 빈 계획 편집 폼 표시 → 제목·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날짜·채널·운영 조건 입력</a:t>
            </a:r>
          </a:p>
        </p:txBody>
      </p:sp>
      <p:sp>
        <p:nvSpPr>
          <p:cNvPr id="60" name="TextBox 59">
            <a:hlinkClick r:id="rIdMove1" action="ppaction://hlinksldjump" tooltip="SCR-B-001-P01"/>
          </p:cNvPr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계획 수정 클릭 → 저장된 값 불러오기 → 계획 편집 폼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에서 저장 또는 취소</a:t>
            </a:r>
          </a:p>
        </p:txBody>
      </p:sp>
      <p:sp>
        <p:nvSpPr>
          <p:cNvPr id="61" name="TextBox 60">
            <a:hlinkClick r:id="rIdMove2" action="ppaction://hlinksldjump" tooltip="SCR-B-002-P01"/>
          </p:cNvPr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실행 기록 클릭 → 선택 계획의 기록 폼 표시 → 실제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수행 내용·결과 입력</a:t>
            </a:r>
          </a:p>
        </p:txBody>
      </p:sp>
      <p:sp>
        <p:nvSpPr>
          <p:cNvPr id="62" name="TextBox 61">
            <a:hlinkClick r:id="rIdMove3" action="ppaction://hlinksldjump" tooltip="SCR-B-001-P01"/>
          </p:cNvPr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12월 계획 추가 클릭 → 해당 월 날짜를 미리 설정 →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계획 편집 폼에서 직접 작성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정상: 저장한 계획을 월별로 표시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빈 상태: 해당 월 계획 추가 제공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계획 없음 / 저장 완료·실패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계획 추가·수정 → 입력 폼 표시 → SCR-B-001-P01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calendar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6289685" y="181511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6289685" y="181511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2733206" y="328655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2733206" y="328655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3591303" y="328655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3591303" y="328655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5493398" y="319792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5493398" y="319792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계획 작성·수정 팝업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07 · 계획 작성·수정 팝업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SCR-B-001-P01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계획 작성·수정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UC03-1·UC03-2·UC03-3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일정 작성·수정·저장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일정 &gt; 추가·수정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제목 입력 → 공백·최대 길이 검사 → 오류가 있으면 입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력 필드에 안내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날짜 선택 → 3개월 계획 범위 확인 → 범위를 벗어나면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저장 차단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상품·준비사항 입력 → 계획 내용에 포함 → 미확인 조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건은 실제 적용 전 확인</a:t>
            </a:r>
          </a:p>
        </p:txBody>
      </p:sp>
      <p:sp>
        <p:nvSpPr>
          <p:cNvPr id="62" name="TextBox 61">
            <a:hlinkClick r:id="rIdMove3" action="ppaction://hlinksldjump" tooltip="SCR-B-001"/>
          </p:cNvPr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저장 클릭 → 입력 검사·브라우저 저장 시도 → 성공할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때만 팝업 닫고 일정 목록 갱신</a:t>
            </a:r>
          </a:p>
        </p:txBody>
      </p:sp>
      <p:sp>
        <p:nvSpPr>
          <p:cNvPr id="63" name="TextBox 62">
            <a:hlinkClick r:id="rIdMove4" action="ppaction://hlinksldjump" tooltip="SCR-B-001"/>
          </p:cNvPr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⑤ 취소 클릭 → 변경을 저장하지 않고 닫기 → 이전 화면·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호출 버튼으로 복귀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필수값 오류: 폼 안에 원인 표시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입력 오류 / 저장 실패·완료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저장 → 필수값 검사·저장 성공 → SCR-B-001 일정 갱신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plan-edit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3175234" y="2982946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3175234" y="2982946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3175234" y="3318891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3175234" y="3318891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3175234" y="365483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3175234" y="365483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4713524" y="4197864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4713524" y="4197864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8" name="Callout 5 circle"/>
          <p:cNvSpPr/>
          <p:nvPr/>
        </p:nvSpPr>
        <p:spPr>
          <a:xfrm>
            <a:off x="4255709" y="421407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Callout 5 number"/>
          <p:cNvSpPr txBox="1"/>
          <p:nvPr/>
        </p:nvSpPr>
        <p:spPr>
          <a:xfrm>
            <a:off x="4255709" y="421407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실행 기록·사용 결과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08 · 실행 기록·사용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SCR-B-002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실행 기록·사용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UC04-1부터 UC04-6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UC05-1·UC05-2 비교·요약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메인 &gt; 실행 기록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>
            <a:hlinkClick r:id="rIdMove0" action="ppaction://hlinksldjump" tooltip="SCR-B-002-P01"/>
          </p:cNvPr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기록 입력·수정 클릭 → 계획에 연결된 기록 불러오기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→ 기록 폼에서 시간·채택·실행·결과 입력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계획별 기록 확인 → 예정·실제 활동과 날짜 구분 → 미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기록을 실행 실패로 처리하지 않음</a:t>
            </a:r>
          </a:p>
        </p:txBody>
      </p:sp>
      <p:sp>
        <p:nvSpPr>
          <p:cNvPr id="61" name="TextBox 60">
            <a:hlinkClick r:id="rIdMove2" action="ppaction://hlinksldjump" tooltip="SCR-B-002-P02"/>
          </p:cNvPr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사용 결과 요약 클릭 → 입력한 기록만 집계 → 시간·채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택·실행·확보한 결과 요약 표시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도입 상태 확인 → 검토 중인 F04 보고서 비활성 표시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→ 필수 사용 결과 요약은 이용 가능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빈 상태: 먼저 계획을 만들도록 일정 이동 제공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숫자 0: 실제 확인한 0건, 빈칸: 미수집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기록 없음 / 미확보와 0 구분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기록 입력 → 선택 계획 불러오기 → SCR-B-002-P01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records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6437092" y="296678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6437092" y="296678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2611524" y="2851312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2611524" y="2851312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6289685" y="181511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6289685" y="181511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2609040" y="392829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2609040" y="392829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사용·실행 기록 입력 팝업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09 · 사용·실행 기록 입력 팝업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SCR-B-002-P01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사용·실행 기록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UC04-1부터 UC04-6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사용·실행 기록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실행 기록 &gt; 입력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소요 시간(분) 입력 → 음수·유효 범위 검사 → 계획별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보관, 빈칸은 미측정 유지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채택·미채택·확인 중 선택 → 선택 내용과 연결해 저장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→ 채택 여부를 자동 추정하지 않음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실제 활동·날짜 입력 → 실행한 경우 날짜 검사 → 예정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활동과 실제 활동을 별도 보관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클릭·예약·쿠폰 건수 입력 → 비음수 정수 검사 → 빈칸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은 미수집, 실제 0건과 구분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⑤ 결과 출처·확인 방법 입력 → 기록과 함께 보관 → 이후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사용 결과 해석에 활용</a:t>
            </a:r>
          </a:p>
        </p:txBody>
      </p:sp>
      <p:sp>
        <p:nvSpPr>
          <p:cNvPr id="64" name="TextBox 63">
            <a:hlinkClick r:id="rIdMove5" action="ppaction://hlinksldjump" tooltip="SCR-B-002"/>
          </p:cNvPr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⑥ 기록 저장 클릭 → 입력 검증·저장, 실패 시 입력 유지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→ 성공 시 실행 기록 목록 갱신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입력·저장 오류 / 저장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저장 → 형식 검사·저장 성공 → SCR-B-002 기록 갱신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record-edit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3175234" y="2414192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3175234" y="2414192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4259196" y="2414192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4259196" y="2414192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3175234" y="342057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3175234" y="342057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4620516" y="388764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4620516" y="388764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8" name="Callout 5 circle"/>
          <p:cNvSpPr/>
          <p:nvPr/>
        </p:nvSpPr>
        <p:spPr>
          <a:xfrm>
            <a:off x="3175234" y="431368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Callout 5 number"/>
          <p:cNvSpPr txBox="1"/>
          <p:nvPr/>
        </p:nvSpPr>
        <p:spPr>
          <a:xfrm>
            <a:off x="3175234" y="431368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10" name="Callout 6 circle"/>
          <p:cNvSpPr/>
          <p:nvPr/>
        </p:nvSpPr>
        <p:spPr>
          <a:xfrm>
            <a:off x="4985504" y="4766618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Callout 6 number"/>
          <p:cNvSpPr txBox="1"/>
          <p:nvPr/>
        </p:nvSpPr>
        <p:spPr>
          <a:xfrm>
            <a:off x="4985504" y="4766618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사용 결과 요약 팝업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10 · 사용 결과 요약 팝업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SCR-B-002-P02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사용 결과 요약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UC05-1·UC05-2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계획·실행 비교·요약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실행 기록 &gt;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사용 결과 요약 조회 → 계획·채택·시간·결과·미확보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집계 → 매출 증가·인과 효과 추정 안 함</a:t>
            </a:r>
          </a:p>
        </p:txBody>
      </p:sp>
      <p:sp>
        <p:nvSpPr>
          <p:cNvPr id="45" name="TextBox 44">
            <a:hlinkClick r:id="rIdMove1" action="ppaction://hlinksldjump" tooltip="SCR-B-002"/>
          </p:cNvPr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닫기 클릭 → 요약 팝업 닫기 → 이전 실행 기록 화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면 복귀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기록 없음: 미기록 안내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미확보 결과: 요약에서도 미확보로 유지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규칙 기반 필수 요약이며 선택 AI 보고서와 구분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기록 없음 / 미확보 유지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닫기 → 요약 종료 → SCR-B-002 실행 기록 복귀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summary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3202210" y="289546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3202210" y="289546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4792622" y="4442894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4792622" y="4442894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근거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11 · 근거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근거 연결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UC10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출처·기준 표시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분석/제안 &gt; 근거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자료 버전 선택 → 관계의 출처·기간 설명 표시 → 우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측 설명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홍보 제안 관계 선택 → 수치·확인할 운영 조건 표시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→ 상관관계를 인과효과로 해석 안 함</a:t>
            </a:r>
          </a:p>
        </p:txBody>
      </p:sp>
      <p:sp>
        <p:nvSpPr>
          <p:cNvPr id="46" name="TextBox 45">
            <a:hlinkClick r:id="rIdMove2" action="ppaction://hlinksldjump" tooltip="SCR-C-004-P01"/>
          </p:cNvPr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③ 추천 근거 자세히 보기 클릭 → 선택 제안의 판단 과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 조회 → 추천 근거 패널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현재 관계는 고정 예시이며 실제 온톨로지 추론 아님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일반 조회 상태에는 비공개 상품·일정·기록 연결 제외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그래프와 동등한 글로 읽는 관계 제공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고정 관계 예시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근거 보기 → 출처·기준 표시 → 현재 화면의 상세 패널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ontology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3701682" y="326095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3701682" y="326095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3551663" y="4007231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3551663" y="4007231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5213538" y="4322618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5213538" y="4322618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추천 근거 상세 패널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12 · 추천 근거 상세 패널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SCR-C-004-P01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추천 근거 상세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UC02-4부터 UC02-7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UC10 · 추천 근거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홍보 제안 &gt; 근거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추천 근거 열기 → 선택 제안의 제목·시기 표시 → 같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은 제안의 이유·조건 확인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자료·운영 조건 확인 → 관측값·출처·상품 조건 구분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표시 → 미확인 상품·예산은 확정 안 함</a:t>
            </a:r>
          </a:p>
        </p:txBody>
      </p:sp>
      <p:sp>
        <p:nvSpPr>
          <p:cNvPr id="46" name="TextBox 45">
            <a:hlinkClick r:id="rIdMove2" action="ppaction://hlinksldjump" tooltip="SCR-B-001-P01"/>
          </p:cNvPr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③ 일정에 담기 클릭 → 선택 제안을 계획 편집 폼에 반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영 → 명시적 저장 전까지 일정 미변경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중복 담기: 새 항목 대신 기존 계획 수정으로 연결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닫기/Escape: 이전 화면과 호출 버튼 복귀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중복 계획은 기존 계획 수정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일정에 담기 → 기존 계획 확인 → SCR-B-001-P01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evidence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5019104" y="228850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5019104" y="228850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5019104" y="259330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5019104" y="259330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6155079" y="388923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6155079" y="388923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자료 둘러보기 · 조회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13 · 자료 둘러보기 · 조회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둘러보기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UC10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출처·기준 표시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메인 &gt; 자료 조회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방문·카드 소비 선택 → 지표의 단위·행 갱신 → 동일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한 자료 기준 표시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지역명·월 입력 → 해당 지표의 예시 행 필터링 → 검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색 결과 또는 결과 없음 표시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③ 값·단위·자료 상태 확인 → 누락값을 미수집으로 표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시 → 0으로 임의 보정하지 않음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운영자: 읽기 화면, 등록·기준 변경 없음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검색 결과 없음: 검색 조건 수정 안내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검색 결과 없음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검색어 변경 → 자료 필터링 → 현재 화면 목록 갱신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data-read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3103899" y="253322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3103899" y="253322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2778824" y="275144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2778824" y="275144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2781046" y="311680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2781046" y="311680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자료·기준 관리</a:t>
            </a:r>
          </a:p>
        </p:txBody>
      </p:sp>
      <p:sp>
        <p:nvSpPr>
          <p:cNvPr id="3" name="TextBox 2">
            <a:hlinkClick r:id="rIdLink3" tooltip="Figma 원본 보기"/>
          </p:cNvPr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14 · 자료·기준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자료·기준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UC07·UC08-1부터 UC08-5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UC09-1·UC09-2 운영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메인 &gt; 자료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71907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① CSV 선택 → 출처·기간·단위·제공 기준 확인 준비 → 시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안에서는 실제 서버 업로드 안 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322576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② 공급사·기준 입력 → 기존 자료와 비교 가능성 검사에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사용 → 불일치 자료는 정상 비교에서 제외</a:t>
            </a:r>
          </a:p>
        </p:txBody>
      </p:sp>
      <p:sp>
        <p:nvSpPr>
          <p:cNvPr id="61" name="TextBox 60">
            <a:hlinkClick r:id="rIdMove2" action="ppaction://hlinksldjump" tooltip="SCR-A-001-P01"/>
          </p:cNvPr>
          <p:cNvSpPr txBox="1"/>
          <p:nvPr/>
        </p:nvSpPr>
        <p:spPr>
          <a:xfrm>
            <a:off x="8430768" y="292608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③ 통과 예시 확인 → 기간·집계·지역 코드·누락·제공 기준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검사 → CSV 검증 결과 표시</a:t>
            </a:r>
          </a:p>
        </p:txBody>
      </p:sp>
      <p:sp>
        <p:nvSpPr>
          <p:cNvPr id="62" name="TextBox 61">
            <a:hlinkClick r:id="rIdMove3" action="ppaction://hlinksldjump" tooltip="SCR-A-001-P02"/>
          </p:cNvPr>
          <p:cNvSpPr txBox="1"/>
          <p:nvPr/>
        </p:nvSpPr>
        <p:spPr>
          <a:xfrm>
            <a:off x="8430768" y="3529584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④ 추천 기준 편집 클릭 → 현재 기준·근거 불러오기 → 기</a:t>
            </a:r>
          </a:p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준 편집에서 조건·출처·판단 이유 입력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4133088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자료 검증은 등록의 필수 선행 처리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4736592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69" b="0">
                <a:solidFill>
                  <a:srgbClr val="2D2D2D"/>
                </a:solidFill>
                <a:latin typeface="Malgun Gothic"/>
              </a:rPr>
              <a:t>검증 실패·미확인 항목: 등록 차단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검증 실패·미확인 / 등록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검증 → 다섯 항목 검사 → SCR-A-001-P01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data-admin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632857" y="1371600"/>
            <a:ext cx="5363936" cy="417195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2705889" y="2714866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2705889" y="2714866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5402757" y="309923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5402757" y="309923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2705889" y="3524578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2705889" y="3524578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6" name="Callout 4 circle"/>
          <p:cNvSpPr/>
          <p:nvPr/>
        </p:nvSpPr>
        <p:spPr>
          <a:xfrm>
            <a:off x="6188490" y="426485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Callout 4 number"/>
          <p:cNvSpPr txBox="1"/>
          <p:nvPr/>
        </p:nvSpPr>
        <p:spPr>
          <a:xfrm>
            <a:off x="6188490" y="426485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CSV 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15 · CSV 검증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SCR-A-001-P01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CSV 검증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UC07·UC08-1부터 UC08-5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CSV 등록·다섯 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관리 &gt; 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통과 예시 검증 요청 → 기간·집계·지역 코드·누락·제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공 기준 검사 → 항목별 결과·비교 범위 표시</a:t>
            </a:r>
          </a:p>
        </p:txBody>
      </p:sp>
      <p:sp>
        <p:nvSpPr>
          <p:cNvPr id="45" name="TextBox 44">
            <a:hlinkClick r:id="rIdMove1" action="ppaction://hlinksldjump" tooltip="SCR-A-001"/>
          </p:cNvPr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등록 시연 클릭 → 다섯 검증 완료 확인 → 예시 등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록 상태만 변경(실자료 서버 저장 아님)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일부 누락: 제외 여부와 사용 가능 범위 명시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실패·미확인: 등록 비활성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검증 이후 파일·기준 변경: 이전 통과 상태 무효화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검증 통과 / 실패·미확인 / 등록 완료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검증 후 등록 → 통과 여부 재확인 → SCR-A-001 갱신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csv-validation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2865501" y="407852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2865501" y="407852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3973817" y="3689153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3973817" y="3689153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CSV 검증 · 등록 불가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16 · CSV 검증 · 등록 불가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SCR-A-001-P01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CSV 검증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등록 불가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UC08-1부터 UC08-5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CSV 다섯 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관리 &gt; 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실패 예시 검증 요청 → 누락 정보·기준 불일치 표시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→ 자료 수정 또는 통과 예시로 재검증</a:t>
            </a:r>
          </a:p>
        </p:txBody>
      </p:sp>
      <p:sp>
        <p:nvSpPr>
          <p:cNvPr id="45" name="TextBox 44">
            <a:hlinkClick r:id="rIdMove1" action="ppaction://hlinksldjump" tooltip="SCR-A-001-P01"/>
          </p:cNvPr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실패 자료 등록 시도 → 필수 검증 통과 전 등록 차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단 → 오류 수정 후 CSV 다시 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검증 오류를 성공으로 표시하지 않음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없는 수치를 만들어 보완하지 않음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오류 / 등록 불가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입력 수정 → 재검증 → SCR-A-001-P01 결과 갱신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csv-error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2865501" y="4078525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2865501" y="4078525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3973817" y="3689153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3973817" y="3689153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추천 기준·근거 편집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17 · 추천 기준·근거 편집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SCR-A-001-P02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추천 기준·근거 편집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UC09-1·UC09-2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추천 기준 설정·근거 기록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관리 &gt; 기준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추천 기준·조건·분석 결과 입력 → 출처·판단 이유 검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 → 근거가 빠지면 저장 차단</a:t>
            </a:r>
          </a:p>
        </p:txBody>
      </p:sp>
      <p:sp>
        <p:nvSpPr>
          <p:cNvPr id="45" name="TextBox 44">
            <a:hlinkClick r:id="rIdMove1" action="ppaction://hlinksldjump" tooltip="SCR-A-001"/>
          </p:cNvPr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기준 저장 클릭 → 기준·근거를 브라우저에 저장 →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설정 시연 완료(추천 엔진 자동 적용 아님)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실제 분석 결과·CSV 확보 후 운영 기준 확정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근거 필수값 누락: 오류 안내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저장 실패: 입력 보존·재시도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정상 / 필수값 오류 / 저장 실패·완료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기준 저장 → 필수값 검사·저장 → SCR-A-001 복귀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criteria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3285554" y="276033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3285554" y="276033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4708179" y="4643074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4708179" y="4643074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로그인 · 입력 오류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18 · 로그인 · 입력 오류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로그인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입력 오류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별도 UC 없음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공통 접근 보조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최초 진입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빈 이메일로 로그인 클릭 → 필수값 검사 실패 → 이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메일로 초점 이동·오류 안내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오류 확인 후 수정 → 다른 입력값 유지 → 같은 화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면에서 로그인 재시도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연결 오류·서버 오류는 실인증 도입 시 추가 검증 필요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입력 오류 / 입력 유지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입력 수정 → 체험 계정 재검사 → 성공 시 SCR-C-002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login-error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4788311" y="3103854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4788311" y="3103854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4788311" y="3636560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4788311" y="3636560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지역 분석 · 자료 없음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19 · 지역 분석 · 자료 없음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SCR-C-003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지역 분석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사용자 외 2종*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UC01-1·UC01-2·UC10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방문 자료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메인 &gt; 지역 분석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2024년 선택 → 해당 기간 자료 보유 여부 확인 →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예시 수치로 임의 대체하지 않음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안내 확인 → 자료 없음 원인·다음 행동 제시 →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2025년 예시 또는 다른 조건 선택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Actor: 사용자(조회 가정)·사업체 운영자·서비스 운영자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미확보는 실제 0명·0원과 다름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결과 없음 / 0명·0원과 구분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2025년 선택 → 예시 자료 조회 → SCR-C-003 그래프 표시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analysis-empty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3624485" y="2574344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3624485" y="2574344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2778824" y="297147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2778824" y="297147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계획 작성 · 저장 실패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20 · 계획 작성 · 저장 실패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SCR-B-001-P01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계획 작성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저장 실패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UC03-1·UC03-3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일정 작성·저장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일정 &gt; 계획 작성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계획 입력 후 저장 클릭 → 브라우저 저장 거부 감지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→ 입력값·편집 폼 유지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오류 확인 → 작성 완료 처리 없이 원래 저장본 유지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→ 저장 가능한 상태에서 재시도</a:t>
            </a:r>
          </a:p>
        </p:txBody>
      </p:sp>
      <p:sp>
        <p:nvSpPr>
          <p:cNvPr id="46" name="TextBox 45">
            <a:hlinkClick r:id="rIdMove2" action="ppaction://hlinksldjump" tooltip="SCR-B-001"/>
          </p:cNvPr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③ 저장 다시 클릭 → 같은 입력을 다시 검증·저장 → 성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공할 때만 일정 목록 갱신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저장 실패 상태 재현은 테스트용 브라우저에서만 수행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일정 작성·수정의 완료 조건은 저장 성공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저장 실패 / 입력 유지 / 재시도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재시도 → 저장 성공 확인 → SCR-B-001 일정 갱신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plan-save-error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3285554" y="3121374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3285554" y="3121374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3285554" y="412868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3285554" y="412868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4" name="Callout 3 circle"/>
          <p:cNvSpPr/>
          <p:nvPr/>
        </p:nvSpPr>
        <p:spPr>
          <a:xfrm>
            <a:off x="4662288" y="437470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Callout 3 number"/>
          <p:cNvSpPr txBox="1"/>
          <p:nvPr/>
        </p:nvSpPr>
        <p:spPr>
          <a:xfrm>
            <a:off x="4662288" y="437470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3. 자료 둘러보기 · 검색 결과 없음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04 / 21 · 자료 둘러보기 · 검색 결과 없음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91440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749808"/>
            <a:ext cx="8046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Screen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749808"/>
            <a:ext cx="13258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749808"/>
            <a:ext cx="12161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SCR-A-001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749808"/>
            <a:ext cx="77724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749808"/>
            <a:ext cx="66751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둘러보기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검색 결과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749808"/>
            <a:ext cx="658368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749808"/>
            <a:ext cx="5486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Actor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7568" y="749808"/>
            <a:ext cx="1143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1" y="749808"/>
            <a:ext cx="103327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사업체 운영자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서비스 운영자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30568" y="749808"/>
            <a:ext cx="8229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749808"/>
            <a:ext cx="7132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관련 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527" y="749808"/>
            <a:ext cx="1965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749808"/>
            <a:ext cx="18562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UC10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출처·기준 표시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749808"/>
            <a:ext cx="594360" cy="347472"/>
          </a:xfrm>
          <a:prstGeom prst="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749808"/>
            <a:ext cx="4846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경로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749808"/>
            <a:ext cx="15087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749808"/>
            <a:ext cx="139903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자료 조회 &gt; 검색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34440"/>
            <a:ext cx="763524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Link26" tooltip="Figma 원본 보기"/>
          </p:cNvPr>
          <p:cNvSpPr txBox="1"/>
          <p:nvPr/>
        </p:nvSpPr>
        <p:spPr>
          <a:xfrm>
            <a:off x="685800" y="1417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828282"/>
                </a:solidFill>
                <a:latin typeface="Malgun Gothic"/>
              </a:rPr>
              <a:t>Figma 캡처 · 예시 자료 · 원본 보기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234440"/>
            <a:ext cx="3410712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solidFill>
            <a:srgbClr val="263E5C"/>
          </a:solidFill>
          <a:ln>
            <a:solidFill>
              <a:srgbClr val="26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234440"/>
            <a:ext cx="34107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Description (화면설명)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75564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① 없는 지역명 검색 → 일치하는 행이 없음을 확인 →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검색어는 그대로 유지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286000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② 검색 결과 없음 확인 → 조건 수정 방법 표시 → 검</a:t>
            </a:r>
          </a:p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색어 수정 후 결과 재조회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81635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빈 표만 보여주지 않고 검색어 수정 안내 제공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346704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877056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407408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06440"/>
            <a:ext cx="11183112" cy="47548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화면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806440"/>
            <a:ext cx="374903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검색 결과 없음 / 조건 수정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806440"/>
            <a:ext cx="96012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이동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806440"/>
            <a:ext cx="5029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Malgun Gothic"/>
              </a:rPr>
              <a:t>검색어 변경 → 조건 재조회 → SCR-A-001 목록 표시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  <p:pic>
        <p:nvPicPr>
          <p:cNvPr id="200" name="Figma data-empty">
            <a:hlinkClick r:id="rIdFigma" tooltip="Figma 원본 프레임 열기"/>
          </p:cNvPr>
          <p:cNvPicPr>
            <a:picLocks noChangeAspect="1"/>
          </p:cNvPicPr>
          <p:nvPr/>
        </p:nvPicPr>
        <p:blipFill>
          <a:blip r:embed="rIdScreen"/>
          <a:stretch/>
        </p:blipFill>
        <p:spPr>
          <a:xfrm>
            <a:off x="1914525" y="1771650"/>
            <a:ext cx="4800600" cy="3733800"/>
          </a:xfrm>
          <a:prstGeom prst="rect">
            <a:avLst/>
          </a:prstGeom>
        </p:spPr>
      </p:pic>
      <p:sp>
        <p:nvSpPr>
          <p:cNvPr id="300" name="Callout 1 circle"/>
          <p:cNvSpPr/>
          <p:nvPr/>
        </p:nvSpPr>
        <p:spPr>
          <a:xfrm>
            <a:off x="2778824" y="2751449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Callout 1 number"/>
          <p:cNvSpPr txBox="1"/>
          <p:nvPr/>
        </p:nvSpPr>
        <p:spPr>
          <a:xfrm>
            <a:off x="2778824" y="2751449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302" name="Callout 2 circle"/>
          <p:cNvSpPr/>
          <p:nvPr/>
        </p:nvSpPr>
        <p:spPr>
          <a:xfrm>
            <a:off x="2781046" y="3116807"/>
            <a:ext cx="178308" cy="178308"/>
          </a:xfrm>
          <a:prstGeom prst="ellipse">
            <a:avLst/>
          </a:prstGeom>
          <a:solidFill>
            <a:srgbClr val="D73737"/>
          </a:solidFill>
          <a:ln>
            <a:solidFill>
              <a:srgbClr val="D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Callout 2 number"/>
          <p:cNvSpPr txBox="1"/>
          <p:nvPr/>
        </p:nvSpPr>
        <p:spPr>
          <a:xfrm>
            <a:off x="2781046" y="3116807"/>
            <a:ext cx="178308" cy="178308"/>
          </a:xfrm>
          <a:prstGeom prst="rect">
            <a:avLst/>
          </a:prstGeom>
          <a:noFill/>
        </p:spPr>
        <p:txBody>
          <a:bodyPr lIns="59436" rIns="59436" tIns="29718" bIns="29718" wrap="none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4. 구현 범위와 Figma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05 / 범위·제출 링크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960120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94183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프로젝트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94183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F01 지역별 방문 추이 · F02 방문·소비 비교와 홍보 제안 · F03 3개월 일정과 사용 기록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874519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56231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선택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56231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F04는 검토 중입니다. UC06-1 추천 이유 설명 초안, UC06-2 보고서 초안은 비활성입니다.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7063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현재 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7063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예시 자료와 브라우저 저장으로 화면 흐름을 확인합니다. 실제 통계·서버 인증·자료 적재는 연결 전입니다.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8503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Figma 원본</a:t>
            </a:r>
          </a:p>
        </p:txBody>
      </p:sp>
      <p:sp>
        <p:nvSpPr>
          <p:cNvPr id="20" name="TextBox 19">
            <a:hlinkClick r:id="rIdLink20" tooltip="Figma 원본 보기"/>
          </p:cNvPr>
          <p:cNvSpPr txBox="1"/>
          <p:nvPr/>
        </p:nvSpPr>
        <p:spPr>
          <a:xfrm>
            <a:off x="2880360" y="368503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이승보의 팀 · 제주 마케팅 캘린더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https://www.figma.com/design/3g5xR8OkcV6sUclyGM5d30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4371A0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9943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3E5C"/>
                </a:solidFill>
                <a:latin typeface="Malgun Gothic"/>
              </a:rPr>
              <a:t>공유·Prototype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59943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공유 권한: 외부 열람 미검증. Prototype: 연결 144개 정의·대상 확인, 실제 클릭 재생 미검증.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623560"/>
            <a:ext cx="10789920" cy="530352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4241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3E5C"/>
                </a:solidFill>
                <a:latin typeface="Malgun Gothic"/>
              </a:rPr>
              <a:t>※ 지역 방문 집계는 개별 가게 손님 수가 아닙니다. 기록 미확보와 0건을 구분하며, 매출 증가나 미래 결과를 보장하지 않습니다.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63E5C"/>
                </a:solidFill>
                <a:latin typeface="Malgun Gothic"/>
              </a:rPr>
              <a:t>5. 제출 전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Malgun Gothic"/>
              </a:rPr>
              <a:t>06 / 최종 점검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11338560" cy="22860"/>
          </a:xfrm>
          <a:prstGeom prst="rect">
            <a:avLst/>
          </a:prstGeom>
          <a:solidFill>
            <a:srgbClr val="437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00584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371A0"/>
                </a:solidFill>
                <a:latin typeface="Malgun Gothic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78408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PROJECT.md의 F01·F02·F03 및 운영 지원을 화면에 반영했습니다.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27632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371A0"/>
                </a:solidFill>
                <a:latin typeface="Malgun Gothi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필수·운영 지원 UC 30개를 연결하고, 선택 UC 2개는 검토 중으로 구분했습니다.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49424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371A0"/>
                </a:solidFill>
                <a:latin typeface="Malgun Gothic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21992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사용자·사업체 운영자·서비스 운영자를 구분하고, 공개 조회는 설계 가정으로 표시했습니다.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71216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71216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371A0"/>
                </a:solidFill>
                <a:latin typeface="Malgun Gothi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43784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Screen ID·화면명·Actor·관련 Use Case·경로를 화면 목록과 Storyboard에 기록했습니다.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93008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371A0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65576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Figma 캡처 21개에 번호 73개를 표시하고 우측 동작 설명과 대응했습니다.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14800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371A0"/>
                </a:solidFill>
                <a:latin typeface="Malgun Gothi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087368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조회 없음·입력 오류·등록 불가·저장 실패·완료의 처리와 복귀 경로를 명시했습니다.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36592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36592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371A0"/>
                </a:solidFill>
                <a:latin typeface="Malgun Gothic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709160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버튼 선택 후 처리·결과·이동 화면을 표시했습니다. Prototype 재생 검증은 남아 있습니다.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358384"/>
            <a:ext cx="38404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43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58384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371A0"/>
                </a:solidFill>
                <a:latin typeface="Malgun Gothic"/>
              </a:rPr>
              <a:t>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30952"/>
            <a:ext cx="9966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algun Gothic"/>
              </a:rPr>
              <a:t>실제 서버 구현과 시안을 구분했습니다. Figma 외부 열람 권한은 제출 전 확인이 필요합니다.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6053328"/>
            <a:ext cx="10515600" cy="384048"/>
          </a:xfrm>
          <a:prstGeom prst="roundRect">
            <a:avLst/>
          </a:prstGeom>
          <a:solidFill>
            <a:srgbClr val="EFF3F7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6053328"/>
            <a:ext cx="101498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3E5C"/>
                </a:solidFill>
                <a:latin typeface="Malgun Gothic"/>
              </a:rPr>
              <a:t>제출 파일: Red 화면설계서_20260927.pptx  |  Figma 링크: 앞쪽 범위·공유 페이지 참조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828282"/>
                </a:solidFill>
                <a:latin typeface="Malgun Gothic"/>
              </a:rPr>
              <a:t>정보시스템 캡스톤디자인 | 화면설계서·Storyboard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34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