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notesMasterIdLst>
    <p:notesMasterId r:id="rId3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?>
<Relationships xmlns="http://schemas.openxmlformats.org/package/2006/relationships"><Relationship Id="rId1" Type="http://schemas.openxmlformats.org/officeDocument/2006/relationships/slideMaster" Target="slideMasters/slideMaster1.xml" /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notesMaster" Target="notesMasters/notesMaster1.xml" /><Relationship Id="rId34" Type="http://schemas.openxmlformats.org/officeDocument/2006/relationships/presProps" Target="presProps.xml" /><Relationship Id="rId35" Type="http://schemas.openxmlformats.org/officeDocument/2006/relationships/viewProps" Target="viewProps.xml" /><Relationship Id="rId36" Type="http://schemas.openxmlformats.org/officeDocument/2006/relationships/theme" Target="theme/theme1.xml" /><Relationship Id="rId37" Type="http://schemas.openxmlformats.org/officeDocument/2006/relationships/tableStyles" Target="tableStyles.xml" 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notesSlide1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출처: 사용자 제공 화면설계서 수정본 및 프로젝트 요구사항. 화면 Description은 목표 서비스 동작이며, 현재 시안 구현 현황은 구현 범위 페이지 참조.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출처: 사용자 제공 화면설계서 수정본 및 프로젝트 요구사항. 화면 Description은 목표 서비스 동작이며, 현재 시안 구현 현황은 구현 범위 페이지 참조.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출처: 사용자 제공 화면설계서 수정본 및 프로젝트 요구사항. 화면 Description은 목표 서비스 동작이며, 현재 시안 구현 현황은 구현 범위 페이지 참조.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출처: 사용자 제공 화면설계서 수정본 및 프로젝트 요구사항. 화면 Description은 목표 서비스 동작이며, 현재 시안 구현 현황은 구현 범위 페이지 참조.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출처: 사용자 제공 화면설계서 수정본 및 프로젝트 요구사항. 화면 Description은 목표 서비스 동작이며, 현재 시안 구현 현황은 구현 범위 페이지 참조.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출처: 사용자 제공 화면설계서 수정본 및 프로젝트 요구사항. 화면 Description은 목표 서비스 동작이며, 현재 시안 구현 현황은 구현 범위 페이지 참조.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출처: 사용자 제공 화면설계서 수정본 및 프로젝트 요구사항. 화면 Description은 목표 서비스 동작이며, 현재 시안 구현 현황은 구현 범위 페이지 참조.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출처: 사용자 제공 화면설계서 수정본 및 프로젝트 요구사항. 화면 Description은 목표 서비스 동작이며, 현재 시안 구현 현황은 구현 범위 페이지 참조.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출처: 사용자 제공 화면설계서 수정본 및 프로젝트 요구사항. 화면 Description은 목표 서비스 동작이며, 현재 시안 구현 현황은 구현 범위 페이지 참조.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출처: 사용자 제공 화면설계서 수정본 및 프로젝트 요구사항. 화면 Description은 목표 서비스 동작이며, 현재 시안 구현 현황은 구현 범위 페이지 참조.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출처: 사용자 제공 화면설계서 수정본 및 프로젝트 요구사항. 화면 Description은 목표 서비스 동작이며, 현재 시안 구현 현황은 구현 범위 페이지 참조.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출처: 사용자 제공 화면설계서 수정본 및 프로젝트 요구사항. 화면 Description은 목표 서비스 동작이며, 현재 시안 구현 현황은 구현 범위 페이지 참조.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출처: 사용자 제공 화면설계서 수정본 및 프로젝트 요구사항. 화면 Description은 목표 서비스 동작이며, 현재 시안 구현 현황은 구현 범위 페이지 참조.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출처: 사용자 제공 화면설계서 수정본 및 프로젝트 요구사항. 화면 Description은 목표 서비스 동작이며, 현재 시안 구현 현황은 구현 범위 페이지 참조.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출처: 사용자 제공 화면설계서 수정본 및 프로젝트 요구사항. 화면 Description은 목표 서비스 동작이며, 현재 시안 구현 현황은 구현 범위 페이지 참조.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출처: 사용자 제공 화면설계서 수정본 및 프로젝트 요구사항. 화면 Description은 목표 서비스 동작이며, 현재 시안 구현 현황은 구현 범위 페이지 참조.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출처: 사용자 제공 화면설계서 수정본 및 프로젝트 요구사항. 화면 Description은 목표 서비스 동작이며, 현재 시안 구현 현황은 구현 범위 페이지 참조.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출처: 사용자 제공 화면설계서 수정본 및 프로젝트 요구사항. 화면 Description은 목표 서비스 동작이며, 현재 시안 구현 현황은 구현 범위 페이지 참조.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출처: 사용자 제공 화면설계서 수정본 및 프로젝트 요구사항. 화면 Description은 목표 서비스 동작이며, 현재 시안 구현 현황은 구현 범위 페이지 참조.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출처: 사용자 제공 화면설계서 수정본 및 프로젝트 요구사항. 화면 Description은 목표 서비스 동작이며, 현재 시안 구현 현황은 구현 범위 페이지 참조.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출처: 사용자 제공 화면설계서 수정본 및 프로젝트 요구사항. 화면 Description은 목표 서비스 동작이며, 현재 시안 구현 현황은 구현 범위 페이지 참조.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출처: 사용자 제공 화면설계서 수정본 및 프로젝트 요구사항. 화면 Description은 목표 서비스 동작이며, 현재 시안 구현 현황은 구현 범위 페이지 참조.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출처: 사용자 제공 화면설계서 수정본 및 프로젝트 요구사항. 화면 Description은 목표 서비스 동작이며, 현재 시안 구현 현황은 구현 범위 페이지 참조.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출처: 사용자 제공 화면설계서 수정본 및 프로젝트 요구사항. 화면 Description은 목표 서비스 동작이며, 현재 시안 구현 현황은 구현 범위 페이지 참조.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출처: 사용자 제공 화면설계서 수정본 및 프로젝트 요구사항. 화면 Description은 목표 서비스 동작이며, 현재 시안 구현 현황은 구현 범위 페이지 참조.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출처: 사용자 제공 화면설계서 수정본 및 프로젝트 요구사항. 화면 Description은 목표 서비스 동작이며, 현재 시안 구현 현황은 구현 범위 페이지 참조.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출처: 사용자 제공 화면설계서 수정본 및 프로젝트 요구사항. 화면 Description은 목표 서비스 동작이며, 현재 시안 구현 현황은 구현 범위 페이지 참조.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출처: 사용자 제공 화면설계서 수정본 및 프로젝트 요구사항. 화면 Description은 목표 서비스 동작이며, 현재 시안 구현 현황은 구현 범위 페이지 참조.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출처: 사용자 제공 화면설계서 수정본 및 프로젝트 요구사항. 화면 Description은 목표 서비스 동작이며, 현재 시안 구현 현황은 구현 범위 페이지 참조.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출처: 사용자 제공 화면설계서 수정본 및 프로젝트 요구사항. 화면 Description은 목표 서비스 동작이며, 현재 시안 구현 현황은 구현 범위 페이지 참조.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notesSlide" Target="../notesSlides/notesSlide1.xml" /></Relationships>
</file>

<file path=ppt/slides/_rels/slide2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notesSlide" Target="../notesSlides/notesSlide2.xml" /></Relationships>
</file>

<file path=ppt/slides/_rels/slide3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notesSlide" Target="../notesSlides/notesSlide3.xml" /></Relationships>
</file>

<file path=ppt/slides/_rels/slide4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notesSlide" Target="../notesSlides/notesSlide4.xml" /></Relationships>
</file>

<file path=ppt/slides/_rels/slide5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notesSlide" Target="../notesSlides/notesSlide5.xml" /></Relationships>
</file>

<file path=ppt/slides/_rels/slide6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notesSlide" Target="../notesSlides/notesSlide6.xml" /></Relationships>
</file>

<file path=ppt/slides/_rels/slide7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notesSlide" Target="../notesSlides/notesSlide7.xml" /></Relationships>
</file>

<file path=ppt/slides/_rels/slide8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notesSlide" Target="../notesSlides/notesSlide8.xml" /></Relationships>
</file>

<file path=ppt/slides/_rels/slide9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notesSlide" Target="../notesSlides/notesSlide9.xml" /></Relationships>
</file>

<file path=ppt/slides/_rels/slide10.xml.rels><?xml version='1.0' encoding='utf-8'?>
<Relationships xmlns="http://schemas.openxmlformats.org/package/2006/relationships"><Relationship Id="rId1" Type="http://schemas.openxmlformats.org/officeDocument/2006/relationships/image" Target="../media/image-10-1.png" /><Relationship Id="rId2" Type="http://schemas.openxmlformats.org/officeDocument/2006/relationships/slideLayout" Target="../slideLayouts/slideLayout1.xml" /><Relationship Id="rId3" Type="http://schemas.openxmlformats.org/officeDocument/2006/relationships/notesSlide" Target="../notesSlides/notesSlide10.xml" /><Relationship Id="rIdRevisedMake" Type="http://schemas.openxmlformats.org/officeDocument/2006/relationships/hyperlink" Target="https://www.figma.com/make/AlZOwKZXABo7G6BkUhTG03/Start-Task" TargetMode="External" /></Relationships>
</file>

<file path=ppt/slides/_rels/slide11.xml.rels><?xml version='1.0' encoding='utf-8'?>
<Relationships xmlns="http://schemas.openxmlformats.org/package/2006/relationships"><Relationship Id="rId1" Type="http://schemas.openxmlformats.org/officeDocument/2006/relationships/image" Target="../media/image-11-1.png" /><Relationship Id="rId2" Type="http://schemas.openxmlformats.org/officeDocument/2006/relationships/slideLayout" Target="../slideLayouts/slideLayout1.xml" /><Relationship Id="rId3" Type="http://schemas.openxmlformats.org/officeDocument/2006/relationships/notesSlide" Target="../notesSlides/notesSlide11.xml" /><Relationship Id="rIdRevisedMake" Type="http://schemas.openxmlformats.org/officeDocument/2006/relationships/hyperlink" Target="https://www.figma.com/make/AlZOwKZXABo7G6BkUhTG03/Start-Task" TargetMode="External" /></Relationships>
</file>

<file path=ppt/slides/_rels/slide12.xml.rels><?xml version='1.0' encoding='utf-8'?>
<Relationships xmlns="http://schemas.openxmlformats.org/package/2006/relationships"><Relationship Id="rId1" Type="http://schemas.openxmlformats.org/officeDocument/2006/relationships/image" Target="../media/image-12-1.png" /><Relationship Id="rId2" Type="http://schemas.openxmlformats.org/officeDocument/2006/relationships/image" Target="../media/image-12-2.png" /><Relationship Id="rId3" Type="http://schemas.openxmlformats.org/officeDocument/2006/relationships/slideLayout" Target="../slideLayouts/slideLayout1.xml" /><Relationship Id="rId4" Type="http://schemas.openxmlformats.org/officeDocument/2006/relationships/notesSlide" Target="../notesSlides/notesSlide12.xml" /><Relationship Id="rIdRevisedMake" Type="http://schemas.openxmlformats.org/officeDocument/2006/relationships/hyperlink" Target="https://www.figma.com/make/AlZOwKZXABo7G6BkUhTG03/Start-Task" TargetMode="External" /></Relationships>
</file>

<file path=ppt/slides/_rels/slide13.xml.rels><?xml version='1.0' encoding='utf-8'?>
<Relationships xmlns="http://schemas.openxmlformats.org/package/2006/relationships"><Relationship Id="rId1" Type="http://schemas.openxmlformats.org/officeDocument/2006/relationships/image" Target="../media/image-13-1.png" /><Relationship Id="rId2" Type="http://schemas.openxmlformats.org/officeDocument/2006/relationships/slideLayout" Target="../slideLayouts/slideLayout1.xml" /><Relationship Id="rId3" Type="http://schemas.openxmlformats.org/officeDocument/2006/relationships/notesSlide" Target="../notesSlides/notesSlide13.xml" /><Relationship Id="rIdRevisedMake" Type="http://schemas.openxmlformats.org/officeDocument/2006/relationships/hyperlink" Target="https://www.figma.com/make/AlZOwKZXABo7G6BkUhTG03/Start-Task" TargetMode="External" /></Relationships>
</file>

<file path=ppt/slides/_rels/slide14.xml.rels><?xml version='1.0' encoding='utf-8'?>
<Relationships xmlns="http://schemas.openxmlformats.org/package/2006/relationships"><Relationship Id="rId1" Type="http://schemas.openxmlformats.org/officeDocument/2006/relationships/image" Target="../media/image-14-1.png" /><Relationship Id="rId2" Type="http://schemas.openxmlformats.org/officeDocument/2006/relationships/slideLayout" Target="../slideLayouts/slideLayout1.xml" /><Relationship Id="rId3" Type="http://schemas.openxmlformats.org/officeDocument/2006/relationships/notesSlide" Target="../notesSlides/notesSlide14.xml" /><Relationship Id="rIdRevisedMake" Type="http://schemas.openxmlformats.org/officeDocument/2006/relationships/hyperlink" Target="https://www.figma.com/make/AlZOwKZXABo7G6BkUhTG03/Start-Task" TargetMode="External" /></Relationships>
</file>

<file path=ppt/slides/_rels/slide15.xml.rels><?xml version='1.0' encoding='utf-8'?>
<Relationships xmlns="http://schemas.openxmlformats.org/package/2006/relationships"><Relationship Id="rId1" Type="http://schemas.openxmlformats.org/officeDocument/2006/relationships/image" Target="../media/image-15-1.png" /><Relationship Id="rId2" Type="http://schemas.openxmlformats.org/officeDocument/2006/relationships/slideLayout" Target="../slideLayouts/slideLayout1.xml" /><Relationship Id="rId3" Type="http://schemas.openxmlformats.org/officeDocument/2006/relationships/notesSlide" Target="../notesSlides/notesSlide15.xml" /><Relationship Id="rIdRevisedMake" Type="http://schemas.openxmlformats.org/officeDocument/2006/relationships/hyperlink" Target="https://www.figma.com/make/AlZOwKZXABo7G6BkUhTG03/Start-Task" TargetMode="External" /></Relationships>
</file>

<file path=ppt/slides/_rels/slide16.xml.rels><?xml version='1.0' encoding='utf-8'?>
<Relationships xmlns="http://schemas.openxmlformats.org/package/2006/relationships"><Relationship Id="rId1" Type="http://schemas.openxmlformats.org/officeDocument/2006/relationships/image" Target="../media/image-16-1.png" /><Relationship Id="rId2" Type="http://schemas.openxmlformats.org/officeDocument/2006/relationships/slideLayout" Target="../slideLayouts/slideLayout1.xml" /><Relationship Id="rId3" Type="http://schemas.openxmlformats.org/officeDocument/2006/relationships/notesSlide" Target="../notesSlides/notesSlide16.xml" /><Relationship Id="rIdRevisedMake" Type="http://schemas.openxmlformats.org/officeDocument/2006/relationships/hyperlink" Target="https://www.figma.com/make/AlZOwKZXABo7G6BkUhTG03/Start-Task" TargetMode="External" /></Relationships>
</file>

<file path=ppt/slides/_rels/slide17.xml.rels><?xml version='1.0' encoding='utf-8'?>
<Relationships xmlns="http://schemas.openxmlformats.org/package/2006/relationships"><Relationship Id="rId1" Type="http://schemas.openxmlformats.org/officeDocument/2006/relationships/image" Target="../media/image-17-1.png" /><Relationship Id="rId2" Type="http://schemas.openxmlformats.org/officeDocument/2006/relationships/slideLayout" Target="../slideLayouts/slideLayout1.xml" /><Relationship Id="rId3" Type="http://schemas.openxmlformats.org/officeDocument/2006/relationships/notesSlide" Target="../notesSlides/notesSlide17.xml" /><Relationship Id="rIdRevisedMake" Type="http://schemas.openxmlformats.org/officeDocument/2006/relationships/hyperlink" Target="https://www.figma.com/make/AlZOwKZXABo7G6BkUhTG03/Start-Task" TargetMode="External" /></Relationships>
</file>

<file path=ppt/slides/_rels/slide18.xml.rels><?xml version='1.0' encoding='utf-8'?>
<Relationships xmlns="http://schemas.openxmlformats.org/package/2006/relationships"><Relationship Id="rId1" Type="http://schemas.openxmlformats.org/officeDocument/2006/relationships/image" Target="../media/image-18-1.png" /><Relationship Id="rId2" Type="http://schemas.openxmlformats.org/officeDocument/2006/relationships/slideLayout" Target="../slideLayouts/slideLayout1.xml" /><Relationship Id="rId3" Type="http://schemas.openxmlformats.org/officeDocument/2006/relationships/notesSlide" Target="../notesSlides/notesSlide18.xml" /><Relationship Id="rIdRevisedMake" Type="http://schemas.openxmlformats.org/officeDocument/2006/relationships/hyperlink" Target="https://www.figma.com/make/AlZOwKZXABo7G6BkUhTG03/Start-Task" TargetMode="External" /></Relationships>
</file>

<file path=ppt/slides/_rels/slide20.xml.rels><?xml version='1.0' encoding='utf-8'?>
<Relationships xmlns="http://schemas.openxmlformats.org/package/2006/relationships"><Relationship Id="rId1" Type="http://schemas.openxmlformats.org/officeDocument/2006/relationships/image" Target="../media/image-20-1.png" /><Relationship Id="rId2" Type="http://schemas.openxmlformats.org/officeDocument/2006/relationships/slideLayout" Target="../slideLayouts/slideLayout1.xml" /><Relationship Id="rId3" Type="http://schemas.openxmlformats.org/officeDocument/2006/relationships/notesSlide" Target="../notesSlides/notesSlide20.xml" /><Relationship Id="rIdRevisedMake" Type="http://schemas.openxmlformats.org/officeDocument/2006/relationships/hyperlink" Target="https://www.figma.com/make/AlZOwKZXABo7G6BkUhTG03/Start-Task" TargetMode="External" /></Relationships>
</file>

<file path=ppt/slides/_rels/slide21.xml.rels><?xml version='1.0' encoding='utf-8'?>
<Relationships xmlns="http://schemas.openxmlformats.org/package/2006/relationships"><Relationship Id="rId1" Type="http://schemas.openxmlformats.org/officeDocument/2006/relationships/image" Target="../media/image-21-1.png" /><Relationship Id="rId2" Type="http://schemas.openxmlformats.org/officeDocument/2006/relationships/image" Target="../media/image-21-2.png" /><Relationship Id="rId3" Type="http://schemas.openxmlformats.org/officeDocument/2006/relationships/image" Target="../media/image-21-3.png" /><Relationship Id="rId4" Type="http://schemas.openxmlformats.org/officeDocument/2006/relationships/slideLayout" Target="../slideLayouts/slideLayout1.xml" /><Relationship Id="rId5" Type="http://schemas.openxmlformats.org/officeDocument/2006/relationships/notesSlide" Target="../notesSlides/notesSlide21.xml" /><Relationship Id="rIdRevisedMake" Type="http://schemas.openxmlformats.org/officeDocument/2006/relationships/hyperlink" Target="https://www.figma.com/make/AlZOwKZXABo7G6BkUhTG03/Start-Task" TargetMode="External" /></Relationships>
</file>

<file path=ppt/slides/_rels/slide22.xml.rels><?xml version='1.0' encoding='utf-8'?>
<Relationships xmlns="http://schemas.openxmlformats.org/package/2006/relationships"><Relationship Id="rId1" Type="http://schemas.openxmlformats.org/officeDocument/2006/relationships/image" Target="../media/image-22-1.png" /><Relationship Id="rId2" Type="http://schemas.openxmlformats.org/officeDocument/2006/relationships/slideLayout" Target="../slideLayouts/slideLayout1.xml" /><Relationship Id="rId3" Type="http://schemas.openxmlformats.org/officeDocument/2006/relationships/notesSlide" Target="../notesSlides/notesSlide22.xml" /><Relationship Id="rIdRevisedMake" Type="http://schemas.openxmlformats.org/officeDocument/2006/relationships/hyperlink" Target="https://www.figma.com/make/AlZOwKZXABo7G6BkUhTG03/Start-Task" TargetMode="External" /></Relationships>
</file>

<file path=ppt/slides/_rels/slide23.xml.rels><?xml version='1.0' encoding='utf-8'?>
<Relationships xmlns="http://schemas.openxmlformats.org/package/2006/relationships"><Relationship Id="rId1" Type="http://schemas.openxmlformats.org/officeDocument/2006/relationships/image" Target="../media/image-23-1.png" /><Relationship Id="rId2" Type="http://schemas.openxmlformats.org/officeDocument/2006/relationships/slideLayout" Target="../slideLayouts/slideLayout1.xml" /><Relationship Id="rId3" Type="http://schemas.openxmlformats.org/officeDocument/2006/relationships/notesSlide" Target="../notesSlides/notesSlide23.xml" /><Relationship Id="rIdRevisedMake" Type="http://schemas.openxmlformats.org/officeDocument/2006/relationships/hyperlink" Target="https://www.figma.com/make/AlZOwKZXABo7G6BkUhTG03/Start-Task" TargetMode="External" /></Relationships>
</file>

<file path=ppt/slides/_rels/slide24.xml.rels><?xml version='1.0' encoding='utf-8'?>
<Relationships xmlns="http://schemas.openxmlformats.org/package/2006/relationships"><Relationship Id="rId1" Type="http://schemas.openxmlformats.org/officeDocument/2006/relationships/image" Target="../media/image-24-1.png" /><Relationship Id="rId2" Type="http://schemas.openxmlformats.org/officeDocument/2006/relationships/slideLayout" Target="../slideLayouts/slideLayout1.xml" /><Relationship Id="rId3" Type="http://schemas.openxmlformats.org/officeDocument/2006/relationships/notesSlide" Target="../notesSlides/notesSlide24.xml" /><Relationship Id="rIdRevisedMake" Type="http://schemas.openxmlformats.org/officeDocument/2006/relationships/hyperlink" Target="https://www.figma.com/make/AlZOwKZXABo7G6BkUhTG03/Start-Task" TargetMode="External" /></Relationships>
</file>

<file path=ppt/slides/_rels/slide25.xml.rels><?xml version='1.0' encoding='utf-8'?>
<Relationships xmlns="http://schemas.openxmlformats.org/package/2006/relationships"><Relationship Id="rId1" Type="http://schemas.openxmlformats.org/officeDocument/2006/relationships/image" Target="../media/image-25-1.png" /><Relationship Id="rId2" Type="http://schemas.openxmlformats.org/officeDocument/2006/relationships/slideLayout" Target="../slideLayouts/slideLayout1.xml" /><Relationship Id="rId3" Type="http://schemas.openxmlformats.org/officeDocument/2006/relationships/notesSlide" Target="../notesSlides/notesSlide25.xml" /><Relationship Id="rIdRevisedMake" Type="http://schemas.openxmlformats.org/officeDocument/2006/relationships/hyperlink" Target="https://www.figma.com/make/AlZOwKZXABo7G6BkUhTG03/Start-Task" TargetMode="External" /></Relationships>
</file>

<file path=ppt/slides/_rels/slide26.xml.rels><?xml version='1.0' encoding='utf-8'?>
<Relationships xmlns="http://schemas.openxmlformats.org/package/2006/relationships"><Relationship Id="rId1" Type="http://schemas.openxmlformats.org/officeDocument/2006/relationships/image" Target="../media/image-26-1.png" /><Relationship Id="rId2" Type="http://schemas.openxmlformats.org/officeDocument/2006/relationships/slideLayout" Target="../slideLayouts/slideLayout1.xml" /><Relationship Id="rId3" Type="http://schemas.openxmlformats.org/officeDocument/2006/relationships/notesSlide" Target="../notesSlides/notesSlide26.xml" /><Relationship Id="rIdRevisedMake" Type="http://schemas.openxmlformats.org/officeDocument/2006/relationships/hyperlink" Target="https://www.figma.com/make/AlZOwKZXABo7G6BkUhTG03/Start-Task" TargetMode="External" /></Relationships>
</file>

<file path=ppt/slides/_rels/slide27.xml.rels><?xml version='1.0' encoding='utf-8'?>
<Relationships xmlns="http://schemas.openxmlformats.org/package/2006/relationships"><Relationship Id="rId1" Type="http://schemas.openxmlformats.org/officeDocument/2006/relationships/image" Target="../media/image-27-1.png" /><Relationship Id="rId2" Type="http://schemas.openxmlformats.org/officeDocument/2006/relationships/image" Target="../media/image-27-2.png" /><Relationship Id="rId3" Type="http://schemas.openxmlformats.org/officeDocument/2006/relationships/slideLayout" Target="../slideLayouts/slideLayout1.xml" /><Relationship Id="rId4" Type="http://schemas.openxmlformats.org/officeDocument/2006/relationships/notesSlide" Target="../notesSlides/notesSlide27.xml" /><Relationship Id="rIdRevisedMake" Type="http://schemas.openxmlformats.org/officeDocument/2006/relationships/hyperlink" Target="https://www.figma.com/make/AlZOwKZXABo7G6BkUhTG03/Start-Task" TargetMode="External" /></Relationships>
</file>

<file path=ppt/slides/_rels/slide28.xml.rels><?xml version='1.0' encoding='utf-8'?>
<Relationships xmlns="http://schemas.openxmlformats.org/package/2006/relationships"><Relationship Id="rId1" Type="http://schemas.openxmlformats.org/officeDocument/2006/relationships/image" Target="../media/image-28-1.png" /><Relationship Id="rId2" Type="http://schemas.openxmlformats.org/officeDocument/2006/relationships/slideLayout" Target="../slideLayouts/slideLayout1.xml" /><Relationship Id="rId3" Type="http://schemas.openxmlformats.org/officeDocument/2006/relationships/notesSlide" Target="../notesSlides/notesSlide28.xml" /><Relationship Id="rIdRevisedMake" Type="http://schemas.openxmlformats.org/officeDocument/2006/relationships/hyperlink" Target="https://www.figma.com/make/AlZOwKZXABo7G6BkUhTG03/Start-Task" TargetMode="External" /></Relationships>
</file>

<file path=ppt/slides/_rels/slide29.xml.rels><?xml version='1.0' encoding='utf-8'?>
<Relationships xmlns="http://schemas.openxmlformats.org/package/2006/relationships"><Relationship Id="rId1" Type="http://schemas.openxmlformats.org/officeDocument/2006/relationships/image" Target="../media/image-29-1.png" /><Relationship Id="rId2" Type="http://schemas.openxmlformats.org/officeDocument/2006/relationships/image" Target="../media/image-29-2.png" /><Relationship Id="rId3" Type="http://schemas.openxmlformats.org/officeDocument/2006/relationships/slideLayout" Target="../slideLayouts/slideLayout1.xml" /><Relationship Id="rId4" Type="http://schemas.openxmlformats.org/officeDocument/2006/relationships/notesSlide" Target="../notesSlides/notesSlide29.xml" /><Relationship Id="rIdRevisedMake" Type="http://schemas.openxmlformats.org/officeDocument/2006/relationships/hyperlink" Target="https://www.figma.com/make/AlZOwKZXABo7G6BkUhTG03/Start-Task" TargetMode="External" /></Relationships>
</file>

<file path=ppt/slides/_rels/slide30.xml.rels><?xml version='1.0' encoding='utf-8'?>
<Relationships xmlns="http://schemas.openxmlformats.org/package/2006/relationships"><Relationship Id="rId3" Type="http://schemas.openxmlformats.org/officeDocument/2006/relationships/slideLayout" Target="../slideLayouts/slideLayout1.xml" /><Relationship Id="rId4" Type="http://schemas.openxmlformats.org/officeDocument/2006/relationships/notesSlide" Target="../notesSlides/notesSlide30.xml" /><Relationship Id="rIdScopeMakeEditor" Type="http://schemas.openxmlformats.org/officeDocument/2006/relationships/hyperlink" Target="https://www.figma.com/make/AlZOwKZXABo7G6BkUhTG03/Start-Task" TargetMode="External" /><Relationship Id="rIdScopePublishedPreview" Type="http://schemas.openxmlformats.org/officeDocument/2006/relationships/hyperlink" Target="https://blob-silver-16955234.figma.site" TargetMode="External" /></Relationships>
</file>

<file path=ppt/slides/_rels/slide3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notesSlide" Target="../notesSlides/notesSlide31.xml" /></Relationships>
</file>

<file path=ppt/slides/slide1.xml><?xml version="1.0" encoding="utf-8"?>
<p:sld xmlns:a="http://schemas.openxmlformats.org/drawingml/2006/main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1143000"/>
            <a:ext cx="109728" cy="3566160"/>
          </a:xfrm>
          <a:prstGeom prst="rect">
            <a:avLst/>
          </a:prstGeom>
          <a:solidFill>
            <a:srgbClr val="4371A0"/>
          </a:solidFill>
          <a:ln w="12700">
            <a:solidFill>
              <a:srgbClr val="4371A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960120" y="1417320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정보시스템 화면설계서 · 스토리보드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987552" y="2194560"/>
            <a:ext cx="9418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4371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제주 비수기 상권 마케팅 캘린더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987552" y="2971800"/>
            <a:ext cx="9418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PROJECT.md → Use Case Diagram → 화면설계서 → 구현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제주 지역별 방문·소비 데이터를 활용해 소상공인의 비수기 홍보 계획 수립을 돕는 서비스입니다.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987552" y="52578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64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Red  |  제주 비수기 상권 마케팅 캘린더  |  2026-09-27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987552" y="55778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64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이승보 · 김예원 · 김혜원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82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정보시스템 캡스톤디자인 | 화면설계서·Storyboard Template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16459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작성 원칙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18288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64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 / 작성 안내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11480" y="621792"/>
            <a:ext cx="11338560" cy="27432"/>
          </a:xfrm>
          <a:prstGeom prst="rect">
            <a:avLst/>
          </a:prstGeom>
          <a:solidFill>
            <a:srgbClr val="4371A0"/>
          </a:solidFill>
          <a:ln w="12700">
            <a:solidFill>
              <a:srgbClr val="4371A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960120"/>
            <a:ext cx="384048" cy="384048"/>
          </a:xfrm>
          <a:prstGeom prst="ellipse">
            <a:avLst/>
          </a:prstGeom>
          <a:solidFill>
            <a:srgbClr val="4371A0"/>
          </a:solidFill>
          <a:ln w="12700">
            <a:solidFill>
              <a:srgbClr val="4371A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960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94183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단위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2880360" y="94183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PPT 1장에 하나의 주요 화면을 작성합니다.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85800" y="1874520"/>
            <a:ext cx="384048" cy="384048"/>
          </a:xfrm>
          <a:prstGeom prst="ellipse">
            <a:avLst/>
          </a:prstGeom>
          <a:solidFill>
            <a:srgbClr val="4371A0"/>
          </a:solidFill>
          <a:ln w="12700">
            <a:solidFill>
              <a:srgbClr val="4371A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" y="1874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185623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Use Case 연결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2880360" y="185623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 화면에 관련 Actor와 Use Case ID/명을 반드시 기재합니다.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85800" y="2788920"/>
            <a:ext cx="384048" cy="384048"/>
          </a:xfrm>
          <a:prstGeom prst="ellipse">
            <a:avLst/>
          </a:prstGeom>
          <a:solidFill>
            <a:srgbClr val="4371A0"/>
          </a:solidFill>
          <a:ln w="12700">
            <a:solidFill>
              <a:srgbClr val="4371A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5800" y="2788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277063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번호 설명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2880360" y="277063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입력·버튼·조회결과·팝업 등에 ①②③ 번호를 붙이고 우측에 동작을 설명합니다.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85800" y="3703320"/>
            <a:ext cx="384048" cy="384048"/>
          </a:xfrm>
          <a:prstGeom prst="ellipse">
            <a:avLst/>
          </a:prstGeom>
          <a:solidFill>
            <a:srgbClr val="4371A0"/>
          </a:solidFill>
          <a:ln w="12700">
            <a:solidFill>
              <a:srgbClr val="4371A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85800" y="3703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1234440" y="368503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상태 설계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2880360" y="368503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정상뿐 아니라 조회결과 없음, 입력오류, 처리불가, 완료 등 필요한 상태를 설계합니다.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85800" y="4617720"/>
            <a:ext cx="384048" cy="384048"/>
          </a:xfrm>
          <a:prstGeom prst="ellipse">
            <a:avLst/>
          </a:prstGeom>
          <a:solidFill>
            <a:srgbClr val="4371A0"/>
          </a:solidFill>
          <a:ln w="12700">
            <a:solidFill>
              <a:srgbClr val="4371A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85800" y="4617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1234440" y="459943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이동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2880360" y="459943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[행위] → [처리] → [이동 화면] 형식으로 다음 동작을 명확히 적습니다.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85800" y="5623560"/>
            <a:ext cx="10789920" cy="530352"/>
          </a:xfrm>
          <a:prstGeom prst="rect">
            <a:avLst/>
          </a:prstGeom>
          <a:solidFill>
            <a:srgbClr val="EFF3F7"/>
          </a:solidFill>
          <a:ln w="12700">
            <a:solidFill>
              <a:srgbClr val="EFF3F7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68680" y="5623560"/>
            <a:ext cx="10424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화면의 예쁜 디자인보다 “무엇을 입력하고 → 시스템이 무엇을 처리하고 → 어떤 결과/화면으로 이어지는가”를 우선합니다.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82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정보시스템 캡스톤디자인 | 화면설계서·Storyboard Template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16459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화면구성도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18288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64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/ 전체 메뉴 구조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11480" y="621792"/>
            <a:ext cx="11338560" cy="27432"/>
          </a:xfrm>
          <a:prstGeom prst="rect">
            <a:avLst/>
          </a:prstGeom>
          <a:solidFill>
            <a:srgbClr val="4371A0"/>
          </a:solidFill>
          <a:ln w="12700">
            <a:solidFill>
              <a:srgbClr val="4371A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74980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사용자는 로그인한 사업체 운영자·서비스 운영자의 상위 Actor입니다. 로그인 → 메인 → 역할별 기능으로 이동합니다.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94360" y="1280160"/>
            <a:ext cx="3429000" cy="457200"/>
          </a:xfrm>
          <a:prstGeom prst="rect">
            <a:avLst/>
          </a:prstGeom>
          <a:solidFill>
            <a:srgbClr val="263E5C"/>
          </a:solidFill>
          <a:ln w="9525">
            <a:solidFill>
              <a:srgbClr val="263E5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1280160"/>
            <a:ext cx="342900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 (상위 Actor)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211580" y="1965960"/>
            <a:ext cx="2194560" cy="502920"/>
          </a:xfrm>
          <a:prstGeom prst="rect">
            <a:avLst/>
          </a:prstGeom>
          <a:solidFill>
            <a:srgbClr val="EFF3F7"/>
          </a:solidFill>
          <a:ln w="9525">
            <a:solidFill>
              <a:srgbClr val="B9C6D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211580" y="1965960"/>
            <a:ext cx="219456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 / 메인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SCR-C-001 → SCR-C-002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308860" y="1737360"/>
            <a:ext cx="914" cy="228600"/>
          </a:xfrm>
          <a:prstGeom prst="line">
            <a:avLst/>
          </a:prstGeom>
          <a:noFill/>
          <a:ln w="12700">
            <a:solidFill>
              <a:srgbClr val="A8B3B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4400" y="2468880"/>
            <a:ext cx="914" cy="868680"/>
          </a:xfrm>
          <a:prstGeom prst="line">
            <a:avLst/>
          </a:prstGeom>
          <a:noFill/>
          <a:ln w="12700">
            <a:solidFill>
              <a:srgbClr val="A8B3B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" y="2468880"/>
            <a:ext cx="297180" cy="914"/>
          </a:xfrm>
          <a:prstGeom prst="line">
            <a:avLst/>
          </a:prstGeom>
          <a:noFill/>
          <a:ln w="12700">
            <a:solidFill>
              <a:srgbClr val="A8B3B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4400" y="2880360"/>
            <a:ext cx="182880" cy="914"/>
          </a:xfrm>
          <a:prstGeom prst="line">
            <a:avLst/>
          </a:prstGeom>
          <a:noFill/>
          <a:ln w="12700">
            <a:solidFill>
              <a:srgbClr val="A8B3B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97280" y="2697480"/>
            <a:ext cx="274320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9AA7B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097280" y="2697480"/>
            <a:ext cx="2743200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지역 분석   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2880360" y="26974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371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SCR-C-003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914400" y="3337560"/>
            <a:ext cx="182880" cy="914"/>
          </a:xfrm>
          <a:prstGeom prst="line">
            <a:avLst/>
          </a:prstGeom>
          <a:noFill/>
          <a:ln w="12700">
            <a:solidFill>
              <a:srgbClr val="A8B3B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97280" y="3154680"/>
            <a:ext cx="274320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9AA7B5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097280" y="3154680"/>
            <a:ext cx="2743200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홍보 제안 조회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2880360" y="31546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371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SCR-C-004</a:t>
            </a:r>
            <a:endParaRPr lang="en-US" sz="750" dirty="0"/>
          </a:p>
        </p:txBody>
      </p:sp>
      <p:sp>
        <p:nvSpPr>
          <p:cNvPr id="25" name="Text 23"/>
          <p:cNvSpPr txBox="1"/>
          <p:nvPr/>
        </p:nvSpPr>
        <p:spPr>
          <a:xfrm>
            <a:off x="594360" y="5486400"/>
            <a:ext cx="3429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969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사업체·서비스 운영자의 공통 기능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969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 후 분석·제안 조회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343400" y="1280160"/>
            <a:ext cx="3429000" cy="457200"/>
          </a:xfrm>
          <a:prstGeom prst="rect">
            <a:avLst/>
          </a:prstGeom>
          <a:solidFill>
            <a:srgbClr val="263E5C"/>
          </a:solidFill>
          <a:ln w="9525">
            <a:solidFill>
              <a:srgbClr val="263E5C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343400" y="1280160"/>
            <a:ext cx="342900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사업체 운영자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960620" y="1965960"/>
            <a:ext cx="2194560" cy="502920"/>
          </a:xfrm>
          <a:prstGeom prst="rect">
            <a:avLst/>
          </a:prstGeom>
          <a:solidFill>
            <a:srgbClr val="EFF3F7"/>
          </a:solidFill>
          <a:ln w="9525">
            <a:solidFill>
              <a:srgbClr val="B9C6D4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960620" y="1965960"/>
            <a:ext cx="219456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 / 메인</a:t>
            </a:r>
            <a:endParaRPr lang="en-US" sz="10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4371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SCR-C-001 → SCR-C-002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057900" y="1737360"/>
            <a:ext cx="914" cy="228600"/>
          </a:xfrm>
          <a:prstGeom prst="line">
            <a:avLst/>
          </a:prstGeom>
          <a:noFill/>
          <a:ln w="12700">
            <a:solidFill>
              <a:srgbClr val="A8B3B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663440" y="2468880"/>
            <a:ext cx="914" cy="1783080"/>
          </a:xfrm>
          <a:prstGeom prst="line">
            <a:avLst/>
          </a:prstGeom>
          <a:noFill/>
          <a:ln w="12700">
            <a:solidFill>
              <a:srgbClr val="A8B3B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663440" y="2468880"/>
            <a:ext cx="297180" cy="914"/>
          </a:xfrm>
          <a:prstGeom prst="line">
            <a:avLst/>
          </a:prstGeom>
          <a:noFill/>
          <a:ln w="12700">
            <a:solidFill>
              <a:srgbClr val="A8B3B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663440" y="2880360"/>
            <a:ext cx="182880" cy="914"/>
          </a:xfrm>
          <a:prstGeom prst="line">
            <a:avLst/>
          </a:prstGeom>
          <a:noFill/>
          <a:ln w="12700">
            <a:solidFill>
              <a:srgbClr val="A8B3B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846320" y="2697480"/>
            <a:ext cx="274320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9AA7B5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4846320" y="2697480"/>
            <a:ext cx="2743200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지역 분석   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6629400" y="26974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371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SCR-C-003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4663440" y="3337560"/>
            <a:ext cx="182880" cy="914"/>
          </a:xfrm>
          <a:prstGeom prst="line">
            <a:avLst/>
          </a:prstGeom>
          <a:noFill/>
          <a:ln w="12700">
            <a:solidFill>
              <a:srgbClr val="A8B3B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846320" y="3154680"/>
            <a:ext cx="274320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9AA7B5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4846320" y="3154680"/>
            <a:ext cx="2743200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홍보 제안 조회</a:t>
            </a:r>
            <a:endParaRPr lang="en-US" sz="1000" dirty="0"/>
          </a:p>
        </p:txBody>
      </p:sp>
      <p:sp>
        <p:nvSpPr>
          <p:cNvPr id="40" name="Text 38"/>
          <p:cNvSpPr txBox="1"/>
          <p:nvPr/>
        </p:nvSpPr>
        <p:spPr>
          <a:xfrm>
            <a:off x="6629400" y="31546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371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SCR-C-004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4663440" y="3794760"/>
            <a:ext cx="182880" cy="914"/>
          </a:xfrm>
          <a:prstGeom prst="line">
            <a:avLst/>
          </a:prstGeom>
          <a:noFill/>
          <a:ln w="12700">
            <a:solidFill>
              <a:srgbClr val="A8B3B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846320" y="3611880"/>
            <a:ext cx="274320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9AA7B5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4846320" y="3611880"/>
            <a:ext cx="2743200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3개월 홍보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일정표 관리</a:t>
            </a:r>
            <a:endParaRPr lang="en-US" sz="1000" dirty="0"/>
          </a:p>
        </p:txBody>
      </p:sp>
      <p:sp>
        <p:nvSpPr>
          <p:cNvPr id="48" name="Text 46"/>
          <p:cNvSpPr txBox="1"/>
          <p:nvPr/>
        </p:nvSpPr>
        <p:spPr>
          <a:xfrm>
            <a:off x="6629400" y="36118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371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SCR-B-001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4663440" y="4251960"/>
            <a:ext cx="182880" cy="914"/>
          </a:xfrm>
          <a:prstGeom prst="line">
            <a:avLst/>
          </a:prstGeom>
          <a:noFill/>
          <a:ln w="12700">
            <a:solidFill>
              <a:srgbClr val="A8B3BF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846320" y="4069080"/>
            <a:ext cx="274320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9AA7B5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4846320" y="4069080"/>
            <a:ext cx="2743200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 기록 입력</a:t>
            </a:r>
            <a:endParaRPr lang="en-US" sz="1000" dirty="0"/>
          </a:p>
        </p:txBody>
      </p:sp>
      <p:sp>
        <p:nvSpPr>
          <p:cNvPr id="52" name="Text 50"/>
          <p:cNvSpPr txBox="1"/>
          <p:nvPr/>
        </p:nvSpPr>
        <p:spPr>
          <a:xfrm>
            <a:off x="6629400" y="40690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371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SCR-B-002</a:t>
            </a:r>
            <a:endParaRPr lang="en-US" sz="750" dirty="0"/>
          </a:p>
        </p:txBody>
      </p:sp>
      <p:sp>
        <p:nvSpPr>
          <p:cNvPr id="53" name="Text 51"/>
          <p:cNvSpPr txBox="1"/>
          <p:nvPr/>
        </p:nvSpPr>
        <p:spPr>
          <a:xfrm>
            <a:off x="4343400" y="5486400"/>
            <a:ext cx="3429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969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본인 사업체의 계획·기록 관리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969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공통 레이아웃·로그아웃: SCR-C-000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8092440" y="1280160"/>
            <a:ext cx="3429000" cy="457200"/>
          </a:xfrm>
          <a:prstGeom prst="rect">
            <a:avLst/>
          </a:prstGeom>
          <a:solidFill>
            <a:srgbClr val="263E5C"/>
          </a:solidFill>
          <a:ln w="9525">
            <a:solidFill>
              <a:srgbClr val="263E5C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8092440" y="1280160"/>
            <a:ext cx="342900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서비스 운영자</a:t>
            </a:r>
            <a:endParaRPr lang="en-US" sz="1300" dirty="0"/>
          </a:p>
        </p:txBody>
      </p:sp>
      <p:sp>
        <p:nvSpPr>
          <p:cNvPr id="56" name="Shape 54"/>
          <p:cNvSpPr/>
          <p:nvPr/>
        </p:nvSpPr>
        <p:spPr>
          <a:xfrm>
            <a:off x="8709660" y="1965960"/>
            <a:ext cx="2194560" cy="502920"/>
          </a:xfrm>
          <a:prstGeom prst="rect">
            <a:avLst/>
          </a:prstGeom>
          <a:solidFill>
            <a:srgbClr val="EFF3F7"/>
          </a:solidFill>
          <a:ln w="9525">
            <a:solidFill>
              <a:srgbClr val="B9C6D4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8709660" y="1965960"/>
            <a:ext cx="219456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 / 메인</a:t>
            </a:r>
            <a:endParaRPr lang="en-US" sz="10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4371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SCR-C-001 → SCR-C-002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9806940" y="1737360"/>
            <a:ext cx="914" cy="228600"/>
          </a:xfrm>
          <a:prstGeom prst="line">
            <a:avLst/>
          </a:prstGeom>
          <a:noFill/>
          <a:ln w="12700">
            <a:solidFill>
              <a:srgbClr val="A8B3BF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8412480" y="2468880"/>
            <a:ext cx="914" cy="2240280"/>
          </a:xfrm>
          <a:prstGeom prst="line">
            <a:avLst/>
          </a:prstGeom>
          <a:noFill/>
          <a:ln w="12700">
            <a:solidFill>
              <a:srgbClr val="A8B3BF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8412480" y="2468880"/>
            <a:ext cx="297180" cy="914"/>
          </a:xfrm>
          <a:prstGeom prst="line">
            <a:avLst/>
          </a:prstGeom>
          <a:noFill/>
          <a:ln w="12700">
            <a:solidFill>
              <a:srgbClr val="A8B3BF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8412480" y="2880360"/>
            <a:ext cx="182880" cy="914"/>
          </a:xfrm>
          <a:prstGeom prst="line">
            <a:avLst/>
          </a:prstGeom>
          <a:noFill/>
          <a:ln w="12700">
            <a:solidFill>
              <a:srgbClr val="A8B3BF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8595360" y="2697480"/>
            <a:ext cx="274320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9AA7B5"/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8595360" y="2697480"/>
            <a:ext cx="2743200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지역 분석   </a:t>
            </a:r>
            <a:endParaRPr lang="en-US" sz="1000" dirty="0"/>
          </a:p>
        </p:txBody>
      </p:sp>
      <p:sp>
        <p:nvSpPr>
          <p:cNvPr id="64" name="Text 62"/>
          <p:cNvSpPr txBox="1"/>
          <p:nvPr/>
        </p:nvSpPr>
        <p:spPr>
          <a:xfrm>
            <a:off x="10378440" y="26974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371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SCR-C-003</a:t>
            </a:r>
            <a:endParaRPr lang="en-US" sz="750" dirty="0"/>
          </a:p>
        </p:txBody>
      </p:sp>
      <p:sp>
        <p:nvSpPr>
          <p:cNvPr id="65" name="Shape 63"/>
          <p:cNvSpPr/>
          <p:nvPr/>
        </p:nvSpPr>
        <p:spPr>
          <a:xfrm>
            <a:off x="8412480" y="3337560"/>
            <a:ext cx="182880" cy="914"/>
          </a:xfrm>
          <a:prstGeom prst="line">
            <a:avLst/>
          </a:prstGeom>
          <a:noFill/>
          <a:ln w="12700">
            <a:solidFill>
              <a:srgbClr val="A8B3BF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8595360" y="3154680"/>
            <a:ext cx="274320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9AA7B5"/>
            </a:solidFill>
            <a:prstDash val="solid"/>
          </a:ln>
        </p:spPr>
      </p:sp>
      <p:sp>
        <p:nvSpPr>
          <p:cNvPr id="67" name="Text 65"/>
          <p:cNvSpPr txBox="1"/>
          <p:nvPr/>
        </p:nvSpPr>
        <p:spPr>
          <a:xfrm>
            <a:off x="8595360" y="3154680"/>
            <a:ext cx="2743200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홍보 제안 조회</a:t>
            </a:r>
            <a:endParaRPr lang="en-US" sz="1000" dirty="0"/>
          </a:p>
        </p:txBody>
      </p:sp>
      <p:sp>
        <p:nvSpPr>
          <p:cNvPr id="68" name="Text 66"/>
          <p:cNvSpPr txBox="1"/>
          <p:nvPr/>
        </p:nvSpPr>
        <p:spPr>
          <a:xfrm>
            <a:off x="10378440" y="31546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371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SCR-C-004</a:t>
            </a:r>
            <a:endParaRPr lang="en-US" sz="750" dirty="0"/>
          </a:p>
        </p:txBody>
      </p:sp>
      <p:sp>
        <p:nvSpPr>
          <p:cNvPr id="73" name="Shape 71"/>
          <p:cNvSpPr/>
          <p:nvPr/>
        </p:nvSpPr>
        <p:spPr>
          <a:xfrm>
            <a:off x="8412480" y="3794760"/>
            <a:ext cx="182880" cy="914"/>
          </a:xfrm>
          <a:prstGeom prst="line">
            <a:avLst/>
          </a:prstGeom>
          <a:noFill/>
          <a:ln w="12700">
            <a:solidFill>
              <a:srgbClr val="A8B3BF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8595360" y="3611880"/>
            <a:ext cx="274320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9AA7B5"/>
            </a:solidFill>
            <a:prstDash val="solid"/>
          </a:ln>
        </p:spPr>
      </p:sp>
      <p:sp>
        <p:nvSpPr>
          <p:cNvPr id="75" name="Text 73"/>
          <p:cNvSpPr txBox="1"/>
          <p:nvPr/>
        </p:nvSpPr>
        <p:spPr>
          <a:xfrm>
            <a:off x="8595360" y="3611880"/>
            <a:ext cx="2743200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3개월 홍보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일정표 관리</a:t>
            </a:r>
            <a:endParaRPr lang="en-US" sz="1000" dirty="0"/>
          </a:p>
        </p:txBody>
      </p:sp>
      <p:sp>
        <p:nvSpPr>
          <p:cNvPr id="76" name="Text 74"/>
          <p:cNvSpPr txBox="1"/>
          <p:nvPr/>
        </p:nvSpPr>
        <p:spPr>
          <a:xfrm>
            <a:off x="10378440" y="36118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371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SCR-B-001</a:t>
            </a:r>
            <a:endParaRPr lang="en-US" sz="750" dirty="0"/>
          </a:p>
        </p:txBody>
      </p:sp>
      <p:sp>
        <p:nvSpPr>
          <p:cNvPr id="77" name="Shape 75"/>
          <p:cNvSpPr/>
          <p:nvPr/>
        </p:nvSpPr>
        <p:spPr>
          <a:xfrm>
            <a:off x="8412480" y="4251960"/>
            <a:ext cx="182880" cy="914"/>
          </a:xfrm>
          <a:prstGeom prst="line">
            <a:avLst/>
          </a:prstGeom>
          <a:noFill/>
          <a:ln w="12700">
            <a:solidFill>
              <a:srgbClr val="A8B3BF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8595360" y="4069080"/>
            <a:ext cx="274320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9AA7B5"/>
            </a:solidFill>
            <a:prstDash val="solid"/>
          </a:ln>
        </p:spPr>
      </p:sp>
      <p:sp>
        <p:nvSpPr>
          <p:cNvPr id="79" name="Text 77"/>
          <p:cNvSpPr txBox="1"/>
          <p:nvPr/>
        </p:nvSpPr>
        <p:spPr>
          <a:xfrm>
            <a:off x="8595360" y="4069080"/>
            <a:ext cx="2743200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 기록 입력</a:t>
            </a:r>
            <a:endParaRPr lang="en-US" sz="1000" dirty="0"/>
          </a:p>
        </p:txBody>
      </p:sp>
      <p:sp>
        <p:nvSpPr>
          <p:cNvPr id="80" name="Text 78"/>
          <p:cNvSpPr txBox="1"/>
          <p:nvPr/>
        </p:nvSpPr>
        <p:spPr>
          <a:xfrm>
            <a:off x="10378440" y="40690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371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SCR-B-002</a:t>
            </a:r>
            <a:endParaRPr lang="en-US" sz="750" dirty="0"/>
          </a:p>
        </p:txBody>
      </p:sp>
      <p:sp>
        <p:nvSpPr>
          <p:cNvPr id="81" name="Shape 79"/>
          <p:cNvSpPr/>
          <p:nvPr/>
        </p:nvSpPr>
        <p:spPr>
          <a:xfrm>
            <a:off x="8412480" y="4709160"/>
            <a:ext cx="182880" cy="914"/>
          </a:xfrm>
          <a:prstGeom prst="line">
            <a:avLst/>
          </a:prstGeom>
          <a:noFill/>
          <a:ln w="12700">
            <a:solidFill>
              <a:srgbClr val="A8B3BF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8595360" y="4526280"/>
            <a:ext cx="274320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9AA7B5"/>
            </a:solidFill>
            <a:prstDash val="solid"/>
          </a:ln>
        </p:spPr>
      </p:sp>
      <p:sp>
        <p:nvSpPr>
          <p:cNvPr id="83" name="Text 81"/>
          <p:cNvSpPr txBox="1"/>
          <p:nvPr/>
        </p:nvSpPr>
        <p:spPr>
          <a:xfrm>
            <a:off x="8595360" y="4526280"/>
            <a:ext cx="2743200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자료·기준 관리   </a:t>
            </a:r>
            <a:endParaRPr lang="en-US" sz="1000" dirty="0"/>
          </a:p>
        </p:txBody>
      </p:sp>
      <p:sp>
        <p:nvSpPr>
          <p:cNvPr id="84" name="Text 82"/>
          <p:cNvSpPr txBox="1"/>
          <p:nvPr/>
        </p:nvSpPr>
        <p:spPr>
          <a:xfrm>
            <a:off x="10378440" y="45262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371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SCR-A-001</a:t>
            </a:r>
            <a:endParaRPr lang="en-US" sz="750" dirty="0"/>
          </a:p>
        </p:txBody>
      </p:sp>
      <p:sp>
        <p:nvSpPr>
          <p:cNvPr id="85" name="Text 83"/>
          <p:cNvSpPr txBox="1"/>
          <p:nvPr/>
        </p:nvSpPr>
        <p:spPr>
          <a:xfrm>
            <a:off x="8092440" y="5486400"/>
            <a:ext cx="3429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969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 등록·검증과 추천 기준 관리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969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권한을 받은 사업체의 계획·기록만 처리</a:t>
            </a:r>
            <a:endParaRPr lang="en-US" sz="950" dirty="0"/>
          </a:p>
        </p:txBody>
      </p:sp>
      <p:sp>
        <p:nvSpPr>
          <p:cNvPr id="86" name="Text 84"/>
          <p:cNvSpPr txBox="1"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82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정보시스템 캡스톤디자인 | 화면설계서·Storyboard Template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16459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화면구성도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18288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64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/ 상세 구조 · 사업체 운영자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11480" y="621792"/>
            <a:ext cx="11338560" cy="27432"/>
          </a:xfrm>
          <a:prstGeom prst="rect">
            <a:avLst/>
          </a:prstGeom>
          <a:solidFill>
            <a:srgbClr val="4371A0"/>
          </a:solidFill>
          <a:ln w="12700">
            <a:solidFill>
              <a:srgbClr val="4371A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74980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사업체 운영자 메뉴별 하위 화면(팝업·패널·상태)입니다. 각 메뉴는 사이드바에서 직접 진입할 수 있습니다.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814316" y="1234440"/>
            <a:ext cx="2560320" cy="457200"/>
          </a:xfrm>
          <a:prstGeom prst="rect">
            <a:avLst/>
          </a:prstGeom>
          <a:solidFill>
            <a:srgbClr val="263E5C"/>
          </a:solidFill>
          <a:ln w="9525">
            <a:solidFill>
              <a:srgbClr val="263E5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14316" y="1234440"/>
            <a:ext cx="256032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</a:t>
            </a:r>
            <a:endParaRPr lang="en-US" sz="130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D7DE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SCR-C-001 · 입력 오류 상태 포함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094476" y="1691640"/>
            <a:ext cx="914" cy="182880"/>
          </a:xfrm>
          <a:prstGeom prst="line">
            <a:avLst/>
          </a:prstGeom>
          <a:noFill/>
          <a:ln w="12700">
            <a:solidFill>
              <a:srgbClr val="A8B3B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14316" y="1874520"/>
            <a:ext cx="2560320" cy="457200"/>
          </a:xfrm>
          <a:prstGeom prst="rect">
            <a:avLst/>
          </a:prstGeom>
          <a:solidFill>
            <a:srgbClr val="EFF3F7"/>
          </a:solidFill>
          <a:ln w="9525">
            <a:solidFill>
              <a:srgbClr val="B9C6D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14316" y="1874520"/>
            <a:ext cx="256032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메인(한눈에 보기)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SCR-C-002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923276" y="1874520"/>
            <a:ext cx="2651760" cy="457200"/>
          </a:xfrm>
          <a:prstGeom prst="rect">
            <a:avLst/>
          </a:prstGeom>
          <a:solidFill>
            <a:srgbClr val="F7F9FB"/>
          </a:solidFill>
          <a:ln w="9525">
            <a:solidFill>
              <a:srgbClr val="C9D3D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923276" y="1874520"/>
            <a:ext cx="265176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공통 레이아웃 · 로그아웃</a:t>
            </a:r>
            <a:endParaRPr lang="en-US" sz="8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4371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SCR-C-000 · 모든 화면 공통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7374636" y="2103120"/>
            <a:ext cx="548640" cy="914"/>
          </a:xfrm>
          <a:prstGeom prst="line">
            <a:avLst/>
          </a:prstGeom>
          <a:noFill/>
          <a:ln w="12700">
            <a:solidFill>
              <a:srgbClr val="A8B3B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094476" y="2331720"/>
            <a:ext cx="914" cy="228600"/>
          </a:xfrm>
          <a:prstGeom prst="line">
            <a:avLst/>
          </a:prstGeom>
          <a:noFill/>
          <a:ln w="12700">
            <a:solidFill>
              <a:srgbClr val="A8B3B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559052" y="2560320"/>
            <a:ext cx="9070848" cy="914"/>
          </a:xfrm>
          <a:prstGeom prst="line">
            <a:avLst/>
          </a:prstGeom>
          <a:noFill/>
          <a:ln w="12700">
            <a:solidFill>
              <a:srgbClr val="A8B3B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559052" y="2560320"/>
            <a:ext cx="914" cy="182880"/>
          </a:xfrm>
          <a:prstGeom prst="line">
            <a:avLst/>
          </a:prstGeom>
          <a:noFill/>
          <a:ln w="12700">
            <a:solidFill>
              <a:srgbClr val="A8B3B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16636" y="2743200"/>
            <a:ext cx="2084832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9AA7B5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16636" y="2743200"/>
            <a:ext cx="2084832" cy="5303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지역 분석</a:t>
            </a:r>
            <a:endParaRPr lang="en-US" sz="100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4371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SCR-C-003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26364" y="3273552"/>
            <a:ext cx="914" cy="1490472"/>
          </a:xfrm>
          <a:prstGeom prst="line">
            <a:avLst/>
          </a:prstGeom>
          <a:noFill/>
          <a:ln w="12700">
            <a:solidFill>
              <a:srgbClr val="A8B3B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6364" y="3666744"/>
            <a:ext cx="91440" cy="914"/>
          </a:xfrm>
          <a:prstGeom prst="line">
            <a:avLst/>
          </a:prstGeom>
          <a:noFill/>
          <a:ln w="12700">
            <a:solidFill>
              <a:srgbClr val="A8B3B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17804" y="3438144"/>
            <a:ext cx="1883664" cy="457200"/>
          </a:xfrm>
          <a:prstGeom prst="rect">
            <a:avLst/>
          </a:prstGeom>
          <a:solidFill>
            <a:srgbClr val="F7F9FB"/>
          </a:solidFill>
          <a:ln w="9525">
            <a:solidFill>
              <a:srgbClr val="C9D3D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17804" y="3438144"/>
            <a:ext cx="1883664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방문·계절 비교 탭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26364" y="4215384"/>
            <a:ext cx="91440" cy="914"/>
          </a:xfrm>
          <a:prstGeom prst="line">
            <a:avLst/>
          </a:prstGeom>
          <a:noFill/>
          <a:ln w="12700">
            <a:solidFill>
              <a:srgbClr val="A8B3B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17804" y="3986784"/>
            <a:ext cx="1883664" cy="457200"/>
          </a:xfrm>
          <a:prstGeom prst="rect">
            <a:avLst/>
          </a:prstGeom>
          <a:solidFill>
            <a:srgbClr val="F7F9FB"/>
          </a:solidFill>
          <a:ln w="9525">
            <a:solidFill>
              <a:srgbClr val="C9D3DE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17804" y="3986784"/>
            <a:ext cx="1883664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소비 비교 탭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626364" y="4764024"/>
            <a:ext cx="91440" cy="914"/>
          </a:xfrm>
          <a:prstGeom prst="line">
            <a:avLst/>
          </a:prstGeom>
          <a:noFill/>
          <a:ln w="12700">
            <a:solidFill>
              <a:srgbClr val="A8B3B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17804" y="4535424"/>
            <a:ext cx="1883664" cy="457200"/>
          </a:xfrm>
          <a:prstGeom prst="rect">
            <a:avLst/>
          </a:prstGeom>
          <a:solidFill>
            <a:srgbClr val="F7F9FB"/>
          </a:solidFill>
          <a:ln w="9525">
            <a:solidFill>
              <a:srgbClr val="C9D3DE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17804" y="4535424"/>
            <a:ext cx="1883664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 없음 상태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582668" y="2560320"/>
            <a:ext cx="914" cy="182880"/>
          </a:xfrm>
          <a:prstGeom prst="line">
            <a:avLst/>
          </a:prstGeom>
          <a:noFill/>
          <a:ln w="12700">
            <a:solidFill>
              <a:srgbClr val="A8B3B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540252" y="2743200"/>
            <a:ext cx="2084832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9AA7B5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3540252" y="2743200"/>
            <a:ext cx="2084832" cy="5303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홍보 제안 조회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SCR-C-004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649980" y="3273552"/>
            <a:ext cx="914" cy="393192"/>
          </a:xfrm>
          <a:prstGeom prst="line">
            <a:avLst/>
          </a:prstGeom>
          <a:noFill/>
          <a:ln w="12700">
            <a:solidFill>
              <a:srgbClr val="A8B3B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649980" y="3666744"/>
            <a:ext cx="91440" cy="914"/>
          </a:xfrm>
          <a:prstGeom prst="line">
            <a:avLst/>
          </a:prstGeom>
          <a:noFill/>
          <a:ln w="12700">
            <a:solidFill>
              <a:srgbClr val="A8B3B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741420" y="3438144"/>
            <a:ext cx="1883664" cy="457200"/>
          </a:xfrm>
          <a:prstGeom prst="rect">
            <a:avLst/>
          </a:prstGeom>
          <a:solidFill>
            <a:srgbClr val="F7F9FB"/>
          </a:solidFill>
          <a:ln w="9525">
            <a:solidFill>
              <a:srgbClr val="C9D3DE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3741420" y="3438144"/>
            <a:ext cx="1883664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추천 근거 상세</a:t>
            </a:r>
            <a:endParaRPr lang="en-US" sz="8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4371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SCR-C-004-P01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7606284" y="2560320"/>
            <a:ext cx="914" cy="182880"/>
          </a:xfrm>
          <a:prstGeom prst="line">
            <a:avLst/>
          </a:prstGeom>
          <a:noFill/>
          <a:ln w="12700">
            <a:solidFill>
              <a:srgbClr val="A8B3B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563868" y="2743200"/>
            <a:ext cx="2084832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9AA7B5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6563868" y="2743200"/>
            <a:ext cx="2084832" cy="5303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3개월 홍보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일정표 관리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SCR-B-001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673596" y="3273552"/>
            <a:ext cx="914" cy="941832"/>
          </a:xfrm>
          <a:prstGeom prst="line">
            <a:avLst/>
          </a:prstGeom>
          <a:noFill/>
          <a:ln w="12700">
            <a:solidFill>
              <a:srgbClr val="A8B3B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673596" y="3666744"/>
            <a:ext cx="91440" cy="914"/>
          </a:xfrm>
          <a:prstGeom prst="line">
            <a:avLst/>
          </a:prstGeom>
          <a:noFill/>
          <a:ln w="12700">
            <a:solidFill>
              <a:srgbClr val="A8B3B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765036" y="3438144"/>
            <a:ext cx="1883664" cy="457200"/>
          </a:xfrm>
          <a:prstGeom prst="rect">
            <a:avLst/>
          </a:prstGeom>
          <a:solidFill>
            <a:srgbClr val="F7F9FB"/>
          </a:solidFill>
          <a:ln w="9525">
            <a:solidFill>
              <a:srgbClr val="C9D3DE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6765036" y="3438144"/>
            <a:ext cx="1883664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계획 작성·수정</a:t>
            </a:r>
            <a:endParaRPr lang="en-US" sz="8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4371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SCR-B-001-P01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6673596" y="4215384"/>
            <a:ext cx="91440" cy="914"/>
          </a:xfrm>
          <a:prstGeom prst="line">
            <a:avLst/>
          </a:prstGeom>
          <a:noFill/>
          <a:ln w="12700">
            <a:solidFill>
              <a:srgbClr val="A8B3BF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765036" y="3986784"/>
            <a:ext cx="1883664" cy="457200"/>
          </a:xfrm>
          <a:prstGeom prst="rect">
            <a:avLst/>
          </a:prstGeom>
          <a:solidFill>
            <a:srgbClr val="F7F9FB"/>
          </a:solidFill>
          <a:ln w="9525">
            <a:solidFill>
              <a:srgbClr val="C9D3DE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6765036" y="3986784"/>
            <a:ext cx="1883664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 실패 상태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10629900" y="2560320"/>
            <a:ext cx="914" cy="182880"/>
          </a:xfrm>
          <a:prstGeom prst="line">
            <a:avLst/>
          </a:prstGeom>
          <a:noFill/>
          <a:ln w="12700">
            <a:solidFill>
              <a:srgbClr val="A8B3BF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9587484" y="2743200"/>
            <a:ext cx="2084832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9AA7B5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9587484" y="2743200"/>
            <a:ext cx="2084832" cy="5303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 기록 입력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SCR-B-002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9697212" y="3273552"/>
            <a:ext cx="914" cy="941832"/>
          </a:xfrm>
          <a:prstGeom prst="line">
            <a:avLst/>
          </a:prstGeom>
          <a:noFill/>
          <a:ln w="12700">
            <a:solidFill>
              <a:srgbClr val="A8B3BF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9697212" y="3666744"/>
            <a:ext cx="91440" cy="914"/>
          </a:xfrm>
          <a:prstGeom prst="line">
            <a:avLst/>
          </a:prstGeom>
          <a:noFill/>
          <a:ln w="12700">
            <a:solidFill>
              <a:srgbClr val="A8B3BF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9788652" y="3438144"/>
            <a:ext cx="1883664" cy="457200"/>
          </a:xfrm>
          <a:prstGeom prst="rect">
            <a:avLst/>
          </a:prstGeom>
          <a:solidFill>
            <a:srgbClr val="F7F9FB"/>
          </a:solidFill>
          <a:ln w="9525">
            <a:solidFill>
              <a:srgbClr val="C9D3DE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9788652" y="3438144"/>
            <a:ext cx="1883664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기록 입력·수정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SCR-B-002-P01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9697212" y="4215384"/>
            <a:ext cx="91440" cy="914"/>
          </a:xfrm>
          <a:prstGeom prst="line">
            <a:avLst/>
          </a:prstGeom>
          <a:noFill/>
          <a:ln w="12700">
            <a:solidFill>
              <a:srgbClr val="A8B3BF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9788652" y="3986784"/>
            <a:ext cx="1883664" cy="457200"/>
          </a:xfrm>
          <a:prstGeom prst="rect">
            <a:avLst/>
          </a:prstGeom>
          <a:solidFill>
            <a:srgbClr val="F7F9FB"/>
          </a:solidFill>
          <a:ln w="9525">
            <a:solidFill>
              <a:srgbClr val="C9D3DE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9788652" y="3986784"/>
            <a:ext cx="1883664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 결과 요약</a:t>
            </a:r>
            <a:endParaRPr lang="en-US" sz="8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4371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SCR-B-002-P02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516636" y="5532120"/>
            <a:ext cx="11155680" cy="530352"/>
          </a:xfrm>
          <a:prstGeom prst="rect">
            <a:avLst/>
          </a:prstGeom>
          <a:solidFill>
            <a:srgbClr val="EFF3F7"/>
          </a:solidFill>
          <a:ln w="12700">
            <a:solidFill>
              <a:srgbClr val="EFF3F7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685800" y="5532120"/>
            <a:ext cx="10881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홍보 제안 조회·추천 근거 → 일정에 담기 → SCR-B-001-P01  |  일정 카드 → 기록 입력 → SCR-B-002-P01</a:t>
            </a:r>
            <a:endParaRPr lang="en-US" sz="1050" dirty="0"/>
          </a:p>
        </p:txBody>
      </p:sp>
      <p:sp>
        <p:nvSpPr>
          <p:cNvPr id="61" name="Text 59"/>
          <p:cNvSpPr txBox="1"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82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정보시스템 캡스톤디자인 | 화면설계서·Storyboard Template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16459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화면구성도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18288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64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/ 상세 구조 · 서비스 운영자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11480" y="621792"/>
            <a:ext cx="11338560" cy="27432"/>
          </a:xfrm>
          <a:prstGeom prst="rect">
            <a:avLst/>
          </a:prstGeom>
          <a:solidFill>
            <a:srgbClr val="4371A0"/>
          </a:solidFill>
          <a:ln w="12700">
            <a:solidFill>
              <a:srgbClr val="4371A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74980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서비스 운영자는 자료·기준을 관리하며, 권한을 받은 사업체의 일정·기록에만 접근합니다.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814316" y="1234440"/>
            <a:ext cx="2560320" cy="457200"/>
          </a:xfrm>
          <a:prstGeom prst="rect">
            <a:avLst/>
          </a:prstGeom>
          <a:solidFill>
            <a:srgbClr val="263E5C"/>
          </a:solidFill>
          <a:ln w="9525">
            <a:solidFill>
              <a:srgbClr val="263E5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14316" y="1234440"/>
            <a:ext cx="256032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</a:t>
            </a:r>
            <a:endParaRPr lang="en-US" sz="130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D7DE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SCR-C-001 · 입력 오류 상태 포함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094476" y="1691640"/>
            <a:ext cx="914" cy="182880"/>
          </a:xfrm>
          <a:prstGeom prst="line">
            <a:avLst/>
          </a:prstGeom>
          <a:noFill/>
          <a:ln w="12700">
            <a:solidFill>
              <a:srgbClr val="A8B3B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14316" y="1874520"/>
            <a:ext cx="2560320" cy="457200"/>
          </a:xfrm>
          <a:prstGeom prst="rect">
            <a:avLst/>
          </a:prstGeom>
          <a:solidFill>
            <a:srgbClr val="EFF3F7"/>
          </a:solidFill>
          <a:ln w="9525">
            <a:solidFill>
              <a:srgbClr val="B9C6D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14316" y="1874520"/>
            <a:ext cx="256032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메인(한눈에 보기)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SCR-C-002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923276" y="1874520"/>
            <a:ext cx="2651760" cy="457200"/>
          </a:xfrm>
          <a:prstGeom prst="rect">
            <a:avLst/>
          </a:prstGeom>
          <a:solidFill>
            <a:srgbClr val="F7F9FB"/>
          </a:solidFill>
          <a:ln w="9525">
            <a:solidFill>
              <a:srgbClr val="C9D3D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923276" y="1874520"/>
            <a:ext cx="265176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공통 레이아웃 · 로그아웃</a:t>
            </a:r>
            <a:endParaRPr lang="en-US" sz="8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4371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SCR-C-000 · 모든 화면 공통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7374636" y="2103120"/>
            <a:ext cx="548640" cy="914"/>
          </a:xfrm>
          <a:prstGeom prst="line">
            <a:avLst/>
          </a:prstGeom>
          <a:noFill/>
          <a:ln w="12700">
            <a:solidFill>
              <a:srgbClr val="A8B3B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094476" y="2331720"/>
            <a:ext cx="914" cy="228600"/>
          </a:xfrm>
          <a:prstGeom prst="line">
            <a:avLst/>
          </a:prstGeom>
          <a:noFill/>
          <a:ln w="12700">
            <a:solidFill>
              <a:srgbClr val="A8B3B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370076" y="2560320"/>
            <a:ext cx="9448800" cy="914"/>
          </a:xfrm>
          <a:prstGeom prst="line">
            <a:avLst/>
          </a:prstGeom>
          <a:noFill/>
          <a:ln w="12700">
            <a:solidFill>
              <a:srgbClr val="A8B3B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370076" y="2560320"/>
            <a:ext cx="914" cy="182880"/>
          </a:xfrm>
          <a:prstGeom prst="line">
            <a:avLst/>
          </a:prstGeom>
          <a:noFill/>
          <a:ln w="12700">
            <a:solidFill>
              <a:srgbClr val="A8B3B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16636" y="2743200"/>
            <a:ext cx="170688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9AA7B5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16636" y="2743200"/>
            <a:ext cx="1706880" cy="5303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지역 분석</a:t>
            </a:r>
            <a:endParaRPr lang="en-US" sz="100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4371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SCR-C-003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26364" y="3273552"/>
            <a:ext cx="914" cy="1490472"/>
          </a:xfrm>
          <a:prstGeom prst="line">
            <a:avLst/>
          </a:prstGeom>
          <a:noFill/>
          <a:ln w="12700">
            <a:solidFill>
              <a:srgbClr val="A8B3B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6364" y="3666744"/>
            <a:ext cx="91440" cy="914"/>
          </a:xfrm>
          <a:prstGeom prst="line">
            <a:avLst/>
          </a:prstGeom>
          <a:noFill/>
          <a:ln w="12700">
            <a:solidFill>
              <a:srgbClr val="A8B3B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17804" y="3438144"/>
            <a:ext cx="1505712" cy="457200"/>
          </a:xfrm>
          <a:prstGeom prst="rect">
            <a:avLst/>
          </a:prstGeom>
          <a:solidFill>
            <a:srgbClr val="F7F9FB"/>
          </a:solidFill>
          <a:ln w="9525">
            <a:solidFill>
              <a:srgbClr val="C9D3D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17804" y="3438144"/>
            <a:ext cx="1505712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방문·계절 비교 탭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26364" y="4215384"/>
            <a:ext cx="91440" cy="914"/>
          </a:xfrm>
          <a:prstGeom prst="line">
            <a:avLst/>
          </a:prstGeom>
          <a:noFill/>
          <a:ln w="12700">
            <a:solidFill>
              <a:srgbClr val="A8B3B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17804" y="3986784"/>
            <a:ext cx="1505712" cy="457200"/>
          </a:xfrm>
          <a:prstGeom prst="rect">
            <a:avLst/>
          </a:prstGeom>
          <a:solidFill>
            <a:srgbClr val="F7F9FB"/>
          </a:solidFill>
          <a:ln w="9525">
            <a:solidFill>
              <a:srgbClr val="C9D3DE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17804" y="3986784"/>
            <a:ext cx="1505712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소비 비교 탭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626364" y="4764024"/>
            <a:ext cx="91440" cy="914"/>
          </a:xfrm>
          <a:prstGeom prst="line">
            <a:avLst/>
          </a:prstGeom>
          <a:noFill/>
          <a:ln w="12700">
            <a:solidFill>
              <a:srgbClr val="A8B3B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17804" y="4535424"/>
            <a:ext cx="1505712" cy="457200"/>
          </a:xfrm>
          <a:prstGeom prst="rect">
            <a:avLst/>
          </a:prstGeom>
          <a:solidFill>
            <a:srgbClr val="F7F9FB"/>
          </a:solidFill>
          <a:ln w="9525">
            <a:solidFill>
              <a:srgbClr val="C9D3DE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17804" y="4535424"/>
            <a:ext cx="1505712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 없음 상태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732276" y="2560320"/>
            <a:ext cx="914" cy="182880"/>
          </a:xfrm>
          <a:prstGeom prst="line">
            <a:avLst/>
          </a:prstGeom>
          <a:noFill/>
          <a:ln w="12700">
            <a:solidFill>
              <a:srgbClr val="A8B3B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878836" y="2743200"/>
            <a:ext cx="170688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9AA7B5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2878836" y="2743200"/>
            <a:ext cx="1706880" cy="5303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홍보 제안 조회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SCR-C-004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988564" y="3273552"/>
            <a:ext cx="914" cy="393192"/>
          </a:xfrm>
          <a:prstGeom prst="line">
            <a:avLst/>
          </a:prstGeom>
          <a:noFill/>
          <a:ln w="12700">
            <a:solidFill>
              <a:srgbClr val="A8B3B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988564" y="3666744"/>
            <a:ext cx="91440" cy="914"/>
          </a:xfrm>
          <a:prstGeom prst="line">
            <a:avLst/>
          </a:prstGeom>
          <a:noFill/>
          <a:ln w="12700">
            <a:solidFill>
              <a:srgbClr val="A8B3B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080004" y="3438144"/>
            <a:ext cx="1505712" cy="457200"/>
          </a:xfrm>
          <a:prstGeom prst="rect">
            <a:avLst/>
          </a:prstGeom>
          <a:solidFill>
            <a:srgbClr val="F7F9FB"/>
          </a:solidFill>
          <a:ln w="9525">
            <a:solidFill>
              <a:srgbClr val="C9D3DE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3080004" y="3438144"/>
            <a:ext cx="1505712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추천 근거 상세</a:t>
            </a:r>
            <a:endParaRPr lang="en-US" sz="8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4371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SCR-C-004-P01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6094476" y="2560320"/>
            <a:ext cx="914" cy="182880"/>
          </a:xfrm>
          <a:prstGeom prst="line">
            <a:avLst/>
          </a:prstGeom>
          <a:noFill/>
          <a:ln w="12700">
            <a:solidFill>
              <a:srgbClr val="A8B3B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241036" y="2743200"/>
            <a:ext cx="170688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9AA7B5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5241036" y="2743200"/>
            <a:ext cx="1706880" cy="5303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3개월 홍보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일정표 관리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SCR-B-001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5350764" y="3273552"/>
            <a:ext cx="914" cy="941832"/>
          </a:xfrm>
          <a:prstGeom prst="line">
            <a:avLst/>
          </a:prstGeom>
          <a:noFill/>
          <a:ln w="12700">
            <a:solidFill>
              <a:srgbClr val="A8B3B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350764" y="3666744"/>
            <a:ext cx="91440" cy="914"/>
          </a:xfrm>
          <a:prstGeom prst="line">
            <a:avLst/>
          </a:prstGeom>
          <a:noFill/>
          <a:ln w="12700">
            <a:solidFill>
              <a:srgbClr val="A8B3B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442204" y="3438144"/>
            <a:ext cx="1505712" cy="457200"/>
          </a:xfrm>
          <a:prstGeom prst="rect">
            <a:avLst/>
          </a:prstGeom>
          <a:solidFill>
            <a:srgbClr val="F7F9FB"/>
          </a:solidFill>
          <a:ln w="9525">
            <a:solidFill>
              <a:srgbClr val="C9D3DE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5442204" y="3438144"/>
            <a:ext cx="1505712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계획 작성·수정</a:t>
            </a:r>
            <a:endParaRPr lang="en-US" sz="8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4371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SCR-B-001-P01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5350764" y="4215384"/>
            <a:ext cx="91440" cy="914"/>
          </a:xfrm>
          <a:prstGeom prst="line">
            <a:avLst/>
          </a:prstGeom>
          <a:noFill/>
          <a:ln w="12700">
            <a:solidFill>
              <a:srgbClr val="A8B3BF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442204" y="3986784"/>
            <a:ext cx="1505712" cy="457200"/>
          </a:xfrm>
          <a:prstGeom prst="rect">
            <a:avLst/>
          </a:prstGeom>
          <a:solidFill>
            <a:srgbClr val="F7F9FB"/>
          </a:solidFill>
          <a:ln w="9525">
            <a:solidFill>
              <a:srgbClr val="C9D3DE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5442204" y="3986784"/>
            <a:ext cx="1505712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 실패 상태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8456676" y="2560320"/>
            <a:ext cx="914" cy="182880"/>
          </a:xfrm>
          <a:prstGeom prst="line">
            <a:avLst/>
          </a:prstGeom>
          <a:noFill/>
          <a:ln w="12700">
            <a:solidFill>
              <a:srgbClr val="A8B3BF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603236" y="2743200"/>
            <a:ext cx="170688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9AA7B5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7603236" y="2743200"/>
            <a:ext cx="1706880" cy="5303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 기록 입력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SCR-B-002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7712964" y="3273552"/>
            <a:ext cx="914" cy="941832"/>
          </a:xfrm>
          <a:prstGeom prst="line">
            <a:avLst/>
          </a:prstGeom>
          <a:noFill/>
          <a:ln w="12700">
            <a:solidFill>
              <a:srgbClr val="A8B3BF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7712964" y="3666744"/>
            <a:ext cx="91440" cy="914"/>
          </a:xfrm>
          <a:prstGeom prst="line">
            <a:avLst/>
          </a:prstGeom>
          <a:noFill/>
          <a:ln w="12700">
            <a:solidFill>
              <a:srgbClr val="A8B3BF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804404" y="3438144"/>
            <a:ext cx="1505712" cy="457200"/>
          </a:xfrm>
          <a:prstGeom prst="rect">
            <a:avLst/>
          </a:prstGeom>
          <a:solidFill>
            <a:srgbClr val="F7F9FB"/>
          </a:solidFill>
          <a:ln w="9525">
            <a:solidFill>
              <a:srgbClr val="C9D3DE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7804404" y="3438144"/>
            <a:ext cx="1505712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기록 입력·수정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SCR-B-002-P01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7712964" y="4215384"/>
            <a:ext cx="91440" cy="914"/>
          </a:xfrm>
          <a:prstGeom prst="line">
            <a:avLst/>
          </a:prstGeom>
          <a:noFill/>
          <a:ln w="12700">
            <a:solidFill>
              <a:srgbClr val="A8B3BF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7804404" y="3986784"/>
            <a:ext cx="1505712" cy="457200"/>
          </a:xfrm>
          <a:prstGeom prst="rect">
            <a:avLst/>
          </a:prstGeom>
          <a:solidFill>
            <a:srgbClr val="F7F9FB"/>
          </a:solidFill>
          <a:ln w="9525">
            <a:solidFill>
              <a:srgbClr val="C9D3DE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7804404" y="3986784"/>
            <a:ext cx="1505712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 결과 요약</a:t>
            </a:r>
            <a:endParaRPr lang="en-US" sz="8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4371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SCR-B-002-P02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10818876" y="2560320"/>
            <a:ext cx="914" cy="182880"/>
          </a:xfrm>
          <a:prstGeom prst="line">
            <a:avLst/>
          </a:prstGeom>
          <a:noFill/>
          <a:ln w="12700">
            <a:solidFill>
              <a:srgbClr val="A8B3BF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9965436" y="2743200"/>
            <a:ext cx="170688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9AA7B5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9965436" y="2743200"/>
            <a:ext cx="1706880" cy="5303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자료·기준 관리</a:t>
            </a:r>
            <a:endParaRPr lang="en-US" sz="100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4371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SCR-A-001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10075164" y="3273552"/>
            <a:ext cx="914" cy="1490472"/>
          </a:xfrm>
          <a:prstGeom prst="line">
            <a:avLst/>
          </a:prstGeom>
          <a:noFill/>
          <a:ln w="12700">
            <a:solidFill>
              <a:srgbClr val="A8B3BF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10075164" y="3666744"/>
            <a:ext cx="91440" cy="914"/>
          </a:xfrm>
          <a:prstGeom prst="line">
            <a:avLst/>
          </a:prstGeom>
          <a:noFill/>
          <a:ln w="12700">
            <a:solidFill>
              <a:srgbClr val="A8B3BF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10166604" y="3438144"/>
            <a:ext cx="1505712" cy="457200"/>
          </a:xfrm>
          <a:prstGeom prst="rect">
            <a:avLst/>
          </a:prstGeom>
          <a:solidFill>
            <a:srgbClr val="F7F9FB"/>
          </a:solidFill>
          <a:ln w="9525">
            <a:solidFill>
              <a:srgbClr val="C9D3DE"/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10166604" y="3438144"/>
            <a:ext cx="1505712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CSV 검증 결과</a:t>
            </a:r>
            <a:endParaRPr lang="en-US" sz="8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4371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SCR-A-001-P01</a:t>
            </a:r>
            <a:endParaRPr lang="en-US" sz="850" dirty="0"/>
          </a:p>
        </p:txBody>
      </p:sp>
      <p:sp>
        <p:nvSpPr>
          <p:cNvPr id="66" name="Shape 64"/>
          <p:cNvSpPr/>
          <p:nvPr/>
        </p:nvSpPr>
        <p:spPr>
          <a:xfrm>
            <a:off x="10075164" y="4215384"/>
            <a:ext cx="91440" cy="914"/>
          </a:xfrm>
          <a:prstGeom prst="line">
            <a:avLst/>
          </a:prstGeom>
          <a:noFill/>
          <a:ln w="12700">
            <a:solidFill>
              <a:srgbClr val="A8B3BF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10166604" y="3986784"/>
            <a:ext cx="1505712" cy="457200"/>
          </a:xfrm>
          <a:prstGeom prst="rect">
            <a:avLst/>
          </a:prstGeom>
          <a:solidFill>
            <a:srgbClr val="F7F9FB"/>
          </a:solidFill>
          <a:ln w="9525">
            <a:solidFill>
              <a:srgbClr val="C9D3DE"/>
            </a:solidFill>
            <a:prstDash val="solid"/>
          </a:ln>
        </p:spPr>
      </p:sp>
      <p:sp>
        <p:nvSpPr>
          <p:cNvPr id="68" name="Text 66"/>
          <p:cNvSpPr txBox="1"/>
          <p:nvPr/>
        </p:nvSpPr>
        <p:spPr>
          <a:xfrm>
            <a:off x="10166604" y="3986784"/>
            <a:ext cx="1505712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등록 불가 상태</a:t>
            </a:r>
            <a:endParaRPr lang="en-US" sz="850" dirty="0"/>
          </a:p>
        </p:txBody>
      </p:sp>
      <p:sp>
        <p:nvSpPr>
          <p:cNvPr id="69" name="Shape 67"/>
          <p:cNvSpPr/>
          <p:nvPr/>
        </p:nvSpPr>
        <p:spPr>
          <a:xfrm>
            <a:off x="10075164" y="4764024"/>
            <a:ext cx="91440" cy="914"/>
          </a:xfrm>
          <a:prstGeom prst="line">
            <a:avLst/>
          </a:prstGeom>
          <a:noFill/>
          <a:ln w="12700">
            <a:solidFill>
              <a:srgbClr val="A8B3BF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10166604" y="4535424"/>
            <a:ext cx="1505712" cy="457200"/>
          </a:xfrm>
          <a:prstGeom prst="rect">
            <a:avLst/>
          </a:prstGeom>
          <a:solidFill>
            <a:srgbClr val="F7F9FB"/>
          </a:solidFill>
          <a:ln w="9525">
            <a:solidFill>
              <a:srgbClr val="C9D3DE"/>
            </a:solidFill>
            <a:prstDash val="solid"/>
          </a:ln>
        </p:spPr>
      </p:sp>
      <p:sp>
        <p:nvSpPr>
          <p:cNvPr id="71" name="Text 69"/>
          <p:cNvSpPr txBox="1"/>
          <p:nvPr/>
        </p:nvSpPr>
        <p:spPr>
          <a:xfrm>
            <a:off x="10166604" y="4535424"/>
            <a:ext cx="1505712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추천 기준·근거 편집</a:t>
            </a:r>
            <a:endParaRPr lang="en-US" sz="8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4371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SCR-A-001-P02</a:t>
            </a:r>
            <a:endParaRPr lang="en-US" sz="850" dirty="0"/>
          </a:p>
        </p:txBody>
      </p:sp>
      <p:sp>
        <p:nvSpPr>
          <p:cNvPr id="72" name="Shape 70"/>
          <p:cNvSpPr/>
          <p:nvPr/>
        </p:nvSpPr>
        <p:spPr>
          <a:xfrm>
            <a:off x="516636" y="5532120"/>
            <a:ext cx="11155680" cy="530352"/>
          </a:xfrm>
          <a:prstGeom prst="rect">
            <a:avLst/>
          </a:prstGeom>
          <a:solidFill>
            <a:srgbClr val="EFF3F7"/>
          </a:solidFill>
          <a:ln w="12700">
            <a:solidFill>
              <a:srgbClr val="EFF3F7"/>
            </a:solidFill>
            <a:prstDash val="solid"/>
          </a:ln>
        </p:spPr>
      </p:sp>
      <p:sp>
        <p:nvSpPr>
          <p:cNvPr id="73" name="Text 71"/>
          <p:cNvSpPr txBox="1"/>
          <p:nvPr/>
        </p:nvSpPr>
        <p:spPr>
          <a:xfrm>
            <a:off x="685800" y="5532120"/>
            <a:ext cx="10881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자료·기준 관리는 서비스 운영자 전용  |  일정·기록은 권한을 받은 사업체만 처리  |  CSV 검증 통과 후 등록</a:t>
            </a:r>
            <a:endParaRPr lang="en-US" sz="1050" dirty="0"/>
          </a:p>
        </p:txBody>
      </p:sp>
      <p:sp>
        <p:nvSpPr>
          <p:cNvPr id="74" name="Text 72"/>
          <p:cNvSpPr txBox="1"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82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정보시스템 캡스톤디자인 | 화면설계서·Storyboard Template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ns2="http://schemas.microsoft.com/office/powerpoint/2010/main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16459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화면 목록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18288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64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/ Screen List (1/4)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11480" y="621792"/>
            <a:ext cx="11338560" cy="27432"/>
          </a:xfrm>
          <a:prstGeom prst="rect">
            <a:avLst/>
          </a:prstGeom>
          <a:solidFill>
            <a:srgbClr val="4371A0"/>
          </a:solidFill>
          <a:ln w="12700">
            <a:solidFill>
              <a:srgbClr val="4371A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74980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ID: C 공통 · B 사업체 계획·기록 업무군 · A 자료·기준 관리 · Pnn 팝업/패널. 서비스 운영자의 B 화면 접근은 권한을 받은 사업체로 제한합니다.</a:t>
            </a:r>
            <a:endParaRPr lang="en-US" sz="11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ns2:modId val="1579011935"/>
              </p:ext>
            </p:extLst>
          </p:nvPr>
        </p:nvGraphicFramePr>
        <p:xfrm>
          <a:off x="594360" y="1234440"/>
          <a:ext cx="11018520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1143000"/>
                <a:gridCol w="1005840"/>
                <a:gridCol w="1645920"/>
                <a:gridCol w="2834640"/>
                <a:gridCol w="1920240"/>
                <a:gridCol w="1325880"/>
              </a:tblGrid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Screen ID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E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Actor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E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E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화면명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E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관련 Use Case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E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E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비고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E5C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SCR-C-000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사용자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공통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공통 레이아웃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후 모든 화면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메뉴·로그아웃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SCR-C-001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사용자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공통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(보조 화면)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계정 인증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SCR-C-002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사용자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메인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한눈에 보기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UC01·UC02·UC03·UC10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메인(한눈에 보기)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분석·제안·일정 요약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SCR-C-003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사용자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조회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지역 분석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UC01 지역별 방문 분석 조회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메인 &gt; 지역 분석 &gt; 방문·계절 비교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방문·계절 탭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SCR-C-003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사용자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조회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지역 분석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UC02 홍보 제안 조회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메인 &gt; 지역 분석 &gt; 소비 비교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소비 비교 탭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SCR-C-003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사용자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조회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지역 분석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UC10 자료 출처·기준 표시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메인 &gt; 지역 분석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결과와 상시 표시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94360" y="5532120"/>
            <a:ext cx="11018520" cy="530352"/>
          </a:xfrm>
          <a:prstGeom prst="rect">
            <a:avLst/>
          </a:prstGeom>
          <a:solidFill>
            <a:srgbClr val="EFF3F7"/>
          </a:solidFill>
          <a:ln w="12700">
            <a:solidFill>
              <a:srgbClr val="EFF3F7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5532120"/>
            <a:ext cx="10652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필수·운영 지원 UC01부터 UC05까지, UC07부터 UC10까지 화면에 연결했습니다. 사용자 = 사업체·서비스 운영자의 상위 Actor.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82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정보시스템 캡스톤디자인 | 화면설계서·Storyboard Template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ns2="http://schemas.microsoft.com/office/powerpoint/2010/main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16459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화면 목록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18288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64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/ Screen List (2/4)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11480" y="621792"/>
            <a:ext cx="11338560" cy="27432"/>
          </a:xfrm>
          <a:prstGeom prst="rect">
            <a:avLst/>
          </a:prstGeom>
          <a:solidFill>
            <a:srgbClr val="4371A0"/>
          </a:solidFill>
          <a:ln w="12700">
            <a:solidFill>
              <a:srgbClr val="4371A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74980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ID: C 공통 · B 사업체 계획·기록 업무군 · A 자료·기준 관리 · Pnn 팝업/패널. 서비스 운영자의 B 화면 접근은 권한을 받은 사업체로 제한합니다.</a:t>
            </a:r>
            <a:endParaRPr lang="en-US" sz="11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ns2:modId val="1579011935"/>
              </p:ext>
            </p:extLst>
          </p:nvPr>
        </p:nvGraphicFramePr>
        <p:xfrm>
          <a:off x="594360" y="1234440"/>
          <a:ext cx="11018520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1143000"/>
                <a:gridCol w="1005840"/>
                <a:gridCol w="1645920"/>
                <a:gridCol w="2834640"/>
                <a:gridCol w="1920240"/>
                <a:gridCol w="1325880"/>
              </a:tblGrid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Screen ID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E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Actor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E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E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화면명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E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관련 Use Case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E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E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비고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E5C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SCR-C-004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사용자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조회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홍보 제안 조회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UC02 홍보 제안 조회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메인 &gt; 홍보 제안 조회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시기·대상·상품·관광지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SCR-C-004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사용자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조회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홍보 제안 조회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UC10 자료 출처·기준 표시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메인 &gt; 홍보 제안 조회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제안별 출처 표시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SCR-C-004-P01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사용자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패널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추천 근거 상세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UC02 홍보 제안 조회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UC10 자료 출처·기준 표시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메인 &gt; 홍보 제안 조회 &gt; 추천 근거 상세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부모 화면 내 기능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94360" y="5532120"/>
            <a:ext cx="11018520" cy="530352"/>
          </a:xfrm>
          <a:prstGeom prst="rect">
            <a:avLst/>
          </a:prstGeom>
          <a:solidFill>
            <a:srgbClr val="EFF3F7"/>
          </a:solidFill>
          <a:ln w="12700">
            <a:solidFill>
              <a:srgbClr val="EFF3F7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5532120"/>
            <a:ext cx="10652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필수·운영 지원 UC01부터 UC05까지, UC07부터 UC10까지 화면에 연결했습니다. 사용자 = 사업체·서비스 운영자의 상위 Actor.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82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정보시스템 캡스톤디자인 | 화면설계서·Storyboard Template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ns2="http://schemas.microsoft.com/office/powerpoint/2010/main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16459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화면 목록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18288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64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/ Screen List (3/4)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11480" y="621792"/>
            <a:ext cx="11338560" cy="27432"/>
          </a:xfrm>
          <a:prstGeom prst="rect">
            <a:avLst/>
          </a:prstGeom>
          <a:solidFill>
            <a:srgbClr val="4371A0"/>
          </a:solidFill>
          <a:ln w="12700">
            <a:solidFill>
              <a:srgbClr val="4371A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74980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ID: C 공통 · B 사업체 계획·기록 업무군 · A 자료·기준 관리 · Pnn 팝업/패널. 서비스 운영자의 B 화면 접근은 권한을 받은 사업체로 제한합니다.</a:t>
            </a:r>
            <a:endParaRPr lang="en-US" sz="11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ns2:modId val="1579011935"/>
              </p:ext>
            </p:extLst>
          </p:nvPr>
        </p:nvGraphicFramePr>
        <p:xfrm>
          <a:off x="594360" y="1234440"/>
          <a:ext cx="11018520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1143000"/>
                <a:gridCol w="1005840"/>
                <a:gridCol w="1645920"/>
                <a:gridCol w="2834640"/>
                <a:gridCol w="1920240"/>
                <a:gridCol w="1325880"/>
              </a:tblGrid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Screen ID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E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Actor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E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E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화면명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E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관련 Use Case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E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E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비고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E5C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SCR-B-001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사업체 운영자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서비스 운영자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관리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3개월 홍보 일정표 관리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UC03 3개월 홍보 일정표 관리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메인 &gt; 3개월 홍보 일정표 관리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권한 범위의 월별 계획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SCR-B-001-P01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사업체 운영자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서비스 운영자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팝업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계획 작성·수정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UC03 3개월 홍보 일정표 관리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메인 &gt; 3개월 홍보 일정표 관리 &gt; 계획 작성·수정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작성·수정·삭제·저장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SCR-B-002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사업체 운영자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서비스 운영자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관리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사용 기록 입력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UC04 사용 기록 입력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메인 &gt; 사용 기록 입력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계획별 기록 목록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SCR-B-002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사업체 운영자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서비스 운영자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조회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사용 기록 입력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UC05 계획 이행 확인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메인 &gt; 사용 기록 입력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사용 결과 요약 진입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SCR-B-002-P01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사업체 운영자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서비스 운영자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팝업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기록 입력·수정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UC04 사용 기록 입력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메인 &gt; 사용 기록 입력 &gt; 기록 입력·수정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시간·채택·실행·결과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94360" y="5532120"/>
            <a:ext cx="11018520" cy="530352"/>
          </a:xfrm>
          <a:prstGeom prst="rect">
            <a:avLst/>
          </a:prstGeom>
          <a:solidFill>
            <a:srgbClr val="EFF3F7"/>
          </a:solidFill>
          <a:ln w="12700">
            <a:solidFill>
              <a:srgbClr val="EFF3F7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5532120"/>
            <a:ext cx="10652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필수·운영 지원 UC01부터 UC05까지, UC07부터 UC10까지 화면에 연결했습니다. 사용자 = 사업체·서비스 운영자의 상위 Actor.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82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정보시스템 캡스톤디자인 | 화면설계서·Storyboard Template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ns2="http://schemas.microsoft.com/office/powerpoint/2010/main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16459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화면 목록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18288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64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/ Screen List (4/4)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11480" y="621792"/>
            <a:ext cx="11338560" cy="27432"/>
          </a:xfrm>
          <a:prstGeom prst="rect">
            <a:avLst/>
          </a:prstGeom>
          <a:solidFill>
            <a:srgbClr val="4371A0"/>
          </a:solidFill>
          <a:ln w="12700">
            <a:solidFill>
              <a:srgbClr val="4371A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74980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ID: C 공통 · B 사업체 계획·기록 업무군 · A 자료·기준 관리 · Pnn 팝업/패널. 서비스 운영자의 B 화면 접근은 권한을 받은 사업체로 제한합니다.</a:t>
            </a:r>
            <a:endParaRPr lang="en-US" sz="11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ns2:modId val="1579011935"/>
              </p:ext>
            </p:extLst>
          </p:nvPr>
        </p:nvGraphicFramePr>
        <p:xfrm>
          <a:off x="594360" y="1234440"/>
          <a:ext cx="11018520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1143000"/>
                <a:gridCol w="1005840"/>
                <a:gridCol w="1645920"/>
                <a:gridCol w="2834640"/>
                <a:gridCol w="1920240"/>
                <a:gridCol w="1325880"/>
              </a:tblGrid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Screen ID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E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Actor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E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E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화면명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E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관련 Use Case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E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E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비고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E5C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SCR-B-002-P02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사업체 운영자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서비스 운영자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팝업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사용 결과 요약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UC05 계획 이행 확인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메인 &gt; 사용 기록 입력 &gt; 사용 결과 요약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계획·실행 비교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SCR-A-001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서비스 운영자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관리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자료·기준 관리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UC07 CSV 자료 등록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메인 &gt; 자료·기준 관리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파일 선택·정보 입력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SCR-A-001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서비스 운영자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관리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자료·기준 관리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UC08 자료 기준·누락값 검증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메인 &gt; 자료·기준 관리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5개 항목 검증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SCR-A-001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서비스 운영자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관리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자료·기준 관리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UC09 추천 기준·근거 관리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메인 &gt; 자료·기준 관리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기준 저장 후 제안 반영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SCR-A-001-P01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서비스 운영자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팝업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CSV 검증 결과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UC07 CSV 자료 등록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UC08 자료 기준·누락값 검증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메인 &gt; 자료·기준 관리 &gt; CSV 검증 결과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통과 후 등록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SCR-A-001-P02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서비스 운영자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팝업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추천 기준·근거 편집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UC09 추천 기준·근거 관리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메인 &gt; 자료·기준 관리 &gt; 추천 기준·근거 편집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저장 후 제안 재계산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94360" y="5532120"/>
            <a:ext cx="11018520" cy="530352"/>
          </a:xfrm>
          <a:prstGeom prst="rect">
            <a:avLst/>
          </a:prstGeom>
          <a:solidFill>
            <a:srgbClr val="EFF3F7"/>
          </a:solidFill>
          <a:ln w="12700">
            <a:solidFill>
              <a:srgbClr val="EFF3F7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5532120"/>
            <a:ext cx="10652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필수·운영 지원 UC01부터 UC05까지, UC07부터 UC10까지 화면에 연결했습니다. 사용자 = 사업체·서비스 운영자의 상위 Actor.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82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정보시스템 캡스톤디자인 | 화면설계서·Storyboard Template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ns2="http://schemas.microsoft.com/office/powerpoint/2010/main" xmlns:p="http://schemas.openxmlformats.org/presentationml/2006/main" xmlns:r="http://schemas.openxmlformats.org/officeDocument/2006/relationships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16459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화면설계서 · Storyboard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18288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64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/ 01 · 로그인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11480" y="621792"/>
            <a:ext cx="11338560" cy="27432"/>
          </a:xfrm>
          <a:prstGeom prst="rect">
            <a:avLst/>
          </a:prstGeom>
          <a:solidFill>
            <a:srgbClr val="4371A0"/>
          </a:solidFill>
          <a:ln w="12700">
            <a:solidFill>
              <a:srgbClr val="4371A0"/>
            </a:solidFill>
            <a:prstDash val="solid"/>
          </a:ln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ns2:modId val="1579011935"/>
              </p:ext>
            </p:extLst>
          </p:nvPr>
        </p:nvGraphicFramePr>
        <p:xfrm>
          <a:off x="502920" y="731520"/>
          <a:ext cx="11219688" cy="914400"/>
        </p:xfrm>
        <a:graphic>
          <a:graphicData uri="http://schemas.openxmlformats.org/drawingml/2006/table">
            <a:tbl>
              <a:tblPr/>
              <a:tblGrid>
                <a:gridCol w="804672"/>
                <a:gridCol w="1188720"/>
                <a:gridCol w="621792"/>
                <a:gridCol w="1417320"/>
                <a:gridCol w="548640"/>
                <a:gridCol w="1325880"/>
                <a:gridCol w="658368"/>
                <a:gridCol w="2423160"/>
                <a:gridCol w="475488"/>
                <a:gridCol w="1755648"/>
              </a:tblGrid>
              <a:tr h="4937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63E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Screen ID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SCR-C-001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63E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화면명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63E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Actor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사용자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63E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관련 UC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별도 UC 없음 (공통 접근 보조 화면)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63E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경로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02920" y="1325880"/>
            <a:ext cx="6355080" cy="4389120"/>
          </a:xfrm>
          <a:prstGeom prst="rect">
            <a:avLst/>
          </a:prstGeom>
          <a:solidFill>
            <a:srgbClr val="FFFFFF"/>
          </a:solidFill>
          <a:ln w="9525">
            <a:solidFill>
              <a:srgbClr val="B9C6D4"/>
            </a:solidFill>
            <a:prstDash val="solid"/>
          </a:ln>
        </p:spPr>
      </p:sp>
      <p:pic>
        <p:nvPicPr>
          <p:cNvPr id="7" name="Image 0" descr="login | Figma Make screenshot | https://blob-silver-16955234.figma.site/#login" title="login">
            <a:hlinkClick r:id="rIdRevisedMake" tooltip="Figma Make 수정본 열기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9630" y="1389888"/>
            <a:ext cx="5430804" cy="4242816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969630" y="1389888"/>
            <a:ext cx="5430804" cy="4242816"/>
          </a:xfrm>
          <a:prstGeom prst="rect">
            <a:avLst/>
          </a:prstGeom>
          <a:ln w="6350">
            <a:solidFill>
              <a:srgbClr val="D0D7DE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6995160" y="1325880"/>
            <a:ext cx="4727448" cy="4389120"/>
          </a:xfrm>
          <a:prstGeom prst="rect">
            <a:avLst/>
          </a:prstGeom>
          <a:solidFill>
            <a:srgbClr val="FFFFFF"/>
          </a:solidFill>
          <a:ln w="9525">
            <a:solidFill>
              <a:srgbClr val="B9C6D4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6995160" y="1325880"/>
            <a:ext cx="4727448" cy="365760"/>
          </a:xfrm>
          <a:prstGeom prst="rect">
            <a:avLst/>
          </a:prstGeom>
          <a:solidFill>
            <a:srgbClr val="263E5C"/>
          </a:solidFill>
          <a:ln w="12700">
            <a:solidFill>
              <a:srgbClr val="263E5C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6995160" y="1325880"/>
            <a:ext cx="4727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Description (화면설명)</a:t>
            </a:r>
            <a:endParaRPr lang="en-US" sz="1000" dirty="0"/>
          </a:p>
        </p:txBody>
      </p:sp>
      <p:graphicFrame>
        <p:nvGraphicFramePr>
          <p:cNvPr id="21" name="Table 1"/>
          <p:cNvGraphicFramePr>
            <a:graphicFrameLocks noGrp="1"/>
          </p:cNvGraphicFramePr>
          <p:nvPr>
            <p:extLst>
              <p:ext uri="{D42A27DB-BD31-4B8C-83A1-F6EECF244321}">
                <ns2:modId val="1579011935"/>
              </p:ext>
            </p:extLst>
          </p:nvPr>
        </p:nvGraphicFramePr>
        <p:xfrm>
          <a:off x="7050024" y="1755648"/>
          <a:ext cx="4617720" cy="914400"/>
        </p:xfrm>
        <a:graphic>
          <a:graphicData uri="http://schemas.openxmlformats.org/drawingml/2006/table">
            <a:tbl>
              <a:tblPr/>
              <a:tblGrid>
                <a:gridCol w="274320"/>
                <a:gridCol w="4343400"/>
              </a:tblGrid>
              <a:tr h="1844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①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역할 선택 → 계정의 접근 역할 지정 → 이메일·비밀번호 입력 대기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44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②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이메일 입력 → 필수값·형식 검사 → 오류 시 입력란 아래 안내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44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③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비밀번호 입력 → 필수값 검사 → 로그인 요청 준비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44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④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보기 아이콘 클릭 → 입력값은 유지하고 표시 전환 → 비밀번호 보기·숨김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44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⑤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클릭 → 서버에서 계정·역할 인증 → 성공 시 SCR-C-002 이동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7" name="Shape 22"/>
          <p:cNvSpPr/>
          <p:nvPr/>
        </p:nvSpPr>
        <p:spPr>
          <a:xfrm>
            <a:off x="7050024" y="5020056"/>
            <a:ext cx="4617720" cy="640080"/>
          </a:xfrm>
          <a:prstGeom prst="rect">
            <a:avLst/>
          </a:prstGeom>
          <a:solidFill>
            <a:srgbClr val="F7F9FB"/>
          </a:solidFill>
          <a:ln w="6350">
            <a:solidFill>
              <a:srgbClr val="E1E7EE"/>
            </a:solidFill>
            <a:prstDash val="solid"/>
          </a:ln>
        </p:spPr>
      </p:sp>
      <p:sp>
        <p:nvSpPr>
          <p:cNvPr id="28" name="Text 23"/>
          <p:cNvSpPr txBox="1"/>
          <p:nvPr/>
        </p:nvSpPr>
        <p:spPr>
          <a:xfrm>
            <a:off x="7104888" y="5047488"/>
            <a:ext cx="45079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8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비고</a:t>
            </a:r>
            <a:endParaRPr lang="en-US" sz="8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750" dirty="0">
                <a:solidFill>
                  <a:srgbClr val="6464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입력 오류·인증 실패 시 입력 화면을 유지하고 원인을 안내</a:t>
            </a:r>
            <a:endParaRPr lang="en-US" sz="8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750" dirty="0">
                <a:solidFill>
                  <a:srgbClr val="6464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인증 완료 후 허용된 메뉴만 표시</a:t>
            </a:r>
            <a:endParaRPr lang="en-US" sz="800" dirty="0"/>
          </a:p>
        </p:txBody>
      </p:sp>
      <p:sp>
        <p:nvSpPr>
          <p:cNvPr id="29" name="Shape 24"/>
          <p:cNvSpPr/>
          <p:nvPr/>
        </p:nvSpPr>
        <p:spPr>
          <a:xfrm>
            <a:off x="502920" y="5806440"/>
            <a:ext cx="11219688" cy="475488"/>
          </a:xfrm>
          <a:prstGeom prst="rect">
            <a:avLst/>
          </a:prstGeom>
          <a:solidFill>
            <a:srgbClr val="EFF3F7"/>
          </a:solidFill>
          <a:ln w="12700">
            <a:solidFill>
              <a:srgbClr val="EFF3F7"/>
            </a:solidFill>
            <a:prstDash val="solid"/>
          </a:ln>
        </p:spPr>
      </p:sp>
      <p:sp>
        <p:nvSpPr>
          <p:cNvPr id="30" name="Text 25"/>
          <p:cNvSpPr txBox="1"/>
          <p:nvPr/>
        </p:nvSpPr>
        <p:spPr>
          <a:xfrm>
            <a:off x="685800" y="5806440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상태</a:t>
            </a:r>
            <a:endParaRPr lang="en-US" sz="900" dirty="0"/>
          </a:p>
        </p:txBody>
      </p:sp>
      <p:sp>
        <p:nvSpPr>
          <p:cNvPr id="31" name="Text 26"/>
          <p:cNvSpPr txBox="1"/>
          <p:nvPr/>
        </p:nvSpPr>
        <p:spPr>
          <a:xfrm>
            <a:off x="1600200" y="5806440"/>
            <a:ext cx="4023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■ 정상   □ 결과없음   ■ 오류   □ 처리불가   ■ 완료</a:t>
            </a:r>
            <a:endParaRPr lang="en-US" sz="900" dirty="0"/>
          </a:p>
        </p:txBody>
      </p:sp>
      <p:sp>
        <p:nvSpPr>
          <p:cNvPr id="32" name="Text 27"/>
          <p:cNvSpPr txBox="1"/>
          <p:nvPr/>
        </p:nvSpPr>
        <p:spPr>
          <a:xfrm>
            <a:off x="5669280" y="5806440"/>
            <a:ext cx="868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이동 화면</a:t>
            </a:r>
            <a:endParaRPr lang="en-US" sz="900" dirty="0"/>
          </a:p>
        </p:txBody>
      </p:sp>
      <p:sp>
        <p:nvSpPr>
          <p:cNvPr id="33" name="Text 28"/>
          <p:cNvSpPr txBox="1"/>
          <p:nvPr/>
        </p:nvSpPr>
        <p:spPr>
          <a:xfrm>
            <a:off x="6537960" y="5806440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 → 계정·역할 인증 → SCR-C-002 한눈에 보기</a:t>
            </a:r>
            <a:endParaRPr lang="en-US" sz="900" dirty="0"/>
          </a:p>
        </p:txBody>
      </p:sp>
      <p:sp>
        <p:nvSpPr>
          <p:cNvPr id="35" name="Text 29"/>
          <p:cNvSpPr txBox="1"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82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정보시스템 캡스톤디자인 | 화면설계서·Storyboard Template</a:t>
            </a:r>
            <a:endParaRPr lang="en-US" sz="800" dirty="0"/>
          </a:p>
        </p:txBody>
      </p:sp>
      <p:sp>
        <p:nvSpPr>
          <p:cNvPr id="1002" name="Callout 1 circle"/>
          <p:cNvSpPr/>
          <p:nvPr/>
        </p:nvSpPr>
        <p:spPr>
          <a:xfrm>
            <a:off x="4093382" y="3084408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03" name="Callout 1 number"/>
          <p:cNvSpPr txBox="1"/>
          <p:nvPr/>
        </p:nvSpPr>
        <p:spPr>
          <a:xfrm>
            <a:off x="4093382" y="308440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  <p:sp>
        <p:nvSpPr>
          <p:cNvPr id="1004" name="Callout 2 circle"/>
          <p:cNvSpPr/>
          <p:nvPr/>
        </p:nvSpPr>
        <p:spPr>
          <a:xfrm>
            <a:off x="4093382" y="3541771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05" name="Callout 2 number"/>
          <p:cNvSpPr txBox="1"/>
          <p:nvPr/>
        </p:nvSpPr>
        <p:spPr>
          <a:xfrm>
            <a:off x="4093382" y="3541771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  <p:sp>
        <p:nvSpPr>
          <p:cNvPr id="1006" name="Callout 3 circle"/>
          <p:cNvSpPr/>
          <p:nvPr/>
        </p:nvSpPr>
        <p:spPr>
          <a:xfrm>
            <a:off x="4093382" y="3943976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07" name="Callout 3 number"/>
          <p:cNvSpPr txBox="1"/>
          <p:nvPr/>
        </p:nvSpPr>
        <p:spPr>
          <a:xfrm>
            <a:off x="4093382" y="394397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  <p:sp>
        <p:nvSpPr>
          <p:cNvPr id="1008" name="Callout 4 circle"/>
          <p:cNvSpPr/>
          <p:nvPr/>
        </p:nvSpPr>
        <p:spPr>
          <a:xfrm>
            <a:off x="5612311" y="3956705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09" name="Callout 4 number"/>
          <p:cNvSpPr txBox="1"/>
          <p:nvPr/>
        </p:nvSpPr>
        <p:spPr>
          <a:xfrm>
            <a:off x="5612311" y="3956705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  <p:sp>
        <p:nvSpPr>
          <p:cNvPr id="1010" name="Callout 5 circle"/>
          <p:cNvSpPr/>
          <p:nvPr/>
        </p:nvSpPr>
        <p:spPr>
          <a:xfrm>
            <a:off x="4093382" y="4253702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11" name="Callout 5 number"/>
          <p:cNvSpPr txBox="1"/>
          <p:nvPr/>
        </p:nvSpPr>
        <p:spPr>
          <a:xfrm>
            <a:off x="4093382" y="425370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ns2="http://schemas.microsoft.com/office/powerpoint/2010/main" xmlns:p="http://schemas.openxmlformats.org/presentationml/2006/main" xmlns:r="http://schemas.openxmlformats.org/officeDocument/2006/relationships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16459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화면설계서 · Storyboard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18288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64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/ 02 · 로그인 · 입력 오류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11480" y="621792"/>
            <a:ext cx="11338560" cy="27432"/>
          </a:xfrm>
          <a:prstGeom prst="rect">
            <a:avLst/>
          </a:prstGeom>
          <a:solidFill>
            <a:srgbClr val="4371A0"/>
          </a:solidFill>
          <a:ln w="12700">
            <a:solidFill>
              <a:srgbClr val="4371A0"/>
            </a:solidFill>
            <a:prstDash val="solid"/>
          </a:ln>
        </p:spPr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ns2:modId val="1579011935"/>
              </p:ext>
            </p:extLst>
          </p:nvPr>
        </p:nvGraphicFramePr>
        <p:xfrm>
          <a:off x="502920" y="731520"/>
          <a:ext cx="11219688" cy="914400"/>
        </p:xfrm>
        <a:graphic>
          <a:graphicData uri="http://schemas.openxmlformats.org/drawingml/2006/table">
            <a:tbl>
              <a:tblPr/>
              <a:tblGrid>
                <a:gridCol w="804672"/>
                <a:gridCol w="1188720"/>
                <a:gridCol w="621792"/>
                <a:gridCol w="1417320"/>
                <a:gridCol w="548640"/>
                <a:gridCol w="1325880"/>
                <a:gridCol w="658368"/>
                <a:gridCol w="2423160"/>
                <a:gridCol w="475488"/>
                <a:gridCol w="1755648"/>
              </a:tblGrid>
              <a:tr h="4937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63E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Screen ID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SCR-C-001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63E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화면명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· 입력 오류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63E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Actor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사용자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63E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관련 UC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별도 UC 없음 (공통 접근 보조 화면)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63E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경로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02920" y="1325880"/>
            <a:ext cx="6355080" cy="4389120"/>
          </a:xfrm>
          <a:prstGeom prst="rect">
            <a:avLst/>
          </a:prstGeom>
          <a:solidFill>
            <a:srgbClr val="FFFFFF"/>
          </a:solidFill>
          <a:ln w="9525">
            <a:solidFill>
              <a:srgbClr val="B9C6D4"/>
            </a:solidFill>
            <a:prstDash val="solid"/>
          </a:ln>
        </p:spPr>
      </p:sp>
      <p:pic>
        <p:nvPicPr>
          <p:cNvPr id="7" name="Image 0" descr="login-error | Figma Make screenshot | https://blob-silver-16955234.figma.site/#login" title="login-error">
            <a:hlinkClick r:id="rIdRevisedMake" tooltip="Figma Make 수정본 열기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04632" y="1389888"/>
            <a:ext cx="3160800" cy="4242816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2104632" y="1389888"/>
            <a:ext cx="3160800" cy="4242816"/>
          </a:xfrm>
          <a:prstGeom prst="rect">
            <a:avLst/>
          </a:prstGeom>
          <a:ln w="6350">
            <a:solidFill>
              <a:srgbClr val="D0D7DE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6995160" y="1325880"/>
            <a:ext cx="4727448" cy="4389120"/>
          </a:xfrm>
          <a:prstGeom prst="rect">
            <a:avLst/>
          </a:prstGeom>
          <a:solidFill>
            <a:srgbClr val="FFFFFF"/>
          </a:solidFill>
          <a:ln w="9525">
            <a:solidFill>
              <a:srgbClr val="B9C6D4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995160" y="1325880"/>
            <a:ext cx="4727448" cy="365760"/>
          </a:xfrm>
          <a:prstGeom prst="rect">
            <a:avLst/>
          </a:prstGeom>
          <a:solidFill>
            <a:srgbClr val="263E5C"/>
          </a:solidFill>
          <a:ln w="12700">
            <a:solidFill>
              <a:srgbClr val="263E5C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6995160" y="1325880"/>
            <a:ext cx="4727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Description (화면설명)</a:t>
            </a:r>
            <a:endParaRPr lang="en-US" sz="10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ns2:modId val="1579011935"/>
              </p:ext>
            </p:extLst>
          </p:nvPr>
        </p:nvGraphicFramePr>
        <p:xfrm>
          <a:off x="7050024" y="1755648"/>
          <a:ext cx="4617720" cy="914400"/>
        </p:xfrm>
        <a:graphic>
          <a:graphicData uri="http://schemas.openxmlformats.org/drawingml/2006/table">
            <a:tbl>
              <a:tblPr/>
              <a:tblGrid>
                <a:gridCol w="274320"/>
                <a:gridCol w="4343400"/>
              </a:tblGrid>
              <a:tr h="3139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①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빈 이메일로 로그인 클릭 → 필수값 검사 실패 → 오류 문구 표시·이메일로 초점 이동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39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②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이메일 수정 후 로그인 클릭 → 입력값 재검사·계정 인증 → 성공 시 SCR-C-002 이동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7" name="Shape 12"/>
          <p:cNvSpPr/>
          <p:nvPr/>
        </p:nvSpPr>
        <p:spPr>
          <a:xfrm>
            <a:off x="7050024" y="5020056"/>
            <a:ext cx="4617720" cy="640080"/>
          </a:xfrm>
          <a:prstGeom prst="rect">
            <a:avLst/>
          </a:prstGeom>
          <a:solidFill>
            <a:srgbClr val="F7F9FB"/>
          </a:solidFill>
          <a:ln w="6350">
            <a:solidFill>
              <a:srgbClr val="E1E7EE"/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7104888" y="5047488"/>
            <a:ext cx="45079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8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비고</a:t>
            </a:r>
            <a:endParaRPr lang="en-US" sz="8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750" dirty="0">
                <a:solidFill>
                  <a:srgbClr val="6464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입력 오류 시 다른 입력값은 유지</a:t>
            </a:r>
            <a:endParaRPr lang="en-US" sz="8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750" dirty="0">
                <a:solidFill>
                  <a:srgbClr val="6464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인증 실패 시 계정 정보 확인을 안내하고 로그인을 완료하지 않음</a:t>
            </a:r>
            <a:endParaRPr lang="en-US" sz="800" dirty="0"/>
          </a:p>
        </p:txBody>
      </p:sp>
      <p:sp>
        <p:nvSpPr>
          <p:cNvPr id="19" name="Shape 14"/>
          <p:cNvSpPr/>
          <p:nvPr/>
        </p:nvSpPr>
        <p:spPr>
          <a:xfrm>
            <a:off x="502920" y="5806440"/>
            <a:ext cx="11219688" cy="475488"/>
          </a:xfrm>
          <a:prstGeom prst="rect">
            <a:avLst/>
          </a:prstGeom>
          <a:solidFill>
            <a:srgbClr val="EFF3F7"/>
          </a:solidFill>
          <a:ln w="12700">
            <a:solidFill>
              <a:srgbClr val="EFF3F7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685800" y="5806440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상태</a:t>
            </a:r>
            <a:endParaRPr lang="en-US" sz="900" dirty="0"/>
          </a:p>
        </p:txBody>
      </p:sp>
      <p:sp>
        <p:nvSpPr>
          <p:cNvPr id="21" name="Text 16"/>
          <p:cNvSpPr txBox="1"/>
          <p:nvPr/>
        </p:nvSpPr>
        <p:spPr>
          <a:xfrm>
            <a:off x="1600200" y="5806440"/>
            <a:ext cx="4023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□ 정상   □ 결과없음   ■ 오류   □ 처리불가   □ 완료</a:t>
            </a:r>
            <a:endParaRPr lang="en-US" sz="900" dirty="0"/>
          </a:p>
        </p:txBody>
      </p:sp>
      <p:sp>
        <p:nvSpPr>
          <p:cNvPr id="22" name="Text 17"/>
          <p:cNvSpPr txBox="1"/>
          <p:nvPr/>
        </p:nvSpPr>
        <p:spPr>
          <a:xfrm>
            <a:off x="5669280" y="5806440"/>
            <a:ext cx="868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이동 화면</a:t>
            </a:r>
            <a:endParaRPr lang="en-US" sz="900" dirty="0"/>
          </a:p>
        </p:txBody>
      </p:sp>
      <p:sp>
        <p:nvSpPr>
          <p:cNvPr id="2000" name="Text 18"/>
          <p:cNvSpPr txBox="1"/>
          <p:nvPr/>
        </p:nvSpPr>
        <p:spPr>
          <a:xfrm>
            <a:off x="6537960" y="5806440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 수정 후 로그인 → 재검사·인증 → SCR-C-002 한눈에 보기</a:t>
            </a:r>
            <a:endParaRPr lang="en-US" sz="900" dirty="0"/>
          </a:p>
        </p:txBody>
      </p:sp>
      <p:sp>
        <p:nvSpPr>
          <p:cNvPr id="25" name="Text 19"/>
          <p:cNvSpPr txBox="1"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82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정보시스템 캡스톤디자인 | 화면설계서·Storyboard Template</a:t>
            </a:r>
            <a:endParaRPr lang="en-US" sz="800" dirty="0"/>
          </a:p>
        </p:txBody>
      </p:sp>
      <p:sp>
        <p:nvSpPr>
          <p:cNvPr id="1002" name="Callout 1 circle"/>
          <p:cNvSpPr/>
          <p:nvPr/>
        </p:nvSpPr>
        <p:spPr>
          <a:xfrm>
            <a:off x="2150618" y="4501013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03" name="Callout 1 number"/>
          <p:cNvSpPr txBox="1"/>
          <p:nvPr/>
        </p:nvSpPr>
        <p:spPr>
          <a:xfrm>
            <a:off x="2150618" y="4501013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  <p:sp>
        <p:nvSpPr>
          <p:cNvPr id="1004" name="Callout 2 circle"/>
          <p:cNvSpPr/>
          <p:nvPr/>
        </p:nvSpPr>
        <p:spPr>
          <a:xfrm>
            <a:off x="2150618" y="3403000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05" name="Callout 2 number"/>
          <p:cNvSpPr txBox="1"/>
          <p:nvPr/>
        </p:nvSpPr>
        <p:spPr>
          <a:xfrm>
            <a:off x="2150618" y="340300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ns2="http://schemas.microsoft.com/office/powerpoint/2010/main" xmlns:p="http://schemas.openxmlformats.org/presentationml/2006/main" xmlns:r="http://schemas.openxmlformats.org/officeDocument/2006/relationships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16459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화면설계서 · Storyboard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18288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64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/ 03 · 공통 레이아웃 (사이드바·상단바)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11480" y="621792"/>
            <a:ext cx="11338560" cy="27432"/>
          </a:xfrm>
          <a:prstGeom prst="rect">
            <a:avLst/>
          </a:prstGeom>
          <a:solidFill>
            <a:srgbClr val="4371A0"/>
          </a:solidFill>
          <a:ln w="12700">
            <a:solidFill>
              <a:srgbClr val="4371A0"/>
            </a:solidFill>
            <a:prstDash val="solid"/>
          </a:ln>
        </p:spPr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ns2:modId val="1579011935"/>
              </p:ext>
            </p:extLst>
          </p:nvPr>
        </p:nvGraphicFramePr>
        <p:xfrm>
          <a:off x="502920" y="731520"/>
          <a:ext cx="11219688" cy="914400"/>
        </p:xfrm>
        <a:graphic>
          <a:graphicData uri="http://schemas.openxmlformats.org/drawingml/2006/table">
            <a:tbl>
              <a:tblPr/>
              <a:tblGrid>
                <a:gridCol w="804672"/>
                <a:gridCol w="1188720"/>
                <a:gridCol w="621792"/>
                <a:gridCol w="1417320"/>
                <a:gridCol w="548640"/>
                <a:gridCol w="1325880"/>
                <a:gridCol w="658368"/>
                <a:gridCol w="2423160"/>
                <a:gridCol w="475488"/>
                <a:gridCol w="1755648"/>
              </a:tblGrid>
              <a:tr h="4937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63E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Screen ID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SCR-C-000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63E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화면명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공통 레이아웃 (사이드바·상단바)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63E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Actor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사용자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63E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관련 UC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별도 UC 없음 (로그인 후 공통 영역)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63E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경로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후 모든 화면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02920" y="1325880"/>
            <a:ext cx="6355080" cy="4389120"/>
          </a:xfrm>
          <a:prstGeom prst="rect">
            <a:avLst/>
          </a:prstGeom>
          <a:solidFill>
            <a:srgbClr val="FFFFFF"/>
          </a:solidFill>
          <a:ln w="9525">
            <a:solidFill>
              <a:srgbClr val="B9C6D4"/>
            </a:solidFill>
            <a:prstDash val="solid"/>
          </a:ln>
        </p:spPr>
      </p:sp>
      <p:pic>
        <p:nvPicPr>
          <p:cNvPr id="7" name="Image 0" descr="common-layout | Figma Make screenshot | https://blob-silver-16955234.figma.site/#overview" title="common-layout">
            <a:hlinkClick r:id="rIdRevisedMake" tooltip="Figma Make 수정본 열기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1893237"/>
            <a:ext cx="4142232" cy="3236119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603504" y="1893237"/>
            <a:ext cx="4142232" cy="3236119"/>
          </a:xfrm>
          <a:prstGeom prst="rect">
            <a:avLst/>
          </a:prstGeom>
          <a:ln w="6350">
            <a:solidFill>
              <a:srgbClr val="D0D7DE"/>
            </a:solidFill>
            <a:prstDash val="solid"/>
          </a:ln>
        </p:spPr>
      </p:sp>
      <p:sp>
        <p:nvSpPr>
          <p:cNvPr id="33" name="Text 29"/>
          <p:cNvSpPr txBox="1"/>
          <p:nvPr/>
        </p:nvSpPr>
        <p:spPr>
          <a:xfrm>
            <a:off x="4846320" y="2777885"/>
            <a:ext cx="1901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750" dirty="0">
                <a:solidFill>
                  <a:srgbClr val="6464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로그아웃 클릭 시 팝업 (실제 캡처)</a:t>
            </a:r>
            <a:endParaRPr lang="en-US" sz="750" dirty="0"/>
          </a:p>
        </p:txBody>
      </p:sp>
      <p:pic>
        <p:nvPicPr>
          <p:cNvPr id="34" name="Image 1" descr="logout-confirm | Figma Make screenshot | https://blob-silver-16955234.figma.site/#overview" title="logout-confirm">
            <a:hlinkClick r:id="rIdRevisedMake" tooltip="Figma Make 수정본 열기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3072205"/>
            <a:ext cx="1901952" cy="731878"/>
          </a:xfrm>
          <a:prstGeom prst="rect">
            <a:avLst/>
          </a:prstGeom>
        </p:spPr>
      </p:pic>
      <p:sp>
        <p:nvSpPr>
          <p:cNvPr id="35" name="Shape 30"/>
          <p:cNvSpPr/>
          <p:nvPr/>
        </p:nvSpPr>
        <p:spPr>
          <a:xfrm>
            <a:off x="4846320" y="3072205"/>
            <a:ext cx="1901952" cy="731878"/>
          </a:xfrm>
          <a:prstGeom prst="rect">
            <a:avLst/>
          </a:prstGeom>
          <a:ln w="12700">
            <a:solidFill>
              <a:srgbClr val="D73737"/>
            </a:solidFill>
            <a:prstDash val="solid"/>
          </a:ln>
        </p:spPr>
      </p:sp>
      <p:sp>
        <p:nvSpPr>
          <p:cNvPr id="40" name="Shape 35"/>
          <p:cNvSpPr/>
          <p:nvPr/>
        </p:nvSpPr>
        <p:spPr>
          <a:xfrm>
            <a:off x="6995160" y="1325880"/>
            <a:ext cx="4727448" cy="4389120"/>
          </a:xfrm>
          <a:prstGeom prst="rect">
            <a:avLst/>
          </a:prstGeom>
          <a:solidFill>
            <a:srgbClr val="FFFFFF"/>
          </a:solidFill>
          <a:ln w="9525">
            <a:solidFill>
              <a:srgbClr val="B9C6D4"/>
            </a:solidFill>
            <a:prstDash val="solid"/>
          </a:ln>
        </p:spPr>
      </p:sp>
      <p:sp>
        <p:nvSpPr>
          <p:cNvPr id="41" name="Shape 36"/>
          <p:cNvSpPr/>
          <p:nvPr/>
        </p:nvSpPr>
        <p:spPr>
          <a:xfrm>
            <a:off x="6995160" y="1325880"/>
            <a:ext cx="4727448" cy="365760"/>
          </a:xfrm>
          <a:prstGeom prst="rect">
            <a:avLst/>
          </a:prstGeom>
          <a:solidFill>
            <a:srgbClr val="263E5C"/>
          </a:solidFill>
          <a:ln w="12700">
            <a:solidFill>
              <a:srgbClr val="263E5C"/>
            </a:solidFill>
            <a:prstDash val="solid"/>
          </a:ln>
        </p:spPr>
      </p:sp>
      <p:sp>
        <p:nvSpPr>
          <p:cNvPr id="42" name="Text 37"/>
          <p:cNvSpPr txBox="1"/>
          <p:nvPr/>
        </p:nvSpPr>
        <p:spPr>
          <a:xfrm>
            <a:off x="6995160" y="1325880"/>
            <a:ext cx="4727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Description (화면설명)</a:t>
            </a:r>
            <a:endParaRPr lang="en-US" sz="1000" dirty="0"/>
          </a:p>
        </p:txBody>
      </p:sp>
      <p:graphicFrame>
        <p:nvGraphicFramePr>
          <p:cNvPr id="25" name="Table 1"/>
          <p:cNvGraphicFramePr>
            <a:graphicFrameLocks noGrp="1"/>
          </p:cNvGraphicFramePr>
          <p:nvPr>
            <p:extLst>
              <p:ext uri="{D42A27DB-BD31-4B8C-83A1-F6EECF244321}">
                <ns2:modId val="1579011935"/>
              </p:ext>
            </p:extLst>
          </p:nvPr>
        </p:nvGraphicFramePr>
        <p:xfrm>
          <a:off x="7050024" y="1755648"/>
          <a:ext cx="4617720" cy="914400"/>
        </p:xfrm>
        <a:graphic>
          <a:graphicData uri="http://schemas.openxmlformats.org/drawingml/2006/table">
            <a:tbl>
              <a:tblPr/>
              <a:tblGrid>
                <a:gridCol w="274320"/>
                <a:gridCol w="4343400"/>
              </a:tblGrid>
              <a:tr h="1691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①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접기 클릭 → 메뉴를 아이콘형으로 전환 → 본문 영역 확대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②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경계 드래그·방향키 입력 → 메뉴 폭 조절 → 설정 저장·화면 재배치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③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초기화 클릭 → 사용자 메뉴 폭 설정 해제 → 기본 폭 복원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④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한눈에 보기 클릭 → 선택 지역 유지 → SCR-C-002 이동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⑤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지역 분석 클릭 → 선택 지역 유지 → SCR-C-003 이동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⑥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홍보 제안 조회 클릭 → 선택 지역 유지 → SCR-C-004 이동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⑦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3개월 홍보 일정표 관리 클릭 → 권한 내 계획 조회 → SCR-B-001 이동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⑧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사용 기록 입력 클릭 → 권한 내 기록 조회 → SCR-B-002 이동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⑨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계정 영역 클릭 → 로그아웃 의사 확인 → 로그아웃 확인 팝업 표시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⑩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로그아웃 클릭 → 종료 의사 확인 요청 → 로그아웃 확인 팝업 표시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⑪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도움말 클릭 → 이용 방법 조회 → 도움말 표시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⑫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취소·✕ 클릭 → 로그아웃 취소 → 현재 화면 유지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⑬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확인 클릭 → 로그인 세션 해제 → SCR-C-001 로그인 이동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4" name="Shape 38"/>
          <p:cNvSpPr/>
          <p:nvPr/>
        </p:nvSpPr>
        <p:spPr>
          <a:xfrm>
            <a:off x="7050024" y="4967414"/>
            <a:ext cx="4617720" cy="692722"/>
          </a:xfrm>
          <a:prstGeom prst="rect">
            <a:avLst/>
          </a:prstGeom>
          <a:solidFill>
            <a:srgbClr val="F7F9FB"/>
          </a:solidFill>
          <a:ln w="6350">
            <a:solidFill>
              <a:srgbClr val="E1E7EE"/>
            </a:solidFill>
            <a:prstDash val="solid"/>
          </a:ln>
        </p:spPr>
      </p:sp>
      <p:sp>
        <p:nvSpPr>
          <p:cNvPr id="45" name="Text 39"/>
          <p:cNvSpPr txBox="1"/>
          <p:nvPr/>
        </p:nvSpPr>
        <p:spPr>
          <a:xfrm>
            <a:off x="7104888" y="4994846"/>
            <a:ext cx="4507992" cy="6378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8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비고</a:t>
            </a:r>
            <a:endParaRPr lang="en-US" sz="8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750" dirty="0">
                <a:solidFill>
                  <a:srgbClr val="6464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자료·기준 관리(SCR-A-001)는 서비스 운영자에게만 표시</a:t>
            </a:r>
            <a:endParaRPr lang="en-US" sz="8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750" dirty="0">
                <a:solidFill>
                  <a:srgbClr val="6464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계획·기록은 본인 또는 관리 권한을 받은 사업체만 접근</a:t>
            </a:r>
            <a:endParaRPr lang="en-US" sz="8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750" dirty="0">
                <a:solidFill>
                  <a:srgbClr val="6464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모바일에서는 서랍 메뉴로 이동</a:t>
            </a:r>
            <a:endParaRPr lang="en-US" sz="800" dirty="0"/>
          </a:p>
        </p:txBody>
      </p:sp>
      <p:sp>
        <p:nvSpPr>
          <p:cNvPr id="46" name="Shape 40"/>
          <p:cNvSpPr/>
          <p:nvPr/>
        </p:nvSpPr>
        <p:spPr>
          <a:xfrm>
            <a:off x="502920" y="5806440"/>
            <a:ext cx="11219688" cy="475488"/>
          </a:xfrm>
          <a:prstGeom prst="rect">
            <a:avLst/>
          </a:prstGeom>
          <a:solidFill>
            <a:srgbClr val="EFF3F7"/>
          </a:solidFill>
          <a:ln w="12700">
            <a:solidFill>
              <a:srgbClr val="EFF3F7"/>
            </a:solidFill>
            <a:prstDash val="solid"/>
          </a:ln>
        </p:spPr>
      </p:sp>
      <p:sp>
        <p:nvSpPr>
          <p:cNvPr id="47" name="Text 41"/>
          <p:cNvSpPr txBox="1"/>
          <p:nvPr/>
        </p:nvSpPr>
        <p:spPr>
          <a:xfrm>
            <a:off x="685800" y="5806440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상태</a:t>
            </a:r>
            <a:endParaRPr lang="en-US" sz="900" dirty="0"/>
          </a:p>
        </p:txBody>
      </p:sp>
      <p:sp>
        <p:nvSpPr>
          <p:cNvPr id="48" name="Text 42"/>
          <p:cNvSpPr txBox="1"/>
          <p:nvPr/>
        </p:nvSpPr>
        <p:spPr>
          <a:xfrm>
            <a:off x="1600200" y="5806440"/>
            <a:ext cx="4023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■ 정상   □ 결과없음   □ 오류   □ 처리불가   ■ 완료</a:t>
            </a:r>
            <a:endParaRPr lang="en-US" sz="900" dirty="0"/>
          </a:p>
        </p:txBody>
      </p:sp>
      <p:sp>
        <p:nvSpPr>
          <p:cNvPr id="49" name="Text 43"/>
          <p:cNvSpPr txBox="1"/>
          <p:nvPr/>
        </p:nvSpPr>
        <p:spPr>
          <a:xfrm>
            <a:off x="5669280" y="5806440"/>
            <a:ext cx="868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이동 화면</a:t>
            </a:r>
            <a:endParaRPr lang="en-US" sz="900" dirty="0"/>
          </a:p>
        </p:txBody>
      </p:sp>
      <p:sp>
        <p:nvSpPr>
          <p:cNvPr id="50" name="Text 44"/>
          <p:cNvSpPr txBox="1"/>
          <p:nvPr/>
        </p:nvSpPr>
        <p:spPr>
          <a:xfrm>
            <a:off x="6537960" y="5806440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로그아웃 확인 → 세션 해제 → SCR-C-001 로그인</a:t>
            </a:r>
            <a:endParaRPr lang="en-US" sz="900" dirty="0"/>
          </a:p>
        </p:txBody>
      </p:sp>
      <p:sp>
        <p:nvSpPr>
          <p:cNvPr id="52" name="Text 45"/>
          <p:cNvSpPr txBox="1"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82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정보시스템 캡스톤디자인 | 화면설계서·Storyboard Template</a:t>
            </a:r>
            <a:endParaRPr lang="en-US" sz="800" dirty="0"/>
          </a:p>
        </p:txBody>
      </p:sp>
      <p:sp>
        <p:nvSpPr>
          <p:cNvPr id="1002" name="Callout 1 circle"/>
          <p:cNvSpPr/>
          <p:nvPr/>
        </p:nvSpPr>
        <p:spPr>
          <a:xfrm>
            <a:off x="1405233" y="1900498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03" name="Callout 1 number"/>
          <p:cNvSpPr txBox="1"/>
          <p:nvPr/>
        </p:nvSpPr>
        <p:spPr>
          <a:xfrm>
            <a:off x="1405233" y="190049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  <p:sp>
        <p:nvSpPr>
          <p:cNvPr id="1004" name="Callout 2 circle"/>
          <p:cNvSpPr/>
          <p:nvPr/>
        </p:nvSpPr>
        <p:spPr>
          <a:xfrm>
            <a:off x="1269316" y="2090998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05" name="Callout 2 number"/>
          <p:cNvSpPr txBox="1"/>
          <p:nvPr/>
        </p:nvSpPr>
        <p:spPr>
          <a:xfrm>
            <a:off x="1269316" y="209099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  <p:sp>
        <p:nvSpPr>
          <p:cNvPr id="1006" name="Callout 3 circle"/>
          <p:cNvSpPr/>
          <p:nvPr/>
        </p:nvSpPr>
        <p:spPr>
          <a:xfrm>
            <a:off x="1083795" y="2569616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07" name="Callout 3 number"/>
          <p:cNvSpPr txBox="1"/>
          <p:nvPr/>
        </p:nvSpPr>
        <p:spPr>
          <a:xfrm>
            <a:off x="1083795" y="256961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  <p:sp>
        <p:nvSpPr>
          <p:cNvPr id="1008" name="Callout 4 circle"/>
          <p:cNvSpPr/>
          <p:nvPr/>
        </p:nvSpPr>
        <p:spPr>
          <a:xfrm>
            <a:off x="603504" y="2807774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09" name="Callout 4 number"/>
          <p:cNvSpPr txBox="1"/>
          <p:nvPr/>
        </p:nvSpPr>
        <p:spPr>
          <a:xfrm>
            <a:off x="603504" y="280777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  <p:sp>
        <p:nvSpPr>
          <p:cNvPr id="1010" name="Callout 5 circle"/>
          <p:cNvSpPr/>
          <p:nvPr/>
        </p:nvSpPr>
        <p:spPr>
          <a:xfrm>
            <a:off x="603504" y="2998274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11" name="Callout 5 number"/>
          <p:cNvSpPr txBox="1"/>
          <p:nvPr/>
        </p:nvSpPr>
        <p:spPr>
          <a:xfrm>
            <a:off x="603504" y="299827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00" dirty="0"/>
          </a:p>
        </p:txBody>
      </p:sp>
      <p:sp>
        <p:nvSpPr>
          <p:cNvPr id="1012" name="Callout 6 circle"/>
          <p:cNvSpPr/>
          <p:nvPr/>
        </p:nvSpPr>
        <p:spPr>
          <a:xfrm>
            <a:off x="603504" y="3188774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13" name="Callout 6 number"/>
          <p:cNvSpPr txBox="1"/>
          <p:nvPr/>
        </p:nvSpPr>
        <p:spPr>
          <a:xfrm>
            <a:off x="603504" y="318877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00" dirty="0"/>
          </a:p>
        </p:txBody>
      </p:sp>
      <p:sp>
        <p:nvSpPr>
          <p:cNvPr id="1014" name="Callout 7 circle"/>
          <p:cNvSpPr/>
          <p:nvPr/>
        </p:nvSpPr>
        <p:spPr>
          <a:xfrm>
            <a:off x="603504" y="3379274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15" name="Callout 7 number"/>
          <p:cNvSpPr txBox="1"/>
          <p:nvPr/>
        </p:nvSpPr>
        <p:spPr>
          <a:xfrm>
            <a:off x="603504" y="337927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800" dirty="0"/>
          </a:p>
        </p:txBody>
      </p:sp>
      <p:sp>
        <p:nvSpPr>
          <p:cNvPr id="1016" name="Callout 8 circle"/>
          <p:cNvSpPr/>
          <p:nvPr/>
        </p:nvSpPr>
        <p:spPr>
          <a:xfrm>
            <a:off x="603504" y="3569774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17" name="Callout 8 number"/>
          <p:cNvSpPr txBox="1"/>
          <p:nvPr/>
        </p:nvSpPr>
        <p:spPr>
          <a:xfrm>
            <a:off x="603504" y="356977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800" dirty="0"/>
          </a:p>
        </p:txBody>
      </p:sp>
      <p:sp>
        <p:nvSpPr>
          <p:cNvPr id="1018" name="Callout 9 circle"/>
          <p:cNvSpPr/>
          <p:nvPr/>
        </p:nvSpPr>
        <p:spPr>
          <a:xfrm>
            <a:off x="603504" y="4672942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19" name="Callout 9 number"/>
          <p:cNvSpPr txBox="1"/>
          <p:nvPr/>
        </p:nvSpPr>
        <p:spPr>
          <a:xfrm>
            <a:off x="603504" y="467294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800" dirty="0"/>
          </a:p>
        </p:txBody>
      </p:sp>
      <p:sp>
        <p:nvSpPr>
          <p:cNvPr id="1020" name="Callout 10 circle"/>
          <p:cNvSpPr/>
          <p:nvPr/>
        </p:nvSpPr>
        <p:spPr>
          <a:xfrm>
            <a:off x="603504" y="4876109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21" name="Callout 10 number"/>
          <p:cNvSpPr txBox="1"/>
          <p:nvPr/>
        </p:nvSpPr>
        <p:spPr>
          <a:xfrm>
            <a:off x="603504" y="4876109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800" dirty="0"/>
          </a:p>
        </p:txBody>
      </p:sp>
      <p:sp>
        <p:nvSpPr>
          <p:cNvPr id="1022" name="Callout 11 circle"/>
          <p:cNvSpPr/>
          <p:nvPr/>
        </p:nvSpPr>
        <p:spPr>
          <a:xfrm>
            <a:off x="4217420" y="1894026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23" name="Callout 11 number"/>
          <p:cNvSpPr txBox="1"/>
          <p:nvPr/>
        </p:nvSpPr>
        <p:spPr>
          <a:xfrm>
            <a:off x="4217420" y="189402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800" dirty="0"/>
          </a:p>
        </p:txBody>
      </p:sp>
      <p:sp>
        <p:nvSpPr>
          <p:cNvPr id="1024" name="Callout 12 circle"/>
          <p:cNvSpPr/>
          <p:nvPr/>
        </p:nvSpPr>
        <p:spPr>
          <a:xfrm>
            <a:off x="6448231" y="3120632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25" name="Callout 12 number"/>
          <p:cNvSpPr txBox="1"/>
          <p:nvPr/>
        </p:nvSpPr>
        <p:spPr>
          <a:xfrm>
            <a:off x="6448231" y="312063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800" dirty="0"/>
          </a:p>
        </p:txBody>
      </p:sp>
      <p:sp>
        <p:nvSpPr>
          <p:cNvPr id="1026" name="Callout 13 circle"/>
          <p:cNvSpPr/>
          <p:nvPr/>
        </p:nvSpPr>
        <p:spPr>
          <a:xfrm>
            <a:off x="6315267" y="3541477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27" name="Callout 13 number"/>
          <p:cNvSpPr txBox="1"/>
          <p:nvPr/>
        </p:nvSpPr>
        <p:spPr>
          <a:xfrm>
            <a:off x="6315267" y="3541477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ns2="http://schemas.microsoft.com/office/powerpoint/2010/main" xmlns:p="http://schemas.openxmlformats.org/presentationml/2006/main" xmlns:r="http://schemas.openxmlformats.org/officeDocument/2006/relationships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16459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화면설계서 · Storyboard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18288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64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/ 04 · 한눈에 보기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11480" y="621792"/>
            <a:ext cx="11338560" cy="27432"/>
          </a:xfrm>
          <a:prstGeom prst="rect">
            <a:avLst/>
          </a:prstGeom>
          <a:solidFill>
            <a:srgbClr val="4371A0"/>
          </a:solidFill>
          <a:ln w="12700">
            <a:solidFill>
              <a:srgbClr val="4371A0"/>
            </a:solidFill>
            <a:prstDash val="solid"/>
          </a:ln>
        </p:spPr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ns2:modId val="1579011935"/>
              </p:ext>
            </p:extLst>
          </p:nvPr>
        </p:nvGraphicFramePr>
        <p:xfrm>
          <a:off x="502920" y="731520"/>
          <a:ext cx="11219688" cy="914400"/>
        </p:xfrm>
        <a:graphic>
          <a:graphicData uri="http://schemas.openxmlformats.org/drawingml/2006/table">
            <a:tbl>
              <a:tblPr/>
              <a:tblGrid>
                <a:gridCol w="804672"/>
                <a:gridCol w="1188720"/>
                <a:gridCol w="621792"/>
                <a:gridCol w="1417320"/>
                <a:gridCol w="548640"/>
                <a:gridCol w="1325880"/>
                <a:gridCol w="658368"/>
                <a:gridCol w="2423160"/>
                <a:gridCol w="475488"/>
                <a:gridCol w="1755648"/>
              </a:tblGrid>
              <a:tr h="4937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63E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Screen ID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SCR-C-002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63E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화면명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한눈에 보기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63E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Actor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사용자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63E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관련 UC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UC01·UC02·UC03·UC10 (진입·요약)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63E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경로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메인(한눈에 보기)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02920" y="1325880"/>
            <a:ext cx="6355080" cy="4389120"/>
          </a:xfrm>
          <a:prstGeom prst="rect">
            <a:avLst/>
          </a:prstGeom>
          <a:solidFill>
            <a:srgbClr val="FFFFFF"/>
          </a:solidFill>
          <a:ln w="9525">
            <a:solidFill>
              <a:srgbClr val="B9C6D4"/>
            </a:solidFill>
            <a:prstDash val="solid"/>
          </a:ln>
        </p:spPr>
      </p:sp>
      <p:pic>
        <p:nvPicPr>
          <p:cNvPr id="7" name="Image 0" descr="overview | Figma Make screenshot | https://blob-silver-16955234.figma.site/#overview" title="overview">
            <a:hlinkClick r:id="rIdRevisedMake" tooltip="Figma Make 수정본 열기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26912" y="1389888"/>
            <a:ext cx="4116240" cy="4242816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1626912" y="1389888"/>
            <a:ext cx="4116240" cy="4242816"/>
          </a:xfrm>
          <a:prstGeom prst="rect">
            <a:avLst/>
          </a:prstGeom>
          <a:ln w="6350">
            <a:solidFill>
              <a:srgbClr val="D0D7DE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6995160" y="1325880"/>
            <a:ext cx="4727448" cy="4389120"/>
          </a:xfrm>
          <a:prstGeom prst="rect">
            <a:avLst/>
          </a:prstGeom>
          <a:solidFill>
            <a:srgbClr val="FFFFFF"/>
          </a:solidFill>
          <a:ln w="9525">
            <a:solidFill>
              <a:srgbClr val="B9C6D4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6995160" y="1325880"/>
            <a:ext cx="4727448" cy="365760"/>
          </a:xfrm>
          <a:prstGeom prst="rect">
            <a:avLst/>
          </a:prstGeom>
          <a:solidFill>
            <a:srgbClr val="263E5C"/>
          </a:solidFill>
          <a:ln w="12700">
            <a:solidFill>
              <a:srgbClr val="263E5C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6995160" y="1325880"/>
            <a:ext cx="4727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Description (화면설명)</a:t>
            </a:r>
            <a:endParaRPr lang="en-US" sz="1000" dirty="0"/>
          </a:p>
        </p:txBody>
      </p:sp>
      <p:graphicFrame>
        <p:nvGraphicFramePr>
          <p:cNvPr id="27" name="Table 1"/>
          <p:cNvGraphicFramePr>
            <a:graphicFrameLocks noGrp="1"/>
          </p:cNvGraphicFramePr>
          <p:nvPr>
            <p:extLst>
              <p:ext uri="{D42A27DB-BD31-4B8C-83A1-F6EECF244321}">
                <ns2:modId val="1579011935"/>
              </p:ext>
            </p:extLst>
          </p:nvPr>
        </p:nvGraphicFramePr>
        <p:xfrm>
          <a:off x="7050024" y="1755648"/>
          <a:ext cx="4617720" cy="914400"/>
        </p:xfrm>
        <a:graphic>
          <a:graphicData uri="http://schemas.openxmlformats.org/drawingml/2006/table">
            <a:tbl>
              <a:tblPr/>
              <a:tblGrid>
                <a:gridCol w="274320"/>
                <a:gridCol w="4343400"/>
              </a:tblGrid>
              <a:tr h="1844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①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지역 선택 → 해당 지역 분석·제안 조회 → 관련 화면에 같은 조건 적용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44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②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기준 연도 확인 → 조회 자료의 기간 표시 → 결과의 자료 기준 안내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44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③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방문·소비 선택 → 해당 지표 조회 → 그래프 표시·자료 없으면 안내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44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④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수치 표 보기 클릭 → 그래프 값을 표로 변환 → 월별 표 펼침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39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⑤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자료 출처·기준 클릭 → 출처·기간·집계 기준 조회 → 안내 표시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44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⑥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모든 제안 클릭 → 선택 지역 유지 → SCR-C-004 홍보 제안 조회 이동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39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⑦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제안 요약 확인 → 지역별 제안 조회 → 시기·대상·판단 이유 표시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39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⑧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일정 요약 클릭 → 권한 내 계획 조회 → SCR-B-001 이동·계획 없으면 추가 안내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000" name="Shape 22"/>
          <p:cNvSpPr/>
          <p:nvPr/>
        </p:nvSpPr>
        <p:spPr>
          <a:xfrm>
            <a:off x="7050024" y="4967414"/>
            <a:ext cx="4617720" cy="692722"/>
          </a:xfrm>
          <a:prstGeom prst="rect">
            <a:avLst/>
          </a:prstGeom>
          <a:solidFill>
            <a:srgbClr val="F7F9FB"/>
          </a:solidFill>
          <a:ln w="6350">
            <a:solidFill>
              <a:srgbClr val="E1E7EE"/>
            </a:solidFill>
            <a:prstDash val="solid"/>
          </a:ln>
        </p:spPr>
      </p:sp>
      <p:sp>
        <p:nvSpPr>
          <p:cNvPr id="28" name="Text 23"/>
          <p:cNvSpPr txBox="1"/>
          <p:nvPr/>
        </p:nvSpPr>
        <p:spPr>
          <a:xfrm>
            <a:off x="7104888" y="4994846"/>
            <a:ext cx="4507992" cy="6378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8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비고</a:t>
            </a:r>
            <a:endParaRPr lang="en-US" sz="8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750" dirty="0">
                <a:solidFill>
                  <a:srgbClr val="6464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자료 없음은 0으로 대체하지 않고 조건 변경을 안내</a:t>
            </a:r>
            <a:endParaRPr lang="en-US" sz="8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750" dirty="0">
                <a:solidFill>
                  <a:srgbClr val="6464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일정 요약은 본인 또는 관리 권한을 받은 사업체의 계획만 표시</a:t>
            </a:r>
            <a:endParaRPr lang="en-US" sz="8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750" dirty="0">
                <a:solidFill>
                  <a:srgbClr val="6464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메뉴·로그아웃은 SCR-C-000 참조</a:t>
            </a:r>
            <a:endParaRPr lang="en-US" sz="800" dirty="0"/>
          </a:p>
        </p:txBody>
      </p:sp>
      <p:sp>
        <p:nvSpPr>
          <p:cNvPr id="29" name="Shape 24"/>
          <p:cNvSpPr/>
          <p:nvPr/>
        </p:nvSpPr>
        <p:spPr>
          <a:xfrm>
            <a:off x="502920" y="5806440"/>
            <a:ext cx="11219688" cy="475488"/>
          </a:xfrm>
          <a:prstGeom prst="rect">
            <a:avLst/>
          </a:prstGeom>
          <a:solidFill>
            <a:srgbClr val="EFF3F7"/>
          </a:solidFill>
          <a:ln w="12700">
            <a:solidFill>
              <a:srgbClr val="EFF3F7"/>
            </a:solidFill>
            <a:prstDash val="solid"/>
          </a:ln>
        </p:spPr>
      </p:sp>
      <p:sp>
        <p:nvSpPr>
          <p:cNvPr id="30" name="Text 25"/>
          <p:cNvSpPr txBox="1"/>
          <p:nvPr/>
        </p:nvSpPr>
        <p:spPr>
          <a:xfrm>
            <a:off x="685800" y="5806440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상태</a:t>
            </a:r>
            <a:endParaRPr lang="en-US" sz="900" dirty="0"/>
          </a:p>
        </p:txBody>
      </p:sp>
      <p:sp>
        <p:nvSpPr>
          <p:cNvPr id="31" name="Text 26"/>
          <p:cNvSpPr txBox="1"/>
          <p:nvPr/>
        </p:nvSpPr>
        <p:spPr>
          <a:xfrm>
            <a:off x="1600200" y="5806440"/>
            <a:ext cx="4023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■ 정상   ■ 결과없음   □ 오류   □ 처리불가   □ 완료</a:t>
            </a:r>
            <a:endParaRPr lang="en-US" sz="900" dirty="0"/>
          </a:p>
        </p:txBody>
      </p:sp>
      <p:sp>
        <p:nvSpPr>
          <p:cNvPr id="32" name="Text 27"/>
          <p:cNvSpPr txBox="1"/>
          <p:nvPr/>
        </p:nvSpPr>
        <p:spPr>
          <a:xfrm>
            <a:off x="5669280" y="5806440"/>
            <a:ext cx="868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이동 화면</a:t>
            </a:r>
            <a:endParaRPr lang="en-US" sz="900" dirty="0"/>
          </a:p>
        </p:txBody>
      </p:sp>
      <p:sp>
        <p:nvSpPr>
          <p:cNvPr id="33" name="Text 28"/>
          <p:cNvSpPr txBox="1"/>
          <p:nvPr/>
        </p:nvSpPr>
        <p:spPr>
          <a:xfrm>
            <a:off x="6537960" y="5806440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제안 → SCR-C-004 / 일정 요약 → SCR-B-001</a:t>
            </a:r>
            <a:endParaRPr lang="en-US" sz="900" dirty="0"/>
          </a:p>
        </p:txBody>
      </p:sp>
      <p:sp>
        <p:nvSpPr>
          <p:cNvPr id="35" name="Text 29"/>
          <p:cNvSpPr txBox="1"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82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정보시스템 캡스톤디자인 | 화면설계서·Storyboard Template</a:t>
            </a:r>
            <a:endParaRPr lang="en-US" sz="800" dirty="0"/>
          </a:p>
        </p:txBody>
      </p:sp>
      <p:sp>
        <p:nvSpPr>
          <p:cNvPr id="1002" name="Callout 1 circle"/>
          <p:cNvSpPr/>
          <p:nvPr/>
        </p:nvSpPr>
        <p:spPr>
          <a:xfrm>
            <a:off x="1992167" y="2029048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03" name="Callout 1 number"/>
          <p:cNvSpPr txBox="1"/>
          <p:nvPr/>
        </p:nvSpPr>
        <p:spPr>
          <a:xfrm>
            <a:off x="1992167" y="202904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  <p:sp>
        <p:nvSpPr>
          <p:cNvPr id="1004" name="Callout 2 circle"/>
          <p:cNvSpPr/>
          <p:nvPr/>
        </p:nvSpPr>
        <p:spPr>
          <a:xfrm>
            <a:off x="2295301" y="1993151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05" name="Callout 2 number"/>
          <p:cNvSpPr txBox="1"/>
          <p:nvPr/>
        </p:nvSpPr>
        <p:spPr>
          <a:xfrm>
            <a:off x="2295301" y="1993151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  <p:sp>
        <p:nvSpPr>
          <p:cNvPr id="1006" name="Callout 3 circle"/>
          <p:cNvSpPr/>
          <p:nvPr/>
        </p:nvSpPr>
        <p:spPr>
          <a:xfrm>
            <a:off x="4993966" y="2332182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07" name="Callout 3 number"/>
          <p:cNvSpPr txBox="1"/>
          <p:nvPr/>
        </p:nvSpPr>
        <p:spPr>
          <a:xfrm>
            <a:off x="4993966" y="233218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  <p:sp>
        <p:nvSpPr>
          <p:cNvPr id="1008" name="Callout 4 circle"/>
          <p:cNvSpPr/>
          <p:nvPr/>
        </p:nvSpPr>
        <p:spPr>
          <a:xfrm>
            <a:off x="1746868" y="3558180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09" name="Callout 4 number"/>
          <p:cNvSpPr txBox="1"/>
          <p:nvPr/>
        </p:nvSpPr>
        <p:spPr>
          <a:xfrm>
            <a:off x="1746868" y="355818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  <p:sp>
        <p:nvSpPr>
          <p:cNvPr id="1010" name="Callout 5 circle"/>
          <p:cNvSpPr/>
          <p:nvPr/>
        </p:nvSpPr>
        <p:spPr>
          <a:xfrm>
            <a:off x="5101285" y="3786278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11" name="Callout 5 number"/>
          <p:cNvSpPr txBox="1"/>
          <p:nvPr/>
        </p:nvSpPr>
        <p:spPr>
          <a:xfrm>
            <a:off x="5101285" y="378627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00" dirty="0"/>
          </a:p>
        </p:txBody>
      </p:sp>
      <p:sp>
        <p:nvSpPr>
          <p:cNvPr id="1012" name="Callout 6 circle"/>
          <p:cNvSpPr/>
          <p:nvPr/>
        </p:nvSpPr>
        <p:spPr>
          <a:xfrm>
            <a:off x="5108015" y="4571036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13" name="Callout 6 number"/>
          <p:cNvSpPr txBox="1"/>
          <p:nvPr/>
        </p:nvSpPr>
        <p:spPr>
          <a:xfrm>
            <a:off x="5108015" y="457103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00" dirty="0"/>
          </a:p>
        </p:txBody>
      </p:sp>
      <p:sp>
        <p:nvSpPr>
          <p:cNvPr id="1014" name="Callout 7 circle"/>
          <p:cNvSpPr/>
          <p:nvPr/>
        </p:nvSpPr>
        <p:spPr>
          <a:xfrm>
            <a:off x="1647153" y="4803871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15" name="Callout 7 number"/>
          <p:cNvSpPr txBox="1"/>
          <p:nvPr/>
        </p:nvSpPr>
        <p:spPr>
          <a:xfrm>
            <a:off x="1647153" y="4803871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800" dirty="0"/>
          </a:p>
        </p:txBody>
      </p:sp>
      <p:sp>
        <p:nvSpPr>
          <p:cNvPr id="1016" name="Callout 8 circle"/>
          <p:cNvSpPr/>
          <p:nvPr/>
        </p:nvSpPr>
        <p:spPr>
          <a:xfrm>
            <a:off x="1647153" y="4089412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17" name="Callout 8 number"/>
          <p:cNvSpPr txBox="1"/>
          <p:nvPr/>
        </p:nvSpPr>
        <p:spPr>
          <a:xfrm>
            <a:off x="1647153" y="408941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ns2="http://schemas.microsoft.com/office/powerpoint/2010/main" xmlns:p="http://schemas.openxmlformats.org/presentationml/2006/main" xmlns:r="http://schemas.openxmlformats.org/officeDocument/2006/relationships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16459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화면설계서 · Storyboard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18288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64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/ 05 · 지역 분석 · 방문과 계절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11480" y="621792"/>
            <a:ext cx="11338560" cy="27432"/>
          </a:xfrm>
          <a:prstGeom prst="rect">
            <a:avLst/>
          </a:prstGeom>
          <a:solidFill>
            <a:srgbClr val="4371A0"/>
          </a:solidFill>
          <a:ln w="12700">
            <a:solidFill>
              <a:srgbClr val="4371A0"/>
            </a:solidFill>
            <a:prstDash val="solid"/>
          </a:ln>
        </p:spPr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ns2:modId val="1579011935"/>
              </p:ext>
            </p:extLst>
          </p:nvPr>
        </p:nvGraphicFramePr>
        <p:xfrm>
          <a:off x="502920" y="731520"/>
          <a:ext cx="11219688" cy="914400"/>
        </p:xfrm>
        <a:graphic>
          <a:graphicData uri="http://schemas.openxmlformats.org/drawingml/2006/table">
            <a:tbl>
              <a:tblPr/>
              <a:tblGrid>
                <a:gridCol w="804672"/>
                <a:gridCol w="1188720"/>
                <a:gridCol w="621792"/>
                <a:gridCol w="1417320"/>
                <a:gridCol w="548640"/>
                <a:gridCol w="1325880"/>
                <a:gridCol w="658368"/>
                <a:gridCol w="2423160"/>
                <a:gridCol w="475488"/>
                <a:gridCol w="1755648"/>
              </a:tblGrid>
              <a:tr h="4937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63E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Screen ID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SCR-C-003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63E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화면명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지역 분석 · 방문과 계절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63E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Actor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사용자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63E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관련 UC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UC01 지역별 방문 분석 조회 · UC10 자료 출처·기준 표시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63E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경로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메인 &gt; 지역 분석 &gt; 방문·계절 비교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02920" y="1325880"/>
            <a:ext cx="6355080" cy="4389120"/>
          </a:xfrm>
          <a:prstGeom prst="rect">
            <a:avLst/>
          </a:prstGeom>
          <a:solidFill>
            <a:srgbClr val="FFFFFF"/>
          </a:solidFill>
          <a:ln w="9525">
            <a:solidFill>
              <a:srgbClr val="B9C6D4"/>
            </a:solidFill>
            <a:prstDash val="solid"/>
          </a:ln>
        </p:spPr>
      </p:sp>
      <p:pic>
        <p:nvPicPr>
          <p:cNvPr id="7" name="Image 0" descr="analysis-visits | Figma Make screenshot | https://blob-silver-16955234.figma.site/#analysis" title="analysis-visits">
            <a:hlinkClick r:id="rIdRevisedMake" tooltip="Figma Make 수정본 열기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78261" y="1389888"/>
            <a:ext cx="4013542" cy="4242816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1678261" y="1389888"/>
            <a:ext cx="4013542" cy="4242816"/>
          </a:xfrm>
          <a:prstGeom prst="rect">
            <a:avLst/>
          </a:prstGeom>
          <a:ln w="6350">
            <a:solidFill>
              <a:srgbClr val="D0D7DE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6995160" y="1325880"/>
            <a:ext cx="4727448" cy="4389120"/>
          </a:xfrm>
          <a:prstGeom prst="rect">
            <a:avLst/>
          </a:prstGeom>
          <a:solidFill>
            <a:srgbClr val="FFFFFF"/>
          </a:solidFill>
          <a:ln w="9525">
            <a:solidFill>
              <a:srgbClr val="B9C6D4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6995160" y="1325880"/>
            <a:ext cx="4727448" cy="365760"/>
          </a:xfrm>
          <a:prstGeom prst="rect">
            <a:avLst/>
          </a:prstGeom>
          <a:solidFill>
            <a:srgbClr val="263E5C"/>
          </a:solidFill>
          <a:ln w="12700">
            <a:solidFill>
              <a:srgbClr val="263E5C"/>
            </a:solidFill>
            <a:prstDash val="solid"/>
          </a:ln>
        </p:spPr>
      </p:sp>
      <p:sp>
        <p:nvSpPr>
          <p:cNvPr id="29" name="Text 25"/>
          <p:cNvSpPr txBox="1"/>
          <p:nvPr/>
        </p:nvSpPr>
        <p:spPr>
          <a:xfrm>
            <a:off x="6995160" y="1325880"/>
            <a:ext cx="4727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Description (화면설명)</a:t>
            </a:r>
            <a:endParaRPr lang="en-US" sz="1000" dirty="0"/>
          </a:p>
        </p:txBody>
      </p:sp>
      <p:graphicFrame>
        <p:nvGraphicFramePr>
          <p:cNvPr id="2000" name="Table 1"/>
          <p:cNvGraphicFramePr>
            <a:graphicFrameLocks noGrp="1"/>
          </p:cNvGraphicFramePr>
          <p:nvPr>
            <p:extLst>
              <p:ext uri="{D42A27DB-BD31-4B8C-83A1-F6EECF244321}">
                <ns2:modId val="1579011935"/>
              </p:ext>
            </p:extLst>
          </p:nvPr>
        </p:nvGraphicFramePr>
        <p:xfrm>
          <a:off x="7050024" y="1755648"/>
          <a:ext cx="4617720" cy="914400"/>
        </p:xfrm>
        <a:graphic>
          <a:graphicData uri="http://schemas.openxmlformats.org/drawingml/2006/table">
            <a:tbl>
              <a:tblPr/>
              <a:tblGrid>
                <a:gridCol w="274320"/>
                <a:gridCol w="4343400"/>
              </a:tblGrid>
              <a:tr h="1844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①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지역 선택 → 같은 기간의 방문 자료 조회 → 그래프·지역 비교 갱신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44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②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연도 선택 → 자료 보유 여부 확인 → 결과 또는 자료 없음 안내 표시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44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③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소비 비교 탭 클릭 → 지역·연도 유지 → 소비 비교 탭 표시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44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④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지도에서 지역 클릭 → 분석 지역 변경 → 그래프·비교 표 갱신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44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⑤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월별 추이 확인 → 월별 방문 집계 → 최다·최저 방문 구간 표시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44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⑥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방문·소비 선택 → 해당 지표 조회 → 단위에 맞춰 그래프 갱신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44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⑦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수치 표 보기 클릭 → 그래프 값을 표로 변환 → 월별 표 펼침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39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⑧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자료 출처·기준 클릭 → 출처·기간·집계 기준 조회 → 안내 표시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39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⑨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비교 표 확인 → 같은 기준으로 계절별 집계 → 지역별 최다·최저 월 표시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1" name="Shape 26"/>
          <p:cNvSpPr/>
          <p:nvPr/>
        </p:nvSpPr>
        <p:spPr>
          <a:xfrm>
            <a:off x="7050024" y="4967414"/>
            <a:ext cx="4617720" cy="692722"/>
          </a:xfrm>
          <a:prstGeom prst="rect">
            <a:avLst/>
          </a:prstGeom>
          <a:solidFill>
            <a:srgbClr val="F7F9FB"/>
          </a:solidFill>
          <a:ln w="6350">
            <a:solidFill>
              <a:srgbClr val="E1E7EE"/>
            </a:solidFill>
            <a:prstDash val="solid"/>
          </a:ln>
        </p:spPr>
      </p:sp>
      <p:sp>
        <p:nvSpPr>
          <p:cNvPr id="32" name="Text 27"/>
          <p:cNvSpPr txBox="1"/>
          <p:nvPr/>
        </p:nvSpPr>
        <p:spPr>
          <a:xfrm>
            <a:off x="7104888" y="4994846"/>
            <a:ext cx="4507992" cy="6378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8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비고</a:t>
            </a:r>
            <a:endParaRPr lang="en-US" sz="8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750" dirty="0">
                <a:solidFill>
                  <a:srgbClr val="6464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지역 방문 집계는 개별 가게의 실제 손님 수가 아님</a:t>
            </a:r>
            <a:endParaRPr lang="en-US" sz="8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750" dirty="0">
                <a:solidFill>
                  <a:srgbClr val="6464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자료가 없는 조건은 자료 없음 상태로 표시</a:t>
            </a:r>
            <a:endParaRPr lang="en-US" sz="8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750" dirty="0">
                <a:solidFill>
                  <a:srgbClr val="6464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지도는 지역 선택을 위한 위치 개념도</a:t>
            </a:r>
            <a:endParaRPr lang="en-US" sz="800" dirty="0"/>
          </a:p>
        </p:txBody>
      </p:sp>
      <p:sp>
        <p:nvSpPr>
          <p:cNvPr id="33" name="Shape 28"/>
          <p:cNvSpPr/>
          <p:nvPr/>
        </p:nvSpPr>
        <p:spPr>
          <a:xfrm>
            <a:off x="502920" y="5806440"/>
            <a:ext cx="11219688" cy="475488"/>
          </a:xfrm>
          <a:prstGeom prst="rect">
            <a:avLst/>
          </a:prstGeom>
          <a:solidFill>
            <a:srgbClr val="EFF3F7"/>
          </a:solidFill>
          <a:ln w="12700">
            <a:solidFill>
              <a:srgbClr val="EFF3F7"/>
            </a:solidFill>
            <a:prstDash val="solid"/>
          </a:ln>
        </p:spPr>
      </p:sp>
      <p:sp>
        <p:nvSpPr>
          <p:cNvPr id="34" name="Text 29"/>
          <p:cNvSpPr txBox="1"/>
          <p:nvPr/>
        </p:nvSpPr>
        <p:spPr>
          <a:xfrm>
            <a:off x="685800" y="5806440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상태</a:t>
            </a:r>
            <a:endParaRPr lang="en-US" sz="900" dirty="0"/>
          </a:p>
        </p:txBody>
      </p:sp>
      <p:sp>
        <p:nvSpPr>
          <p:cNvPr id="35" name="Text 30"/>
          <p:cNvSpPr txBox="1"/>
          <p:nvPr/>
        </p:nvSpPr>
        <p:spPr>
          <a:xfrm>
            <a:off x="1600200" y="5806440"/>
            <a:ext cx="4023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■ 정상   ■ 결과없음   □ 오류   □ 처리불가   □ 완료</a:t>
            </a:r>
            <a:endParaRPr lang="en-US" sz="900" dirty="0"/>
          </a:p>
        </p:txBody>
      </p:sp>
      <p:sp>
        <p:nvSpPr>
          <p:cNvPr id="36" name="Text 31"/>
          <p:cNvSpPr txBox="1"/>
          <p:nvPr/>
        </p:nvSpPr>
        <p:spPr>
          <a:xfrm>
            <a:off x="5669280" y="5806440"/>
            <a:ext cx="868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이동 화면</a:t>
            </a:r>
            <a:endParaRPr lang="en-US" sz="900" dirty="0"/>
          </a:p>
        </p:txBody>
      </p:sp>
      <p:sp>
        <p:nvSpPr>
          <p:cNvPr id="37" name="Text 32"/>
          <p:cNvSpPr txBox="1"/>
          <p:nvPr/>
        </p:nvSpPr>
        <p:spPr>
          <a:xfrm>
            <a:off x="6537960" y="5806440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소비 비교 탭 클릭 → 조건 유지 → SCR-C-003 소비 비교</a:t>
            </a:r>
            <a:endParaRPr lang="en-US" sz="900" dirty="0"/>
          </a:p>
        </p:txBody>
      </p:sp>
      <p:sp>
        <p:nvSpPr>
          <p:cNvPr id="39" name="Text 33"/>
          <p:cNvSpPr txBox="1"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82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정보시스템 캡스톤디자인 | 화면설계서·Storyboard Template</a:t>
            </a:r>
            <a:endParaRPr lang="en-US" sz="800" dirty="0"/>
          </a:p>
        </p:txBody>
      </p:sp>
      <p:sp>
        <p:nvSpPr>
          <p:cNvPr id="1002" name="Callout 1 circle"/>
          <p:cNvSpPr/>
          <p:nvPr/>
        </p:nvSpPr>
        <p:spPr>
          <a:xfrm>
            <a:off x="2032122" y="2010820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03" name="Callout 1 number"/>
          <p:cNvSpPr txBox="1"/>
          <p:nvPr/>
        </p:nvSpPr>
        <p:spPr>
          <a:xfrm>
            <a:off x="2032122" y="201082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  <p:sp>
        <p:nvSpPr>
          <p:cNvPr id="1004" name="Callout 2 circle"/>
          <p:cNvSpPr/>
          <p:nvPr/>
        </p:nvSpPr>
        <p:spPr>
          <a:xfrm>
            <a:off x="2664099" y="2010820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05" name="Callout 2 number"/>
          <p:cNvSpPr txBox="1"/>
          <p:nvPr/>
        </p:nvSpPr>
        <p:spPr>
          <a:xfrm>
            <a:off x="2664099" y="201082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  <p:sp>
        <p:nvSpPr>
          <p:cNvPr id="1006" name="Callout 3 circle"/>
          <p:cNvSpPr/>
          <p:nvPr/>
        </p:nvSpPr>
        <p:spPr>
          <a:xfrm>
            <a:off x="2064693" y="2232498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07" name="Callout 3 number"/>
          <p:cNvSpPr txBox="1"/>
          <p:nvPr/>
        </p:nvSpPr>
        <p:spPr>
          <a:xfrm>
            <a:off x="2064693" y="223249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  <p:sp>
        <p:nvSpPr>
          <p:cNvPr id="1008" name="Callout 4 circle"/>
          <p:cNvSpPr/>
          <p:nvPr/>
        </p:nvSpPr>
        <p:spPr>
          <a:xfrm>
            <a:off x="1796832" y="2858581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09" name="Callout 4 number"/>
          <p:cNvSpPr txBox="1"/>
          <p:nvPr/>
        </p:nvSpPr>
        <p:spPr>
          <a:xfrm>
            <a:off x="1796832" y="2858581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  <p:sp>
        <p:nvSpPr>
          <p:cNvPr id="1010" name="Callout 5 circle"/>
          <p:cNvSpPr/>
          <p:nvPr/>
        </p:nvSpPr>
        <p:spPr>
          <a:xfrm>
            <a:off x="3328465" y="3010256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11" name="Callout 5 number"/>
          <p:cNvSpPr txBox="1"/>
          <p:nvPr/>
        </p:nvSpPr>
        <p:spPr>
          <a:xfrm>
            <a:off x="3328465" y="301025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00" dirty="0"/>
          </a:p>
        </p:txBody>
      </p:sp>
      <p:sp>
        <p:nvSpPr>
          <p:cNvPr id="1012" name="Callout 6 circle"/>
          <p:cNvSpPr/>
          <p:nvPr/>
        </p:nvSpPr>
        <p:spPr>
          <a:xfrm>
            <a:off x="4951189" y="2585616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13" name="Callout 6 number"/>
          <p:cNvSpPr txBox="1"/>
          <p:nvPr/>
        </p:nvSpPr>
        <p:spPr>
          <a:xfrm>
            <a:off x="4951189" y="258561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00" dirty="0"/>
          </a:p>
        </p:txBody>
      </p:sp>
      <p:sp>
        <p:nvSpPr>
          <p:cNvPr id="1014" name="Callout 7 circle"/>
          <p:cNvSpPr/>
          <p:nvPr/>
        </p:nvSpPr>
        <p:spPr>
          <a:xfrm>
            <a:off x="3328465" y="3835108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15" name="Callout 7 number"/>
          <p:cNvSpPr txBox="1"/>
          <p:nvPr/>
        </p:nvSpPr>
        <p:spPr>
          <a:xfrm>
            <a:off x="3328465" y="383510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800" dirty="0"/>
          </a:p>
        </p:txBody>
      </p:sp>
      <p:sp>
        <p:nvSpPr>
          <p:cNvPr id="1016" name="Callout 8 circle"/>
          <p:cNvSpPr/>
          <p:nvPr/>
        </p:nvSpPr>
        <p:spPr>
          <a:xfrm>
            <a:off x="5063608" y="4073071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17" name="Callout 8 number"/>
          <p:cNvSpPr txBox="1"/>
          <p:nvPr/>
        </p:nvSpPr>
        <p:spPr>
          <a:xfrm>
            <a:off x="5063608" y="4073071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800" dirty="0"/>
          </a:p>
        </p:txBody>
      </p:sp>
      <p:sp>
        <p:nvSpPr>
          <p:cNvPr id="1018" name="Callout 9 circle"/>
          <p:cNvSpPr/>
          <p:nvPr/>
        </p:nvSpPr>
        <p:spPr>
          <a:xfrm>
            <a:off x="1695716" y="4545778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19" name="Callout 9 number"/>
          <p:cNvSpPr txBox="1"/>
          <p:nvPr/>
        </p:nvSpPr>
        <p:spPr>
          <a:xfrm>
            <a:off x="1695716" y="454577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ns2="http://schemas.microsoft.com/office/powerpoint/2010/main" xmlns:p="http://schemas.openxmlformats.org/presentationml/2006/main" xmlns:r="http://schemas.openxmlformats.org/officeDocument/2006/relationships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16459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화면설계서 · Storyboard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18288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64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/ 06 · 지역 분석 · 소비 비교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11480" y="621792"/>
            <a:ext cx="11338560" cy="27432"/>
          </a:xfrm>
          <a:prstGeom prst="rect">
            <a:avLst/>
          </a:prstGeom>
          <a:solidFill>
            <a:srgbClr val="4371A0"/>
          </a:solidFill>
          <a:ln w="12700">
            <a:solidFill>
              <a:srgbClr val="4371A0"/>
            </a:solidFill>
            <a:prstDash val="solid"/>
          </a:ln>
        </p:spPr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ns2:modId val="1579011935"/>
              </p:ext>
            </p:extLst>
          </p:nvPr>
        </p:nvGraphicFramePr>
        <p:xfrm>
          <a:off x="502920" y="731520"/>
          <a:ext cx="11219688" cy="914400"/>
        </p:xfrm>
        <a:graphic>
          <a:graphicData uri="http://schemas.openxmlformats.org/drawingml/2006/table">
            <a:tbl>
              <a:tblPr/>
              <a:tblGrid>
                <a:gridCol w="804672"/>
                <a:gridCol w="1188720"/>
                <a:gridCol w="621792"/>
                <a:gridCol w="1417320"/>
                <a:gridCol w="548640"/>
                <a:gridCol w="1325880"/>
                <a:gridCol w="658368"/>
                <a:gridCol w="2423160"/>
                <a:gridCol w="475488"/>
                <a:gridCol w="1755648"/>
              </a:tblGrid>
              <a:tr h="4937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63E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Screen ID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SCR-C-003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63E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화면명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지역 분석 · 소비 비교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63E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Actor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사용자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63E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관련 UC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UC02 홍보 제안 조회 · UC10 자료 출처·기준 표시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63E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경로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메인 &gt; 지역 분석 &gt; 소비 비교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02920" y="1325880"/>
            <a:ext cx="6355080" cy="4389120"/>
          </a:xfrm>
          <a:prstGeom prst="rect">
            <a:avLst/>
          </a:prstGeom>
          <a:solidFill>
            <a:srgbClr val="FFFFFF"/>
          </a:solidFill>
          <a:ln w="9525">
            <a:solidFill>
              <a:srgbClr val="B9C6D4"/>
            </a:solidFill>
            <a:prstDash val="solid"/>
          </a:ln>
        </p:spPr>
      </p:sp>
      <p:pic>
        <p:nvPicPr>
          <p:cNvPr id="7" name="Image 0" descr="analysis-consumption | Figma Make screenshot | https://blob-silver-16955234.figma.site/#analysis" title="analysis-consumption">
            <a:hlinkClick r:id="rIdRevisedMake" tooltip="Figma Make 수정본 열기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9785" y="1389888"/>
            <a:ext cx="4310494" cy="4242816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1529785" y="1389888"/>
            <a:ext cx="4310494" cy="4242816"/>
          </a:xfrm>
          <a:prstGeom prst="rect">
            <a:avLst/>
          </a:prstGeom>
          <a:ln w="6350">
            <a:solidFill>
              <a:srgbClr val="D0D7DE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6995160" y="1325880"/>
            <a:ext cx="4727448" cy="4389120"/>
          </a:xfrm>
          <a:prstGeom prst="rect">
            <a:avLst/>
          </a:prstGeom>
          <a:solidFill>
            <a:srgbClr val="FFFFFF"/>
          </a:solidFill>
          <a:ln w="9525">
            <a:solidFill>
              <a:srgbClr val="B9C6D4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6995160" y="1325880"/>
            <a:ext cx="4727448" cy="365760"/>
          </a:xfrm>
          <a:prstGeom prst="rect">
            <a:avLst/>
          </a:prstGeom>
          <a:solidFill>
            <a:srgbClr val="263E5C"/>
          </a:solidFill>
          <a:ln w="12700">
            <a:solidFill>
              <a:srgbClr val="263E5C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6995160" y="1325880"/>
            <a:ext cx="4727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Description (화면설명)</a:t>
            </a:r>
            <a:endParaRPr lang="en-US" sz="1000" dirty="0"/>
          </a:p>
        </p:txBody>
      </p:sp>
      <p:graphicFrame>
        <p:nvGraphicFramePr>
          <p:cNvPr id="31" name="Table 1"/>
          <p:cNvGraphicFramePr>
            <a:graphicFrameLocks noGrp="1"/>
          </p:cNvGraphicFramePr>
          <p:nvPr>
            <p:extLst>
              <p:ext uri="{D42A27DB-BD31-4B8C-83A1-F6EECF244321}">
                <ns2:modId val="1579011935"/>
              </p:ext>
            </p:extLst>
          </p:nvPr>
        </p:nvGraphicFramePr>
        <p:xfrm>
          <a:off x="7050024" y="1755648"/>
          <a:ext cx="4617720" cy="914400"/>
        </p:xfrm>
        <a:graphic>
          <a:graphicData uri="http://schemas.openxmlformats.org/drawingml/2006/table">
            <a:tbl>
              <a:tblPr/>
              <a:tblGrid>
                <a:gridCol w="274320"/>
                <a:gridCol w="4343400"/>
              </a:tblGrid>
              <a:tr h="1844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①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지역·연도 선택 → 같은 조건의 소비 자료 조회 → 비교 표 갱신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39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②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소비 비교 탭 클릭 → 해당 조건의 자료 조회 → 방문·소비·고객 구분 표 표시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44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③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방문·소비 표 확인 → 같은 월 지표를 단위별로 표시 → 없는 값은 미확보 표시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44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④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내·외국인 비교 확인 → 제공자·집계 기준 검사 → 일치 시 비교·불일치 시 비교 제한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44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⑤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시간대별 표 확인 → 같은 기준의 소비 분포 집계 → 시간대별 비중 표시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44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⑥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자료 출처·기준 확인 → 출처·기간·단위 표시 → 비교 가능 범위 확인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hape 20"/>
          <p:cNvSpPr/>
          <p:nvPr/>
        </p:nvSpPr>
        <p:spPr>
          <a:xfrm>
            <a:off x="7050024" y="4967414"/>
            <a:ext cx="4617720" cy="692722"/>
          </a:xfrm>
          <a:prstGeom prst="rect">
            <a:avLst/>
          </a:prstGeom>
          <a:solidFill>
            <a:srgbClr val="F7F9FB"/>
          </a:solidFill>
          <a:ln w="6350">
            <a:solidFill>
              <a:srgbClr val="E1E7EE"/>
            </a:solidFill>
            <a:prstDash val="solid"/>
          </a:ln>
        </p:spPr>
      </p:sp>
      <p:sp>
        <p:nvSpPr>
          <p:cNvPr id="26" name="Text 21"/>
          <p:cNvSpPr txBox="1"/>
          <p:nvPr/>
        </p:nvSpPr>
        <p:spPr>
          <a:xfrm>
            <a:off x="7104888" y="4994846"/>
            <a:ext cx="4507992" cy="6378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8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비고</a:t>
            </a:r>
            <a:endParaRPr lang="en-US" sz="8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750" dirty="0">
                <a:solidFill>
                  <a:srgbClr val="6464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UC02 정의에 포함된 방문·소비 비교를 이 탭에서 수행</a:t>
            </a:r>
            <a:endParaRPr lang="en-US" sz="8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750" dirty="0">
                <a:solidFill>
                  <a:srgbClr val="6464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자료가 없으면 결과 없음, 제공자·집계 기준이 다르면 비교 제한 사유 표시</a:t>
            </a:r>
            <a:endParaRPr lang="en-US" sz="8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750" dirty="0">
                <a:solidFill>
                  <a:srgbClr val="6464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방문·소비는 모집단이 달라 구매전환율·1인당 소비액을 계산하지 않음</a:t>
            </a:r>
            <a:endParaRPr lang="en-US" sz="800" dirty="0"/>
          </a:p>
        </p:txBody>
      </p:sp>
      <p:sp>
        <p:nvSpPr>
          <p:cNvPr id="27" name="Shape 22"/>
          <p:cNvSpPr/>
          <p:nvPr/>
        </p:nvSpPr>
        <p:spPr>
          <a:xfrm>
            <a:off x="502920" y="5806440"/>
            <a:ext cx="11219688" cy="475488"/>
          </a:xfrm>
          <a:prstGeom prst="rect">
            <a:avLst/>
          </a:prstGeom>
          <a:solidFill>
            <a:srgbClr val="EFF3F7"/>
          </a:solidFill>
          <a:ln w="12700">
            <a:solidFill>
              <a:srgbClr val="EFF3F7"/>
            </a:solidFill>
            <a:prstDash val="solid"/>
          </a:ln>
        </p:spPr>
      </p:sp>
      <p:sp>
        <p:nvSpPr>
          <p:cNvPr id="28" name="Text 23"/>
          <p:cNvSpPr txBox="1"/>
          <p:nvPr/>
        </p:nvSpPr>
        <p:spPr>
          <a:xfrm>
            <a:off x="685800" y="5806440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상태</a:t>
            </a:r>
            <a:endParaRPr lang="en-US" sz="900" dirty="0"/>
          </a:p>
        </p:txBody>
      </p:sp>
      <p:sp>
        <p:nvSpPr>
          <p:cNvPr id="29" name="Text 24"/>
          <p:cNvSpPr txBox="1"/>
          <p:nvPr/>
        </p:nvSpPr>
        <p:spPr>
          <a:xfrm>
            <a:off x="1600200" y="5806440"/>
            <a:ext cx="4023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■ 정상   ■ 결과없음   □ 오류   ■ 처리불가   □ 완료</a:t>
            </a:r>
            <a:endParaRPr lang="en-US" sz="900" dirty="0"/>
          </a:p>
        </p:txBody>
      </p:sp>
      <p:sp>
        <p:nvSpPr>
          <p:cNvPr id="30" name="Text 25"/>
          <p:cNvSpPr txBox="1"/>
          <p:nvPr/>
        </p:nvSpPr>
        <p:spPr>
          <a:xfrm>
            <a:off x="5669280" y="5806440"/>
            <a:ext cx="868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이동 화면</a:t>
            </a:r>
            <a:endParaRPr lang="en-US" sz="900" dirty="0"/>
          </a:p>
        </p:txBody>
      </p:sp>
      <p:sp>
        <p:nvSpPr>
          <p:cNvPr id="2000" name="Text 26"/>
          <p:cNvSpPr txBox="1"/>
          <p:nvPr/>
        </p:nvSpPr>
        <p:spPr>
          <a:xfrm>
            <a:off x="6537960" y="5806440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홍보 제안 조회 클릭 → 조건 유지 → SCR-C-004 홍보 제안 조회</a:t>
            </a:r>
            <a:endParaRPr lang="en-US" sz="900" dirty="0"/>
          </a:p>
        </p:txBody>
      </p:sp>
      <p:sp>
        <p:nvSpPr>
          <p:cNvPr id="33" name="Text 27"/>
          <p:cNvSpPr txBox="1"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82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정보시스템 캡스톤디자인 | 화면설계서·Storyboard Template</a:t>
            </a:r>
            <a:endParaRPr lang="en-US" sz="800" dirty="0"/>
          </a:p>
        </p:txBody>
      </p:sp>
      <p:sp>
        <p:nvSpPr>
          <p:cNvPr id="1002" name="Callout 1 circle"/>
          <p:cNvSpPr/>
          <p:nvPr/>
        </p:nvSpPr>
        <p:spPr>
          <a:xfrm>
            <a:off x="1555296" y="2025935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03" name="Callout 1 number"/>
          <p:cNvSpPr txBox="1"/>
          <p:nvPr/>
        </p:nvSpPr>
        <p:spPr>
          <a:xfrm>
            <a:off x="1555296" y="2025935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  <p:sp>
        <p:nvSpPr>
          <p:cNvPr id="1004" name="Callout 2 circle"/>
          <p:cNvSpPr/>
          <p:nvPr/>
        </p:nvSpPr>
        <p:spPr>
          <a:xfrm>
            <a:off x="1951182" y="2301606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05" name="Callout 2 number"/>
          <p:cNvSpPr txBox="1"/>
          <p:nvPr/>
        </p:nvSpPr>
        <p:spPr>
          <a:xfrm>
            <a:off x="1951182" y="230160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  <p:sp>
        <p:nvSpPr>
          <p:cNvPr id="1006" name="Callout 3 circle"/>
          <p:cNvSpPr/>
          <p:nvPr/>
        </p:nvSpPr>
        <p:spPr>
          <a:xfrm>
            <a:off x="1663894" y="2974011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07" name="Callout 3 number"/>
          <p:cNvSpPr txBox="1"/>
          <p:nvPr/>
        </p:nvSpPr>
        <p:spPr>
          <a:xfrm>
            <a:off x="1663894" y="2974011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  <p:sp>
        <p:nvSpPr>
          <p:cNvPr id="1008" name="Callout 4 circle"/>
          <p:cNvSpPr/>
          <p:nvPr/>
        </p:nvSpPr>
        <p:spPr>
          <a:xfrm>
            <a:off x="1663894" y="3798219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09" name="Callout 4 number"/>
          <p:cNvSpPr txBox="1"/>
          <p:nvPr/>
        </p:nvSpPr>
        <p:spPr>
          <a:xfrm>
            <a:off x="1663894" y="3798219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  <p:sp>
        <p:nvSpPr>
          <p:cNvPr id="1010" name="Callout 5 circle"/>
          <p:cNvSpPr/>
          <p:nvPr/>
        </p:nvSpPr>
        <p:spPr>
          <a:xfrm>
            <a:off x="3618653" y="3798219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11" name="Callout 5 number"/>
          <p:cNvSpPr txBox="1"/>
          <p:nvPr/>
        </p:nvSpPr>
        <p:spPr>
          <a:xfrm>
            <a:off x="3618653" y="3798219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00" dirty="0"/>
          </a:p>
        </p:txBody>
      </p:sp>
      <p:sp>
        <p:nvSpPr>
          <p:cNvPr id="1012" name="Callout 6 circle"/>
          <p:cNvSpPr/>
          <p:nvPr/>
        </p:nvSpPr>
        <p:spPr>
          <a:xfrm>
            <a:off x="1663894" y="3988719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13" name="Callout 6 number"/>
          <p:cNvSpPr txBox="1"/>
          <p:nvPr/>
        </p:nvSpPr>
        <p:spPr>
          <a:xfrm>
            <a:off x="1663894" y="3988719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ns2="http://schemas.microsoft.com/office/powerpoint/2010/main" xmlns:p="http://schemas.openxmlformats.org/presentationml/2006/main" xmlns:r="http://schemas.openxmlformats.org/officeDocument/2006/relationships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16459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화면설계서 · Storyboard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18288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64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/ 07 · 지역 분석 · 자료 없음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11480" y="621792"/>
            <a:ext cx="11338560" cy="27432"/>
          </a:xfrm>
          <a:prstGeom prst="rect">
            <a:avLst/>
          </a:prstGeom>
          <a:solidFill>
            <a:srgbClr val="4371A0"/>
          </a:solidFill>
          <a:ln w="12700">
            <a:solidFill>
              <a:srgbClr val="4371A0"/>
            </a:solidFill>
            <a:prstDash val="solid"/>
          </a:ln>
        </p:spPr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ns2:modId val="1579011935"/>
              </p:ext>
            </p:extLst>
          </p:nvPr>
        </p:nvGraphicFramePr>
        <p:xfrm>
          <a:off x="502920" y="731520"/>
          <a:ext cx="11219688" cy="914400"/>
        </p:xfrm>
        <a:graphic>
          <a:graphicData uri="http://schemas.openxmlformats.org/drawingml/2006/table">
            <a:tbl>
              <a:tblPr/>
              <a:tblGrid>
                <a:gridCol w="804672"/>
                <a:gridCol w="1188720"/>
                <a:gridCol w="621792"/>
                <a:gridCol w="1417320"/>
                <a:gridCol w="548640"/>
                <a:gridCol w="1325880"/>
                <a:gridCol w="658368"/>
                <a:gridCol w="2423160"/>
                <a:gridCol w="475488"/>
                <a:gridCol w="1755648"/>
              </a:tblGrid>
              <a:tr h="4937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63E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Screen ID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SCR-C-003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63E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화면명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지역 분석 · 자료 없음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63E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Actor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사용자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63E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관련 UC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UC01 지역별 방문 분석 조회 · UC10 자료 출처·기준 표시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63E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경로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메인 &gt; 지역 분석 &gt; 방문·계절 비교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02920" y="1325880"/>
            <a:ext cx="6355080" cy="4389120"/>
          </a:xfrm>
          <a:prstGeom prst="rect">
            <a:avLst/>
          </a:prstGeom>
          <a:solidFill>
            <a:srgbClr val="FFFFFF"/>
          </a:solidFill>
          <a:ln w="9525">
            <a:solidFill>
              <a:srgbClr val="B9C6D4"/>
            </a:solidFill>
            <a:prstDash val="solid"/>
          </a:ln>
        </p:spPr>
      </p:sp>
      <p:pic>
        <p:nvPicPr>
          <p:cNvPr id="7" name="Image 0" descr="analysis-empty | Figma Make screenshot | https://blob-silver-16955234.figma.site/#analysis" title="analysis-empty">
            <a:hlinkClick r:id="rIdRevisedMake" tooltip="Figma Make 수정본 열기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216" y="1615493"/>
            <a:ext cx="6199632" cy="3791605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85216" y="1615493"/>
            <a:ext cx="6199632" cy="3791605"/>
          </a:xfrm>
          <a:prstGeom prst="rect">
            <a:avLst/>
          </a:prstGeom>
          <a:ln w="6350">
            <a:solidFill>
              <a:srgbClr val="D0D7DE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6995160" y="1325880"/>
            <a:ext cx="4727448" cy="4389120"/>
          </a:xfrm>
          <a:prstGeom prst="rect">
            <a:avLst/>
          </a:prstGeom>
          <a:solidFill>
            <a:srgbClr val="FFFFFF"/>
          </a:solidFill>
          <a:ln w="9525">
            <a:solidFill>
              <a:srgbClr val="B9C6D4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995160" y="1325880"/>
            <a:ext cx="4727448" cy="365760"/>
          </a:xfrm>
          <a:prstGeom prst="rect">
            <a:avLst/>
          </a:prstGeom>
          <a:solidFill>
            <a:srgbClr val="263E5C"/>
          </a:solidFill>
          <a:ln w="12700">
            <a:solidFill>
              <a:srgbClr val="263E5C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6995160" y="1325880"/>
            <a:ext cx="4727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Description (화면설명)</a:t>
            </a:r>
            <a:endParaRPr lang="en-US" sz="1000" dirty="0"/>
          </a:p>
        </p:txBody>
      </p:sp>
      <p:graphicFrame>
        <p:nvGraphicFramePr>
          <p:cNvPr id="33" name="Table 1"/>
          <p:cNvGraphicFramePr>
            <a:graphicFrameLocks noGrp="1"/>
          </p:cNvGraphicFramePr>
          <p:nvPr>
            <p:extLst>
              <p:ext uri="{D42A27DB-BD31-4B8C-83A1-F6EECF244321}">
                <ns2:modId val="1579011935"/>
              </p:ext>
            </p:extLst>
          </p:nvPr>
        </p:nvGraphicFramePr>
        <p:xfrm>
          <a:off x="7050024" y="1755648"/>
          <a:ext cx="4617720" cy="914400"/>
        </p:xfrm>
        <a:graphic>
          <a:graphicData uri="http://schemas.openxmlformats.org/drawingml/2006/table">
            <a:tbl>
              <a:tblPr/>
              <a:tblGrid>
                <a:gridCol w="274320"/>
                <a:gridCol w="4343400"/>
              </a:tblGrid>
              <a:tr h="1844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①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자료가 없는 지역·연도 선택 → 자료 미보유 확인 → 그래프 대신 자료 없음 안내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44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②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자료 없음 안내 확인 → 조회 가능 연도 안내 → 조건 변경 후 SCR-C-003 재조회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000" name="Shape 12"/>
          <p:cNvSpPr/>
          <p:nvPr/>
        </p:nvSpPr>
        <p:spPr>
          <a:xfrm>
            <a:off x="7050024" y="5020056"/>
            <a:ext cx="4617720" cy="640080"/>
          </a:xfrm>
          <a:prstGeom prst="rect">
            <a:avLst/>
          </a:prstGeom>
          <a:solidFill>
            <a:srgbClr val="F7F9FB"/>
          </a:solidFill>
          <a:ln w="6350">
            <a:solidFill>
              <a:srgbClr val="E1E7EE"/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7104888" y="5047488"/>
            <a:ext cx="45079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8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비고</a:t>
            </a:r>
            <a:endParaRPr lang="en-US" sz="8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750" dirty="0">
                <a:solidFill>
                  <a:srgbClr val="6464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자료 미확보를 실제 0명·0원으로 바꾸지 않음</a:t>
            </a:r>
            <a:endParaRPr lang="en-US" sz="8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750" dirty="0">
                <a:solidFill>
                  <a:srgbClr val="6464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없는 수치를 생성하지 않고 조건 변경을 안내</a:t>
            </a:r>
            <a:endParaRPr lang="en-US" sz="800" dirty="0"/>
          </a:p>
        </p:txBody>
      </p:sp>
      <p:sp>
        <p:nvSpPr>
          <p:cNvPr id="19" name="Shape 14"/>
          <p:cNvSpPr/>
          <p:nvPr/>
        </p:nvSpPr>
        <p:spPr>
          <a:xfrm>
            <a:off x="502920" y="5806440"/>
            <a:ext cx="11219688" cy="475488"/>
          </a:xfrm>
          <a:prstGeom prst="rect">
            <a:avLst/>
          </a:prstGeom>
          <a:solidFill>
            <a:srgbClr val="EFF3F7"/>
          </a:solidFill>
          <a:ln w="12700">
            <a:solidFill>
              <a:srgbClr val="EFF3F7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685800" y="5806440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상태</a:t>
            </a:r>
            <a:endParaRPr lang="en-US" sz="900" dirty="0"/>
          </a:p>
        </p:txBody>
      </p:sp>
      <p:sp>
        <p:nvSpPr>
          <p:cNvPr id="21" name="Text 16"/>
          <p:cNvSpPr txBox="1"/>
          <p:nvPr/>
        </p:nvSpPr>
        <p:spPr>
          <a:xfrm>
            <a:off x="1600200" y="5806440"/>
            <a:ext cx="4023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□ 정상   ■ 결과없음   □ 오류   □ 처리불가   □ 완료</a:t>
            </a:r>
            <a:endParaRPr lang="en-US" sz="900" dirty="0"/>
          </a:p>
        </p:txBody>
      </p:sp>
      <p:sp>
        <p:nvSpPr>
          <p:cNvPr id="22" name="Text 17"/>
          <p:cNvSpPr txBox="1"/>
          <p:nvPr/>
        </p:nvSpPr>
        <p:spPr>
          <a:xfrm>
            <a:off x="5669280" y="5806440"/>
            <a:ext cx="868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이동 화면</a:t>
            </a:r>
            <a:endParaRPr lang="en-US" sz="900" dirty="0"/>
          </a:p>
        </p:txBody>
      </p:sp>
      <p:sp>
        <p:nvSpPr>
          <p:cNvPr id="23" name="Text 18"/>
          <p:cNvSpPr txBox="1"/>
          <p:nvPr/>
        </p:nvSpPr>
        <p:spPr>
          <a:xfrm>
            <a:off x="6537960" y="5806440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조건 변경 → 자료 재조회 → SCR-C-003 지역 분석</a:t>
            </a:r>
            <a:endParaRPr lang="en-US" sz="900" dirty="0"/>
          </a:p>
        </p:txBody>
      </p:sp>
      <p:sp>
        <p:nvSpPr>
          <p:cNvPr id="25" name="Text 19"/>
          <p:cNvSpPr txBox="1"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82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정보시스템 캡스톤디자인 | 화면설계서·Storyboard Template</a:t>
            </a:r>
            <a:endParaRPr lang="en-US" sz="800" dirty="0"/>
          </a:p>
        </p:txBody>
      </p:sp>
      <p:sp>
        <p:nvSpPr>
          <p:cNvPr id="1002" name="Callout 1 circle"/>
          <p:cNvSpPr/>
          <p:nvPr/>
        </p:nvSpPr>
        <p:spPr>
          <a:xfrm>
            <a:off x="2157825" y="2624439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03" name="Callout 1 number"/>
          <p:cNvSpPr txBox="1"/>
          <p:nvPr/>
        </p:nvSpPr>
        <p:spPr>
          <a:xfrm>
            <a:off x="2157825" y="2624439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  <p:sp>
        <p:nvSpPr>
          <p:cNvPr id="1004" name="Callout 2 circle"/>
          <p:cNvSpPr/>
          <p:nvPr/>
        </p:nvSpPr>
        <p:spPr>
          <a:xfrm>
            <a:off x="661983" y="3362129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05" name="Callout 2 number"/>
          <p:cNvSpPr txBox="1"/>
          <p:nvPr/>
        </p:nvSpPr>
        <p:spPr>
          <a:xfrm>
            <a:off x="661983" y="3362129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ns2="http://schemas.microsoft.com/office/powerpoint/2010/main" xmlns:p="http://schemas.openxmlformats.org/presentationml/2006/main" xmlns:r="http://schemas.openxmlformats.org/officeDocument/2006/relationships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16459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화면설계서 · Storyboard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18288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64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/ 08 · 홍보 제안 조회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11480" y="621792"/>
            <a:ext cx="11338560" cy="27432"/>
          </a:xfrm>
          <a:prstGeom prst="rect">
            <a:avLst/>
          </a:prstGeom>
          <a:solidFill>
            <a:srgbClr val="4371A0"/>
          </a:solidFill>
          <a:ln w="12700">
            <a:solidFill>
              <a:srgbClr val="4371A0"/>
            </a:solidFill>
            <a:prstDash val="solid"/>
          </a:ln>
        </p:spPr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ns2:modId val="1579011935"/>
              </p:ext>
            </p:extLst>
          </p:nvPr>
        </p:nvGraphicFramePr>
        <p:xfrm>
          <a:off x="502920" y="731520"/>
          <a:ext cx="11219688" cy="914400"/>
        </p:xfrm>
        <a:graphic>
          <a:graphicData uri="http://schemas.openxmlformats.org/drawingml/2006/table">
            <a:tbl>
              <a:tblPr/>
              <a:tblGrid>
                <a:gridCol w="804672"/>
                <a:gridCol w="1188720"/>
                <a:gridCol w="621792"/>
                <a:gridCol w="1417320"/>
                <a:gridCol w="548640"/>
                <a:gridCol w="1325880"/>
                <a:gridCol w="658368"/>
                <a:gridCol w="2423160"/>
                <a:gridCol w="475488"/>
                <a:gridCol w="1755648"/>
              </a:tblGrid>
              <a:tr h="4937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63E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Screen ID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SCR-C-004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63E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화면명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홍보 제안 조회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63E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Actor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사용자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63E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관련 UC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UC02 홍보 제안 조회 · UC10 자료 출처·기준 표시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63E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경로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메인 &gt; 홍보 제안 조회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02920" y="1325880"/>
            <a:ext cx="6355080" cy="4389120"/>
          </a:xfrm>
          <a:prstGeom prst="rect">
            <a:avLst/>
          </a:prstGeom>
          <a:solidFill>
            <a:srgbClr val="FFFFFF"/>
          </a:solidFill>
          <a:ln w="9525">
            <a:solidFill>
              <a:srgbClr val="B9C6D4"/>
            </a:solidFill>
            <a:prstDash val="solid"/>
          </a:ln>
        </p:spPr>
      </p:sp>
      <p:pic>
        <p:nvPicPr>
          <p:cNvPr id="7" name="Image 0" descr="recommendations | Figma Make screenshot | https://blob-silver-16955234.figma.site/#recommendations" title="recommendations">
            <a:hlinkClick r:id="rIdRevisedMake" tooltip="Figma Make 수정본 열기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74717" y="1389888"/>
            <a:ext cx="3620630" cy="4242816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1874717" y="1389888"/>
            <a:ext cx="3620630" cy="4242816"/>
          </a:xfrm>
          <a:prstGeom prst="rect">
            <a:avLst/>
          </a:prstGeom>
          <a:ln w="6350">
            <a:solidFill>
              <a:srgbClr val="D0D7DE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6995160" y="1325880"/>
            <a:ext cx="4727448" cy="4389120"/>
          </a:xfrm>
          <a:prstGeom prst="rect">
            <a:avLst/>
          </a:prstGeom>
          <a:solidFill>
            <a:srgbClr val="FFFFFF"/>
          </a:solidFill>
          <a:ln w="9525">
            <a:solidFill>
              <a:srgbClr val="B9C6D4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6995160" y="1325880"/>
            <a:ext cx="4727448" cy="365760"/>
          </a:xfrm>
          <a:prstGeom prst="rect">
            <a:avLst/>
          </a:prstGeom>
          <a:solidFill>
            <a:srgbClr val="263E5C"/>
          </a:solidFill>
          <a:ln w="12700">
            <a:solidFill>
              <a:srgbClr val="263E5C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6995160" y="1325880"/>
            <a:ext cx="4727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Description (화면설명)</a:t>
            </a:r>
            <a:endParaRPr lang="en-US" sz="1000" dirty="0"/>
          </a:p>
        </p:txBody>
      </p:sp>
      <p:graphicFrame>
        <p:nvGraphicFramePr>
          <p:cNvPr id="35" name="Table 1"/>
          <p:cNvGraphicFramePr>
            <a:graphicFrameLocks noGrp="1"/>
          </p:cNvGraphicFramePr>
          <p:nvPr>
            <p:extLst>
              <p:ext uri="{D42A27DB-BD31-4B8C-83A1-F6EECF244321}">
                <ns2:modId val="1579011935"/>
              </p:ext>
            </p:extLst>
          </p:nvPr>
        </p:nvGraphicFramePr>
        <p:xfrm>
          <a:off x="7050024" y="1755648"/>
          <a:ext cx="4617720" cy="914400"/>
        </p:xfrm>
        <a:graphic>
          <a:graphicData uri="http://schemas.openxmlformats.org/drawingml/2006/table">
            <a:tbl>
              <a:tblPr/>
              <a:tblGrid>
                <a:gridCol w="274320"/>
                <a:gridCol w="4343400"/>
              </a:tblGrid>
              <a:tr h="1844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①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지역 선택 → 해당 지역 자료·기준으로 제안 조회 → 제안 카드 갱신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44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②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제안 카드 확인 → 시기·대상·상품·관광지 제안 조회 → 항목별 표시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44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③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판단 이유 확인 → 적용 기준·출처·기간 조회 → 제안의 근거 표시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44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④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추천 근거 클릭 → 선택 제안의 이유·조건 조회 → SCR-C-004-P01 표시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44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⑤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일정에 담기 클릭 → 권한 확인·제안 정보 입력 → SCR-B-001-P01 표시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7" name="Shape 22"/>
          <p:cNvSpPr/>
          <p:nvPr/>
        </p:nvSpPr>
        <p:spPr>
          <a:xfrm>
            <a:off x="7050024" y="4967414"/>
            <a:ext cx="4617720" cy="692722"/>
          </a:xfrm>
          <a:prstGeom prst="rect">
            <a:avLst/>
          </a:prstGeom>
          <a:solidFill>
            <a:srgbClr val="F7F9FB"/>
          </a:solidFill>
          <a:ln w="6350">
            <a:solidFill>
              <a:srgbClr val="E1E7EE"/>
            </a:solidFill>
            <a:prstDash val="solid"/>
          </a:ln>
        </p:spPr>
      </p:sp>
      <p:sp>
        <p:nvSpPr>
          <p:cNvPr id="28" name="Text 23"/>
          <p:cNvSpPr txBox="1"/>
          <p:nvPr/>
        </p:nvSpPr>
        <p:spPr>
          <a:xfrm>
            <a:off x="7104888" y="4994846"/>
            <a:ext cx="4507992" cy="6378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8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비고</a:t>
            </a:r>
            <a:endParaRPr lang="en-US" sz="8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750" dirty="0">
                <a:solidFill>
                  <a:srgbClr val="6464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조건에 맞는 제안이 없으면 결과 없음 안내·일정 담기 미제공</a:t>
            </a:r>
            <a:endParaRPr lang="en-US" sz="8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750" dirty="0">
                <a:solidFill>
                  <a:srgbClr val="6464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실제 판매 가능성·예산·운영 조건은 사업체가 확인</a:t>
            </a:r>
            <a:endParaRPr lang="en-US" sz="8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750" dirty="0">
                <a:solidFill>
                  <a:srgbClr val="6464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일정에 담기는 본인 또는 관리 권한을 받은 사업체만 가능</a:t>
            </a:r>
            <a:endParaRPr lang="en-US" sz="800" dirty="0"/>
          </a:p>
        </p:txBody>
      </p:sp>
      <p:sp>
        <p:nvSpPr>
          <p:cNvPr id="29" name="Shape 24"/>
          <p:cNvSpPr/>
          <p:nvPr/>
        </p:nvSpPr>
        <p:spPr>
          <a:xfrm>
            <a:off x="502920" y="5806440"/>
            <a:ext cx="11219688" cy="475488"/>
          </a:xfrm>
          <a:prstGeom prst="rect">
            <a:avLst/>
          </a:prstGeom>
          <a:solidFill>
            <a:srgbClr val="EFF3F7"/>
          </a:solidFill>
          <a:ln w="12700">
            <a:solidFill>
              <a:srgbClr val="EFF3F7"/>
            </a:solidFill>
            <a:prstDash val="solid"/>
          </a:ln>
        </p:spPr>
      </p:sp>
      <p:sp>
        <p:nvSpPr>
          <p:cNvPr id="30" name="Text 25"/>
          <p:cNvSpPr txBox="1"/>
          <p:nvPr/>
        </p:nvSpPr>
        <p:spPr>
          <a:xfrm>
            <a:off x="685800" y="5806440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상태</a:t>
            </a:r>
            <a:endParaRPr lang="en-US" sz="900" dirty="0"/>
          </a:p>
        </p:txBody>
      </p:sp>
      <p:sp>
        <p:nvSpPr>
          <p:cNvPr id="31" name="Text 26"/>
          <p:cNvSpPr txBox="1"/>
          <p:nvPr/>
        </p:nvSpPr>
        <p:spPr>
          <a:xfrm>
            <a:off x="1600200" y="5806440"/>
            <a:ext cx="4023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■ 정상   ■ 결과없음   □ 오류   □ 처리불가   □ 완료</a:t>
            </a:r>
            <a:endParaRPr lang="en-US" sz="900" dirty="0"/>
          </a:p>
        </p:txBody>
      </p:sp>
      <p:sp>
        <p:nvSpPr>
          <p:cNvPr id="32" name="Text 27"/>
          <p:cNvSpPr txBox="1"/>
          <p:nvPr/>
        </p:nvSpPr>
        <p:spPr>
          <a:xfrm>
            <a:off x="5669280" y="5806440"/>
            <a:ext cx="868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이동 화면</a:t>
            </a:r>
            <a:endParaRPr lang="en-US" sz="900" dirty="0"/>
          </a:p>
        </p:txBody>
      </p:sp>
      <p:sp>
        <p:nvSpPr>
          <p:cNvPr id="33" name="Text 28"/>
          <p:cNvSpPr txBox="1"/>
          <p:nvPr/>
        </p:nvSpPr>
        <p:spPr>
          <a:xfrm>
            <a:off x="6537960" y="5806440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추천 근거 클릭 → 근거 조회 → SCR-C-004-P01 추천 근거 상세</a:t>
            </a:r>
            <a:endParaRPr lang="en-US" sz="900" dirty="0"/>
          </a:p>
        </p:txBody>
      </p:sp>
      <p:sp>
        <p:nvSpPr>
          <p:cNvPr id="2000" name="Text 29"/>
          <p:cNvSpPr txBox="1"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82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정보시스템 캡스톤디자인 | 화면설계서·Storyboard Template</a:t>
            </a:r>
            <a:endParaRPr lang="en-US" sz="800" dirty="0"/>
          </a:p>
        </p:txBody>
      </p:sp>
      <p:sp>
        <p:nvSpPr>
          <p:cNvPr id="1002" name="Callout 1 circle"/>
          <p:cNvSpPr/>
          <p:nvPr/>
        </p:nvSpPr>
        <p:spPr>
          <a:xfrm>
            <a:off x="2184985" y="1941081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03" name="Callout 1 number"/>
          <p:cNvSpPr txBox="1"/>
          <p:nvPr/>
        </p:nvSpPr>
        <p:spPr>
          <a:xfrm>
            <a:off x="2184985" y="1941081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  <p:sp>
        <p:nvSpPr>
          <p:cNvPr id="1004" name="Callout 2 circle"/>
          <p:cNvSpPr/>
          <p:nvPr/>
        </p:nvSpPr>
        <p:spPr>
          <a:xfrm>
            <a:off x="1881511" y="2691323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05" name="Callout 2 number"/>
          <p:cNvSpPr txBox="1"/>
          <p:nvPr/>
        </p:nvSpPr>
        <p:spPr>
          <a:xfrm>
            <a:off x="1881511" y="2691323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  <p:sp>
        <p:nvSpPr>
          <p:cNvPr id="1006" name="Callout 3 circle"/>
          <p:cNvSpPr/>
          <p:nvPr/>
        </p:nvSpPr>
        <p:spPr>
          <a:xfrm>
            <a:off x="1958695" y="3941615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07" name="Callout 3 number"/>
          <p:cNvSpPr txBox="1"/>
          <p:nvPr/>
        </p:nvSpPr>
        <p:spPr>
          <a:xfrm>
            <a:off x="1958695" y="3941615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  <p:sp>
        <p:nvSpPr>
          <p:cNvPr id="1008" name="Callout 4 circle"/>
          <p:cNvSpPr/>
          <p:nvPr/>
        </p:nvSpPr>
        <p:spPr>
          <a:xfrm>
            <a:off x="1958695" y="4734395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09" name="Callout 4 number"/>
          <p:cNvSpPr txBox="1"/>
          <p:nvPr/>
        </p:nvSpPr>
        <p:spPr>
          <a:xfrm>
            <a:off x="1958695" y="4734395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  <p:sp>
        <p:nvSpPr>
          <p:cNvPr id="1010" name="Callout 5 circle"/>
          <p:cNvSpPr/>
          <p:nvPr/>
        </p:nvSpPr>
        <p:spPr>
          <a:xfrm>
            <a:off x="4816969" y="4741412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11" name="Callout 5 number"/>
          <p:cNvSpPr txBox="1"/>
          <p:nvPr/>
        </p:nvSpPr>
        <p:spPr>
          <a:xfrm>
            <a:off x="4816969" y="474141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ns2="http://schemas.microsoft.com/office/powerpoint/2010/main" xmlns:p="http://schemas.openxmlformats.org/presentationml/2006/main" xmlns:r="http://schemas.openxmlformats.org/officeDocument/2006/relationships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16459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화면설계서 · Storyboard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18288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64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/ 09 · 추천 근거 상세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11480" y="621792"/>
            <a:ext cx="11338560" cy="27432"/>
          </a:xfrm>
          <a:prstGeom prst="rect">
            <a:avLst/>
          </a:prstGeom>
          <a:solidFill>
            <a:srgbClr val="4371A0"/>
          </a:solidFill>
          <a:ln w="12700">
            <a:solidFill>
              <a:srgbClr val="4371A0"/>
            </a:solidFill>
            <a:prstDash val="solid"/>
          </a:ln>
        </p:spPr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ns2:modId val="1579011935"/>
              </p:ext>
            </p:extLst>
          </p:nvPr>
        </p:nvGraphicFramePr>
        <p:xfrm>
          <a:off x="502920" y="731520"/>
          <a:ext cx="11219688" cy="914400"/>
        </p:xfrm>
        <a:graphic>
          <a:graphicData uri="http://schemas.openxmlformats.org/drawingml/2006/table">
            <a:tbl>
              <a:tblPr/>
              <a:tblGrid>
                <a:gridCol w="804672"/>
                <a:gridCol w="1188720"/>
                <a:gridCol w="621792"/>
                <a:gridCol w="1417320"/>
                <a:gridCol w="548640"/>
                <a:gridCol w="1325880"/>
                <a:gridCol w="658368"/>
                <a:gridCol w="2423160"/>
                <a:gridCol w="475488"/>
                <a:gridCol w="1755648"/>
              </a:tblGrid>
              <a:tr h="4937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63E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Screen ID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SCR-C-004-P01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63E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화면명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추천 근거 상세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63E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Actor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사용자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63E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관련 UC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UC02 홍보 제안 조회 · UC10 자료 출처·기준 표시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63E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경로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메인 &gt; 홍보 제안 조회 &gt; 추천 근거 상세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02920" y="1325880"/>
            <a:ext cx="6355080" cy="4389120"/>
          </a:xfrm>
          <a:prstGeom prst="rect">
            <a:avLst/>
          </a:prstGeom>
          <a:solidFill>
            <a:srgbClr val="FFFFFF"/>
          </a:solidFill>
          <a:ln w="9525">
            <a:solidFill>
              <a:srgbClr val="B9C6D4"/>
            </a:solidFill>
            <a:prstDash val="solid"/>
          </a:ln>
        </p:spPr>
      </p:sp>
      <p:pic>
        <p:nvPicPr>
          <p:cNvPr id="7" name="Image 0" descr="evidence | Figma Make screenshot | https://blob-silver-16955234.figma.site/#recommendations" title="evidence">
            <a:hlinkClick r:id="rIdRevisedMake" tooltip="Figma Make 수정본 열기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80442" y="1389888"/>
            <a:ext cx="3009181" cy="4242816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2180442" y="1389888"/>
            <a:ext cx="3009181" cy="4242816"/>
          </a:xfrm>
          <a:prstGeom prst="rect">
            <a:avLst/>
          </a:prstGeom>
          <a:ln w="6350">
            <a:solidFill>
              <a:srgbClr val="D0D7DE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6995160" y="1325880"/>
            <a:ext cx="4727448" cy="4389120"/>
          </a:xfrm>
          <a:prstGeom prst="rect">
            <a:avLst/>
          </a:prstGeom>
          <a:solidFill>
            <a:srgbClr val="FFFFFF"/>
          </a:solidFill>
          <a:ln w="9525">
            <a:solidFill>
              <a:srgbClr val="B9C6D4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6995160" y="1325880"/>
            <a:ext cx="4727448" cy="365760"/>
          </a:xfrm>
          <a:prstGeom prst="rect">
            <a:avLst/>
          </a:prstGeom>
          <a:solidFill>
            <a:srgbClr val="263E5C"/>
          </a:solidFill>
          <a:ln w="12700">
            <a:solidFill>
              <a:srgbClr val="263E5C"/>
            </a:solidFill>
            <a:prstDash val="solid"/>
          </a:ln>
        </p:spPr>
      </p:sp>
      <p:sp>
        <p:nvSpPr>
          <p:cNvPr id="27" name="Text 23"/>
          <p:cNvSpPr txBox="1"/>
          <p:nvPr/>
        </p:nvSpPr>
        <p:spPr>
          <a:xfrm>
            <a:off x="6995160" y="1325880"/>
            <a:ext cx="4727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Description (화면설명)</a:t>
            </a:r>
            <a:endParaRPr lang="en-US" sz="1000" dirty="0"/>
          </a:p>
        </p:txBody>
      </p:sp>
      <p:graphicFrame>
        <p:nvGraphicFramePr>
          <p:cNvPr id="37" name="Table 1"/>
          <p:cNvGraphicFramePr>
            <a:graphicFrameLocks noGrp="1"/>
          </p:cNvGraphicFramePr>
          <p:nvPr>
            <p:extLst>
              <p:ext uri="{D42A27DB-BD31-4B8C-83A1-F6EECF244321}">
                <ns2:modId val="1579011935"/>
              </p:ext>
            </p:extLst>
          </p:nvPr>
        </p:nvGraphicFramePr>
        <p:xfrm>
          <a:off x="7050024" y="1755648"/>
          <a:ext cx="4617720" cy="914400"/>
        </p:xfrm>
        <a:graphic>
          <a:graphicData uri="http://schemas.openxmlformats.org/drawingml/2006/table">
            <a:tbl>
              <a:tblPr/>
              <a:tblGrid>
                <a:gridCol w="274320"/>
                <a:gridCol w="4343400"/>
              </a:tblGrid>
              <a:tr h="1844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①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✕ 클릭·Esc 입력 → 패널 닫기 → 호출한 추천 근거 버튼으로 초점 복귀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44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②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패널 열기 → 선택 제안 조회 → 제목·홍보 시기 표시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44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③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과거 흐름 확인 → 관측값·출처 조회 → 해당 지역·기간 자료 표시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44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④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운영 조건 확인 → 확인된 조건과 미확인 조건 구분 → 추가 확인 항목 표시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44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⑤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계획 행동 확인 → 제안을 실행 항목으로 정리 → 계획 월·준비 내용 표시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44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⑥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자료 출처·기준 클릭 → 출처·집계 기준 조회 → 안내 표시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39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⑦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일정에 담기 클릭 → 권한·기존 계획 확인 → SCR-B-001-P01 작성 또는 수정 표시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9" name="Shape 24"/>
          <p:cNvSpPr/>
          <p:nvPr/>
        </p:nvSpPr>
        <p:spPr>
          <a:xfrm>
            <a:off x="7050024" y="4967414"/>
            <a:ext cx="4617720" cy="692722"/>
          </a:xfrm>
          <a:prstGeom prst="rect">
            <a:avLst/>
          </a:prstGeom>
          <a:solidFill>
            <a:srgbClr val="F7F9FB"/>
          </a:solidFill>
          <a:ln w="6350">
            <a:solidFill>
              <a:srgbClr val="E1E7EE"/>
            </a:solidFill>
            <a:prstDash val="solid"/>
          </a:ln>
        </p:spPr>
      </p:sp>
      <p:sp>
        <p:nvSpPr>
          <p:cNvPr id="30" name="Text 25"/>
          <p:cNvSpPr txBox="1"/>
          <p:nvPr/>
        </p:nvSpPr>
        <p:spPr>
          <a:xfrm>
            <a:off x="7104888" y="4994846"/>
            <a:ext cx="4507992" cy="6378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8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비고</a:t>
            </a:r>
            <a:endParaRPr lang="en-US" sz="8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750" dirty="0">
                <a:solidFill>
                  <a:srgbClr val="6464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명시적 저장 전까지 일정은 변경되지 않음</a:t>
            </a:r>
            <a:endParaRPr lang="en-US" sz="8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750" dirty="0">
                <a:solidFill>
                  <a:srgbClr val="6464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이미 담은 제안은 기존 계획 수정으로 연결</a:t>
            </a:r>
            <a:endParaRPr lang="en-US" sz="8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750" dirty="0">
                <a:solidFill>
                  <a:srgbClr val="6464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권한이 없는 사업체에는 일정 작성 기능을 제공하지 않음</a:t>
            </a:r>
            <a:endParaRPr lang="en-US" sz="800" dirty="0"/>
          </a:p>
        </p:txBody>
      </p:sp>
      <p:sp>
        <p:nvSpPr>
          <p:cNvPr id="31" name="Shape 26"/>
          <p:cNvSpPr/>
          <p:nvPr/>
        </p:nvSpPr>
        <p:spPr>
          <a:xfrm>
            <a:off x="502920" y="5806440"/>
            <a:ext cx="11219688" cy="475488"/>
          </a:xfrm>
          <a:prstGeom prst="rect">
            <a:avLst/>
          </a:prstGeom>
          <a:solidFill>
            <a:srgbClr val="EFF3F7"/>
          </a:solidFill>
          <a:ln w="12700">
            <a:solidFill>
              <a:srgbClr val="EFF3F7"/>
            </a:solidFill>
            <a:prstDash val="solid"/>
          </a:ln>
        </p:spPr>
      </p:sp>
      <p:sp>
        <p:nvSpPr>
          <p:cNvPr id="32" name="Text 27"/>
          <p:cNvSpPr txBox="1"/>
          <p:nvPr/>
        </p:nvSpPr>
        <p:spPr>
          <a:xfrm>
            <a:off x="685800" y="5806440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상태</a:t>
            </a:r>
            <a:endParaRPr lang="en-US" sz="900" dirty="0"/>
          </a:p>
        </p:txBody>
      </p:sp>
      <p:sp>
        <p:nvSpPr>
          <p:cNvPr id="33" name="Text 28"/>
          <p:cNvSpPr txBox="1"/>
          <p:nvPr/>
        </p:nvSpPr>
        <p:spPr>
          <a:xfrm>
            <a:off x="1600200" y="5806440"/>
            <a:ext cx="4023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■ 정상   □ 결과없음   □ 오류   □ 처리불가   □ 완료</a:t>
            </a:r>
            <a:endParaRPr lang="en-US" sz="900" dirty="0"/>
          </a:p>
        </p:txBody>
      </p:sp>
      <p:sp>
        <p:nvSpPr>
          <p:cNvPr id="34" name="Text 29"/>
          <p:cNvSpPr txBox="1"/>
          <p:nvPr/>
        </p:nvSpPr>
        <p:spPr>
          <a:xfrm>
            <a:off x="5669280" y="5806440"/>
            <a:ext cx="868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이동 화면</a:t>
            </a:r>
            <a:endParaRPr lang="en-US" sz="900" dirty="0"/>
          </a:p>
        </p:txBody>
      </p:sp>
      <p:sp>
        <p:nvSpPr>
          <p:cNvPr id="35" name="Text 30"/>
          <p:cNvSpPr txBox="1"/>
          <p:nvPr/>
        </p:nvSpPr>
        <p:spPr>
          <a:xfrm>
            <a:off x="6537960" y="5806440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일정에 담기 → 권한·기존 계획 확인 → SCR-B-001-P01 계획 작성·수정</a:t>
            </a:r>
            <a:endParaRPr lang="en-US" sz="900" dirty="0"/>
          </a:p>
        </p:txBody>
      </p:sp>
      <p:sp>
        <p:nvSpPr>
          <p:cNvPr id="2000" name="Text 31"/>
          <p:cNvSpPr txBox="1"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82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정보시스템 캡스톤디자인 | 화면설계서·Storyboard Template</a:t>
            </a:r>
            <a:endParaRPr lang="en-US" sz="800" dirty="0"/>
          </a:p>
        </p:txBody>
      </p:sp>
      <p:sp>
        <p:nvSpPr>
          <p:cNvPr id="1002" name="Callout 1 circle"/>
          <p:cNvSpPr/>
          <p:nvPr/>
        </p:nvSpPr>
        <p:spPr>
          <a:xfrm>
            <a:off x="4702859" y="1567467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03" name="Callout 1 number"/>
          <p:cNvSpPr txBox="1"/>
          <p:nvPr/>
        </p:nvSpPr>
        <p:spPr>
          <a:xfrm>
            <a:off x="4702859" y="1567467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  <p:sp>
        <p:nvSpPr>
          <p:cNvPr id="1004" name="Callout 2 circle"/>
          <p:cNvSpPr/>
          <p:nvPr/>
        </p:nvSpPr>
        <p:spPr>
          <a:xfrm>
            <a:off x="2195208" y="2329719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05" name="Callout 2 number"/>
          <p:cNvSpPr txBox="1"/>
          <p:nvPr/>
        </p:nvSpPr>
        <p:spPr>
          <a:xfrm>
            <a:off x="2195208" y="2329719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  <p:sp>
        <p:nvSpPr>
          <p:cNvPr id="1006" name="Callout 3 circle"/>
          <p:cNvSpPr/>
          <p:nvPr/>
        </p:nvSpPr>
        <p:spPr>
          <a:xfrm>
            <a:off x="2195208" y="2653040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07" name="Callout 3 number"/>
          <p:cNvSpPr txBox="1"/>
          <p:nvPr/>
        </p:nvSpPr>
        <p:spPr>
          <a:xfrm>
            <a:off x="2195208" y="265304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  <p:sp>
        <p:nvSpPr>
          <p:cNvPr id="1008" name="Callout 4 circle"/>
          <p:cNvSpPr/>
          <p:nvPr/>
        </p:nvSpPr>
        <p:spPr>
          <a:xfrm>
            <a:off x="2195208" y="3338588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09" name="Callout 4 number"/>
          <p:cNvSpPr txBox="1"/>
          <p:nvPr/>
        </p:nvSpPr>
        <p:spPr>
          <a:xfrm>
            <a:off x="2195208" y="333858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  <p:sp>
        <p:nvSpPr>
          <p:cNvPr id="1010" name="Callout 5 circle"/>
          <p:cNvSpPr/>
          <p:nvPr/>
        </p:nvSpPr>
        <p:spPr>
          <a:xfrm>
            <a:off x="2195208" y="4079267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11" name="Callout 5 number"/>
          <p:cNvSpPr txBox="1"/>
          <p:nvPr/>
        </p:nvSpPr>
        <p:spPr>
          <a:xfrm>
            <a:off x="2195208" y="4079267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00" dirty="0"/>
          </a:p>
        </p:txBody>
      </p:sp>
      <p:sp>
        <p:nvSpPr>
          <p:cNvPr id="1012" name="Callout 6 circle"/>
          <p:cNvSpPr/>
          <p:nvPr/>
        </p:nvSpPr>
        <p:spPr>
          <a:xfrm>
            <a:off x="3688735" y="5217943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13" name="Callout 6 number"/>
          <p:cNvSpPr txBox="1"/>
          <p:nvPr/>
        </p:nvSpPr>
        <p:spPr>
          <a:xfrm>
            <a:off x="3688735" y="5217943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00" dirty="0"/>
          </a:p>
        </p:txBody>
      </p:sp>
      <p:sp>
        <p:nvSpPr>
          <p:cNvPr id="1014" name="Callout 7 circle"/>
          <p:cNvSpPr/>
          <p:nvPr/>
        </p:nvSpPr>
        <p:spPr>
          <a:xfrm>
            <a:off x="4219859" y="5217943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15" name="Callout 7 number"/>
          <p:cNvSpPr txBox="1"/>
          <p:nvPr/>
        </p:nvSpPr>
        <p:spPr>
          <a:xfrm>
            <a:off x="4219859" y="5217943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ns2="http://schemas.microsoft.com/office/powerpoint/2010/main" xmlns:p="http://schemas.openxmlformats.org/presentationml/2006/main" xmlns:r="http://schemas.openxmlformats.org/officeDocument/2006/relationships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16459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화면설계서 · Storyboard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18288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64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/ 10 · 3개월 홍보 일정표 관리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11480" y="621792"/>
            <a:ext cx="11338560" cy="27432"/>
          </a:xfrm>
          <a:prstGeom prst="rect">
            <a:avLst/>
          </a:prstGeom>
          <a:solidFill>
            <a:srgbClr val="4371A0"/>
          </a:solidFill>
          <a:ln w="12700">
            <a:solidFill>
              <a:srgbClr val="4371A0"/>
            </a:solidFill>
            <a:prstDash val="solid"/>
          </a:ln>
        </p:spPr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ns2:modId val="1579011935"/>
              </p:ext>
            </p:extLst>
          </p:nvPr>
        </p:nvGraphicFramePr>
        <p:xfrm>
          <a:off x="502920" y="731520"/>
          <a:ext cx="11219688" cy="914400"/>
        </p:xfrm>
        <a:graphic>
          <a:graphicData uri="http://schemas.openxmlformats.org/drawingml/2006/table">
            <a:tbl>
              <a:tblPr/>
              <a:tblGrid>
                <a:gridCol w="804672"/>
                <a:gridCol w="1188720"/>
                <a:gridCol w="621792"/>
                <a:gridCol w="1417320"/>
                <a:gridCol w="548640"/>
                <a:gridCol w="1325880"/>
                <a:gridCol w="658368"/>
                <a:gridCol w="2423160"/>
                <a:gridCol w="475488"/>
                <a:gridCol w="1755648"/>
              </a:tblGrid>
              <a:tr h="4937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63E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Screen ID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SCR-B-001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63E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화면명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3개월 홍보 일정표 관리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63E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Actor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사업체 운영자 · 서비스 운영자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63E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관련 UC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UC03 3개월 홍보 일정표 관리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63E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경로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메인 &gt; 3개월 홍보 일정표 관리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02920" y="1325880"/>
            <a:ext cx="6355080" cy="4389120"/>
          </a:xfrm>
          <a:prstGeom prst="rect">
            <a:avLst/>
          </a:prstGeom>
          <a:solidFill>
            <a:srgbClr val="FFFFFF"/>
          </a:solidFill>
          <a:ln w="9525">
            <a:solidFill>
              <a:srgbClr val="B9C6D4"/>
            </a:solidFill>
            <a:prstDash val="solid"/>
          </a:ln>
        </p:spPr>
      </p:sp>
      <p:pic>
        <p:nvPicPr>
          <p:cNvPr id="7" name="Image 0" descr="calendar | Figma Make screenshot | https://blob-silver-16955234.figma.site/#calendar" title="calendar">
            <a:hlinkClick r:id="rIdRevisedMake" tooltip="Figma Make 수정본 열기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6671" y="1389888"/>
            <a:ext cx="5616722" cy="4242816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876671" y="1389888"/>
            <a:ext cx="5616722" cy="4242816"/>
          </a:xfrm>
          <a:prstGeom prst="rect">
            <a:avLst/>
          </a:prstGeom>
          <a:ln w="6350">
            <a:solidFill>
              <a:srgbClr val="D0D7DE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6995160" y="1325880"/>
            <a:ext cx="4727448" cy="4389120"/>
          </a:xfrm>
          <a:prstGeom prst="rect">
            <a:avLst/>
          </a:prstGeom>
          <a:solidFill>
            <a:srgbClr val="FFFFFF"/>
          </a:solidFill>
          <a:ln w="9525">
            <a:solidFill>
              <a:srgbClr val="B9C6D4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6995160" y="1325880"/>
            <a:ext cx="4727448" cy="365760"/>
          </a:xfrm>
          <a:prstGeom prst="rect">
            <a:avLst/>
          </a:prstGeom>
          <a:solidFill>
            <a:srgbClr val="263E5C"/>
          </a:solidFill>
          <a:ln w="12700">
            <a:solidFill>
              <a:srgbClr val="263E5C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6995160" y="1325880"/>
            <a:ext cx="4727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Description (화면설명)</a:t>
            </a:r>
            <a:endParaRPr lang="en-US" sz="1000" dirty="0"/>
          </a:p>
        </p:txBody>
      </p:sp>
      <p:graphicFrame>
        <p:nvGraphicFramePr>
          <p:cNvPr id="41" name="Table 1"/>
          <p:cNvGraphicFramePr>
            <a:graphicFrameLocks noGrp="1"/>
          </p:cNvGraphicFramePr>
          <p:nvPr>
            <p:extLst>
              <p:ext uri="{D42A27DB-BD31-4B8C-83A1-F6EECF244321}">
                <ns2:modId val="1579011935"/>
              </p:ext>
            </p:extLst>
          </p:nvPr>
        </p:nvGraphicFramePr>
        <p:xfrm>
          <a:off x="7050024" y="1755648"/>
          <a:ext cx="4617720" cy="914400"/>
        </p:xfrm>
        <a:graphic>
          <a:graphicData uri="http://schemas.openxmlformats.org/drawingml/2006/table">
            <a:tbl>
              <a:tblPr/>
              <a:tblGrid>
                <a:gridCol w="274320"/>
                <a:gridCol w="4343400"/>
              </a:tblGrid>
              <a:tr h="1844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①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직접 계획 추가 클릭 → 빈 계획 폼 준비 → SCR-B-001-P01 표시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44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②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홍보 제안 조회 클릭 → 선택 지역 유지 → SCR-C-004 이동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44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③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월별 계획 카드 확인 → 권한 내 저장된 계획 조회 → 날짜·채널·준비 내용 표시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44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④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계획 수정 클릭 → 저장된 값 조회 → SCR-B-001-P01 표시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44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⑤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기록 입력 클릭 → 선택 계획 연결 → SCR-B-002-P01 표시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44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⑥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월 계획 추가 클릭 → 해당 월 날짜 미리 입력 → SCR-B-001-P01 표시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44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⑦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계획 없는 달 확인 → 빈 목록 확인 → 안내 문구·계획 추가 버튼 표시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7" name="Shape 22"/>
          <p:cNvSpPr/>
          <p:nvPr/>
        </p:nvSpPr>
        <p:spPr>
          <a:xfrm>
            <a:off x="7050024" y="4967414"/>
            <a:ext cx="4617720" cy="692722"/>
          </a:xfrm>
          <a:prstGeom prst="rect">
            <a:avLst/>
          </a:prstGeom>
          <a:solidFill>
            <a:srgbClr val="F7F9FB"/>
          </a:solidFill>
          <a:ln w="6350">
            <a:solidFill>
              <a:srgbClr val="E1E7EE"/>
            </a:solidFill>
            <a:prstDash val="solid"/>
          </a:ln>
        </p:spPr>
      </p:sp>
      <p:sp>
        <p:nvSpPr>
          <p:cNvPr id="28" name="Text 23"/>
          <p:cNvSpPr txBox="1"/>
          <p:nvPr/>
        </p:nvSpPr>
        <p:spPr>
          <a:xfrm>
            <a:off x="7104888" y="4994846"/>
            <a:ext cx="4507992" cy="6378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8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비고</a:t>
            </a:r>
            <a:endParaRPr lang="en-US" sz="8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750" dirty="0">
                <a:solidFill>
                  <a:srgbClr val="6464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서비스 운영자는 관리 권한을 받은 사업체의 계획·기록만 처리</a:t>
            </a:r>
            <a:endParaRPr lang="en-US" sz="8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750" dirty="0">
                <a:solidFill>
                  <a:srgbClr val="6464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작성·수정·삭제·저장 결과는 SCR-B-001-P01에서 안내</a:t>
            </a:r>
            <a:endParaRPr lang="en-US" sz="8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750" dirty="0">
                <a:solidFill>
                  <a:srgbClr val="6464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이 화면은 저장된 월별 목록과 빈 상태를 표시</a:t>
            </a:r>
            <a:endParaRPr lang="en-US" sz="800" dirty="0"/>
          </a:p>
        </p:txBody>
      </p:sp>
      <p:sp>
        <p:nvSpPr>
          <p:cNvPr id="29" name="Shape 24"/>
          <p:cNvSpPr/>
          <p:nvPr/>
        </p:nvSpPr>
        <p:spPr>
          <a:xfrm>
            <a:off x="502920" y="5806440"/>
            <a:ext cx="11219688" cy="475488"/>
          </a:xfrm>
          <a:prstGeom prst="rect">
            <a:avLst/>
          </a:prstGeom>
          <a:solidFill>
            <a:srgbClr val="EFF3F7"/>
          </a:solidFill>
          <a:ln w="12700">
            <a:solidFill>
              <a:srgbClr val="EFF3F7"/>
            </a:solidFill>
            <a:prstDash val="solid"/>
          </a:ln>
        </p:spPr>
      </p:sp>
      <p:sp>
        <p:nvSpPr>
          <p:cNvPr id="30" name="Text 25"/>
          <p:cNvSpPr txBox="1"/>
          <p:nvPr/>
        </p:nvSpPr>
        <p:spPr>
          <a:xfrm>
            <a:off x="685800" y="5806440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상태</a:t>
            </a:r>
            <a:endParaRPr lang="en-US" sz="900" dirty="0"/>
          </a:p>
        </p:txBody>
      </p:sp>
      <p:sp>
        <p:nvSpPr>
          <p:cNvPr id="31" name="Text 26"/>
          <p:cNvSpPr txBox="1"/>
          <p:nvPr/>
        </p:nvSpPr>
        <p:spPr>
          <a:xfrm>
            <a:off x="1600200" y="5806440"/>
            <a:ext cx="4023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■ 정상   ■ 결과없음   □ 오류   □ 처리불가   □ 완료</a:t>
            </a:r>
            <a:endParaRPr lang="en-US" sz="900" dirty="0"/>
          </a:p>
        </p:txBody>
      </p:sp>
      <p:sp>
        <p:nvSpPr>
          <p:cNvPr id="32" name="Text 27"/>
          <p:cNvSpPr txBox="1"/>
          <p:nvPr/>
        </p:nvSpPr>
        <p:spPr>
          <a:xfrm>
            <a:off x="5669280" y="5806440"/>
            <a:ext cx="868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이동 화면</a:t>
            </a:r>
            <a:endParaRPr lang="en-US" sz="900" dirty="0"/>
          </a:p>
        </p:txBody>
      </p:sp>
      <p:sp>
        <p:nvSpPr>
          <p:cNvPr id="33" name="Text 28"/>
          <p:cNvSpPr txBox="1"/>
          <p:nvPr/>
        </p:nvSpPr>
        <p:spPr>
          <a:xfrm>
            <a:off x="6537960" y="5806440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계획 추가·수정 → 입력 폼 준비 → SCR-B-001-P01 계획 작성·수정</a:t>
            </a:r>
            <a:endParaRPr lang="en-US" sz="900" dirty="0"/>
          </a:p>
        </p:txBody>
      </p:sp>
      <p:sp>
        <p:nvSpPr>
          <p:cNvPr id="35" name="Text 29"/>
          <p:cNvSpPr txBox="1"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82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정보시스템 캡스톤디자인 | 화면설계서·Storyboard Template</a:t>
            </a:r>
            <a:endParaRPr lang="en-US" sz="800" dirty="0"/>
          </a:p>
        </p:txBody>
      </p:sp>
      <p:sp>
        <p:nvSpPr>
          <p:cNvPr id="1002" name="Callout 1 circle"/>
          <p:cNvSpPr/>
          <p:nvPr/>
        </p:nvSpPr>
        <p:spPr>
          <a:xfrm>
            <a:off x="5458434" y="1635887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03" name="Callout 1 number"/>
          <p:cNvSpPr txBox="1"/>
          <p:nvPr/>
        </p:nvSpPr>
        <p:spPr>
          <a:xfrm>
            <a:off x="5458434" y="1635887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  <p:sp>
        <p:nvSpPr>
          <p:cNvPr id="1004" name="Callout 2 circle"/>
          <p:cNvSpPr/>
          <p:nvPr/>
        </p:nvSpPr>
        <p:spPr>
          <a:xfrm>
            <a:off x="5594498" y="2246389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05" name="Callout 2 number"/>
          <p:cNvSpPr txBox="1"/>
          <p:nvPr/>
        </p:nvSpPr>
        <p:spPr>
          <a:xfrm>
            <a:off x="5594498" y="2246389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  <p:sp>
        <p:nvSpPr>
          <p:cNvPr id="1006" name="Callout 3 circle"/>
          <p:cNvSpPr/>
          <p:nvPr/>
        </p:nvSpPr>
        <p:spPr>
          <a:xfrm>
            <a:off x="1024703" y="3104102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07" name="Callout 3 number"/>
          <p:cNvSpPr txBox="1"/>
          <p:nvPr/>
        </p:nvSpPr>
        <p:spPr>
          <a:xfrm>
            <a:off x="1024703" y="310410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  <p:sp>
        <p:nvSpPr>
          <p:cNvPr id="1008" name="Callout 4 circle"/>
          <p:cNvSpPr/>
          <p:nvPr/>
        </p:nvSpPr>
        <p:spPr>
          <a:xfrm>
            <a:off x="1122670" y="3798454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09" name="Callout 4 number"/>
          <p:cNvSpPr txBox="1"/>
          <p:nvPr/>
        </p:nvSpPr>
        <p:spPr>
          <a:xfrm>
            <a:off x="1122670" y="379845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  <p:sp>
        <p:nvSpPr>
          <p:cNvPr id="1010" name="Callout 5 circle"/>
          <p:cNvSpPr/>
          <p:nvPr/>
        </p:nvSpPr>
        <p:spPr>
          <a:xfrm>
            <a:off x="2089745" y="3798454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11" name="Callout 5 number"/>
          <p:cNvSpPr txBox="1"/>
          <p:nvPr/>
        </p:nvSpPr>
        <p:spPr>
          <a:xfrm>
            <a:off x="2089745" y="379845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00" dirty="0"/>
          </a:p>
        </p:txBody>
      </p:sp>
      <p:sp>
        <p:nvSpPr>
          <p:cNvPr id="1012" name="Callout 6 circle"/>
          <p:cNvSpPr/>
          <p:nvPr/>
        </p:nvSpPr>
        <p:spPr>
          <a:xfrm>
            <a:off x="4573253" y="3622166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13" name="Callout 6 number"/>
          <p:cNvSpPr txBox="1"/>
          <p:nvPr/>
        </p:nvSpPr>
        <p:spPr>
          <a:xfrm>
            <a:off x="4573253" y="362216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00" dirty="0"/>
          </a:p>
        </p:txBody>
      </p:sp>
      <p:sp>
        <p:nvSpPr>
          <p:cNvPr id="1014" name="Callout 7 circle"/>
          <p:cNvSpPr/>
          <p:nvPr/>
        </p:nvSpPr>
        <p:spPr>
          <a:xfrm>
            <a:off x="4573253" y="3104102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15" name="Callout 7 number"/>
          <p:cNvSpPr txBox="1"/>
          <p:nvPr/>
        </p:nvSpPr>
        <p:spPr>
          <a:xfrm>
            <a:off x="4573253" y="310410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ns2="http://schemas.microsoft.com/office/powerpoint/2010/main" xmlns:p="http://schemas.openxmlformats.org/presentationml/2006/main" xmlns:r="http://schemas.openxmlformats.org/officeDocument/2006/relationships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16459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화면설계서 · Storyboard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18288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64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/ 11 · 계획 작성·수정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11480" y="621792"/>
            <a:ext cx="11338560" cy="27432"/>
          </a:xfrm>
          <a:prstGeom prst="rect">
            <a:avLst/>
          </a:prstGeom>
          <a:solidFill>
            <a:srgbClr val="4371A0"/>
          </a:solidFill>
          <a:ln w="12700">
            <a:solidFill>
              <a:srgbClr val="4371A0"/>
            </a:solidFill>
            <a:prstDash val="solid"/>
          </a:ln>
        </p:spPr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ns2:modId val="1579011935"/>
              </p:ext>
            </p:extLst>
          </p:nvPr>
        </p:nvGraphicFramePr>
        <p:xfrm>
          <a:off x="502920" y="731520"/>
          <a:ext cx="11219688" cy="914400"/>
        </p:xfrm>
        <a:graphic>
          <a:graphicData uri="http://schemas.openxmlformats.org/drawingml/2006/table">
            <a:tbl>
              <a:tblPr/>
              <a:tblGrid>
                <a:gridCol w="804672"/>
                <a:gridCol w="1188720"/>
                <a:gridCol w="621792"/>
                <a:gridCol w="1417320"/>
                <a:gridCol w="548640"/>
                <a:gridCol w="1325880"/>
                <a:gridCol w="658368"/>
                <a:gridCol w="2423160"/>
                <a:gridCol w="475488"/>
                <a:gridCol w="1755648"/>
              </a:tblGrid>
              <a:tr h="4937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63E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Screen ID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SCR-B-001-P01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63E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화면명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계획 작성·수정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63E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Actor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사업체 운영자 · 서비스 운영자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63E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관련 UC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UC03 3개월 홍보 일정표 관리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63E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경로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메인 &gt; 3개월 홍보 일정표 관리 &gt; 계획 작성·수정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02920" y="1325880"/>
            <a:ext cx="6355080" cy="4389120"/>
          </a:xfrm>
          <a:prstGeom prst="rect">
            <a:avLst/>
          </a:prstGeom>
          <a:solidFill>
            <a:srgbClr val="FFFFFF"/>
          </a:solidFill>
          <a:ln w="9525">
            <a:solidFill>
              <a:srgbClr val="B9C6D4"/>
            </a:solidFill>
            <a:prstDash val="solid"/>
          </a:ln>
        </p:spPr>
      </p:sp>
      <p:pic>
        <p:nvPicPr>
          <p:cNvPr id="7" name="Image 0" descr="plan-edit | Figma Make screenshot | https://blob-silver-16955234.figma.site/#calendar" title="plan-edit">
            <a:hlinkClick r:id="rIdRevisedMake" tooltip="Figma Make 수정본 열기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1697608"/>
            <a:ext cx="4142232" cy="3627376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603504" y="1697608"/>
            <a:ext cx="4142232" cy="3627376"/>
          </a:xfrm>
          <a:prstGeom prst="rect">
            <a:avLst/>
          </a:prstGeom>
          <a:ln w="6350">
            <a:solidFill>
              <a:srgbClr val="D0D7DE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4846320" y="2434985"/>
            <a:ext cx="1901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750" dirty="0">
                <a:solidFill>
                  <a:srgbClr val="6464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⑥ 계획 삭제 클릭 시 팝업</a:t>
            </a:r>
            <a:endParaRPr lang="en-US" sz="750" dirty="0"/>
          </a:p>
        </p:txBody>
      </p:sp>
      <p:pic>
        <p:nvPicPr>
          <p:cNvPr id="26" name="Image 1" descr="plan-delete-confirm | Figma Make screenshot | https://blob-silver-16955234.figma.site/#calendar" title="plan-delete-confirm">
            <a:hlinkClick r:id="rIdRevisedMake" tooltip="Figma Make 수정본 열기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2729305"/>
            <a:ext cx="1901952" cy="731878"/>
          </a:xfrm>
          <a:prstGeom prst="rect">
            <a:avLst/>
          </a:prstGeom>
        </p:spPr>
      </p:pic>
      <p:sp>
        <p:nvSpPr>
          <p:cNvPr id="27" name="Shape 22"/>
          <p:cNvSpPr/>
          <p:nvPr/>
        </p:nvSpPr>
        <p:spPr>
          <a:xfrm>
            <a:off x="4846320" y="2729305"/>
            <a:ext cx="1901952" cy="731878"/>
          </a:xfrm>
          <a:prstGeom prst="rect">
            <a:avLst/>
          </a:prstGeom>
          <a:ln w="12700">
            <a:solidFill>
              <a:srgbClr val="D73737"/>
            </a:solidFill>
            <a:prstDash val="solid"/>
          </a:ln>
        </p:spPr>
      </p:sp>
      <p:sp>
        <p:nvSpPr>
          <p:cNvPr id="32" name="Text 27"/>
          <p:cNvSpPr txBox="1"/>
          <p:nvPr/>
        </p:nvSpPr>
        <p:spPr>
          <a:xfrm>
            <a:off x="4846320" y="3706216"/>
            <a:ext cx="1901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750" dirty="0">
                <a:solidFill>
                  <a:srgbClr val="6464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⑧ 저장 성공 시 토스트</a:t>
            </a:r>
            <a:endParaRPr lang="en-US" sz="750" dirty="0"/>
          </a:p>
        </p:txBody>
      </p:sp>
      <p:pic>
        <p:nvPicPr>
          <p:cNvPr id="33" name="Image 2" descr="plan-saved | Figma Make screenshot | https://blob-silver-16955234.figma.site/#calendar" title="plan-saved">
            <a:hlinkClick r:id="rIdRevisedMake" tooltip="Figma Make 수정본 열기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4000536"/>
            <a:ext cx="1901952" cy="612576"/>
          </a:xfrm>
          <a:prstGeom prst="rect">
            <a:avLst/>
          </a:prstGeom>
        </p:spPr>
      </p:pic>
      <p:sp>
        <p:nvSpPr>
          <p:cNvPr id="34" name="Shape 28"/>
          <p:cNvSpPr/>
          <p:nvPr/>
        </p:nvSpPr>
        <p:spPr>
          <a:xfrm>
            <a:off x="4846320" y="4000536"/>
            <a:ext cx="1901952" cy="612576"/>
          </a:xfrm>
          <a:prstGeom prst="rect">
            <a:avLst/>
          </a:prstGeom>
          <a:ln w="12700">
            <a:solidFill>
              <a:srgbClr val="D73737"/>
            </a:solidFill>
            <a:prstDash val="solid"/>
          </a:ln>
        </p:spPr>
      </p:sp>
      <p:sp>
        <p:nvSpPr>
          <p:cNvPr id="37" name="Shape 31"/>
          <p:cNvSpPr/>
          <p:nvPr/>
        </p:nvSpPr>
        <p:spPr>
          <a:xfrm>
            <a:off x="6995160" y="1325880"/>
            <a:ext cx="4727448" cy="4389120"/>
          </a:xfrm>
          <a:prstGeom prst="rect">
            <a:avLst/>
          </a:prstGeom>
          <a:solidFill>
            <a:srgbClr val="FFFFFF"/>
          </a:solidFill>
          <a:ln w="9525">
            <a:solidFill>
              <a:srgbClr val="B9C6D4"/>
            </a:solidFill>
            <a:prstDash val="solid"/>
          </a:ln>
        </p:spPr>
      </p:sp>
      <p:sp>
        <p:nvSpPr>
          <p:cNvPr id="38" name="Shape 32"/>
          <p:cNvSpPr/>
          <p:nvPr/>
        </p:nvSpPr>
        <p:spPr>
          <a:xfrm>
            <a:off x="6995160" y="1325880"/>
            <a:ext cx="4727448" cy="365760"/>
          </a:xfrm>
          <a:prstGeom prst="rect">
            <a:avLst/>
          </a:prstGeom>
          <a:solidFill>
            <a:srgbClr val="263E5C"/>
          </a:solidFill>
          <a:ln w="12700">
            <a:solidFill>
              <a:srgbClr val="263E5C"/>
            </a:solidFill>
            <a:prstDash val="solid"/>
          </a:ln>
        </p:spPr>
      </p:sp>
      <p:sp>
        <p:nvSpPr>
          <p:cNvPr id="39" name="Text 33"/>
          <p:cNvSpPr txBox="1"/>
          <p:nvPr/>
        </p:nvSpPr>
        <p:spPr>
          <a:xfrm>
            <a:off x="6995160" y="1325880"/>
            <a:ext cx="4727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Description (화면설명)</a:t>
            </a:r>
            <a:endParaRPr lang="en-US" sz="1000" dirty="0"/>
          </a:p>
        </p:txBody>
      </p:sp>
      <p:graphicFrame>
        <p:nvGraphicFramePr>
          <p:cNvPr id="43" name="Table 1"/>
          <p:cNvGraphicFramePr>
            <a:graphicFrameLocks noGrp="1"/>
          </p:cNvGraphicFramePr>
          <p:nvPr>
            <p:extLst>
              <p:ext uri="{D42A27DB-BD31-4B8C-83A1-F6EECF244321}">
                <ns2:modId val="1579011935"/>
              </p:ext>
            </p:extLst>
          </p:nvPr>
        </p:nvGraphicFramePr>
        <p:xfrm>
          <a:off x="7050024" y="1755648"/>
          <a:ext cx="4617720" cy="914400"/>
        </p:xfrm>
        <a:graphic>
          <a:graphicData uri="http://schemas.openxmlformats.org/drawingml/2006/table">
            <a:tbl>
              <a:tblPr/>
              <a:tblGrid>
                <a:gridCol w="274320"/>
                <a:gridCol w="4343400"/>
              </a:tblGrid>
              <a:tr h="1844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①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✕ 클릭 → 변경 내용 저장 취소 → 팝업 닫고 SCR-B-001 유지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44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②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활동 제목 입력 → 공백·길이 검사 → 오류 시 입력란에 안내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44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③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예정 날짜 선택 → 3개월 범위 검사 → 범위 밖이면 저장 차단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44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④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홍보 채널 선택 → 선택값 반영 → 저장 후 일정 카드에 표시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44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⑤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준비 내용 입력 → 상품·준비사항 반영 → 계획에 포함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44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⑥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계획 삭제 클릭 → 삭제 의사 확인 요청 → 삭제 확인 팝업 표시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44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⑦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취소 클릭 → 변경 내용 저장 취소 → SCR-B-001 복귀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44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⑧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저장 클릭 → 권한·입력 검사 후 서버 저장 → 팝업 닫고 목록 갱신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44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⑨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삭제 확인 취소·✕ 클릭 → 삭제 취소 → 계획 수정 팝업 유지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44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⑩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삭제 클릭 → 권한 확인 후 계획 삭제 → SCR-B-001 목록 갱신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44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⑪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저장 성공 → 완료 메시지 생성 → 계획 저장 완료 알림 표시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1" name="Shape 34"/>
          <p:cNvSpPr/>
          <p:nvPr/>
        </p:nvSpPr>
        <p:spPr>
          <a:xfrm>
            <a:off x="7050024" y="4967414"/>
            <a:ext cx="4617720" cy="692722"/>
          </a:xfrm>
          <a:prstGeom prst="rect">
            <a:avLst/>
          </a:prstGeom>
          <a:solidFill>
            <a:srgbClr val="F7F9FB"/>
          </a:solidFill>
          <a:ln w="6350">
            <a:solidFill>
              <a:srgbClr val="E1E7EE"/>
            </a:solidFill>
            <a:prstDash val="solid"/>
          </a:ln>
        </p:spPr>
      </p:sp>
      <p:sp>
        <p:nvSpPr>
          <p:cNvPr id="42" name="Text 35"/>
          <p:cNvSpPr txBox="1"/>
          <p:nvPr/>
        </p:nvSpPr>
        <p:spPr>
          <a:xfrm>
            <a:off x="7104888" y="4994846"/>
            <a:ext cx="4507992" cy="6378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8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비고</a:t>
            </a:r>
            <a:endParaRPr lang="en-US" sz="8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750" dirty="0">
                <a:solidFill>
                  <a:srgbClr val="6464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서비스 운영자는 관리 권한을 받은 사업체의 계획·기록만 처리</a:t>
            </a:r>
            <a:endParaRPr lang="en-US" sz="8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750" dirty="0">
                <a:solidFill>
                  <a:srgbClr val="6464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입력 오류는 해당 필드에 표시하고 입력 유지</a:t>
            </a:r>
            <a:endParaRPr lang="en-US" sz="8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750" dirty="0">
                <a:solidFill>
                  <a:srgbClr val="6464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저장 실패는 다음 페이지에서 설명</a:t>
            </a:r>
            <a:endParaRPr lang="en-US" sz="800" dirty="0"/>
          </a:p>
        </p:txBody>
      </p:sp>
      <p:sp>
        <p:nvSpPr>
          <p:cNvPr id="2000" name="Shape 36"/>
          <p:cNvSpPr/>
          <p:nvPr/>
        </p:nvSpPr>
        <p:spPr>
          <a:xfrm>
            <a:off x="502920" y="5806440"/>
            <a:ext cx="11219688" cy="475488"/>
          </a:xfrm>
          <a:prstGeom prst="rect">
            <a:avLst/>
          </a:prstGeom>
          <a:solidFill>
            <a:srgbClr val="EFF3F7"/>
          </a:solidFill>
          <a:ln w="12700">
            <a:solidFill>
              <a:srgbClr val="EFF3F7"/>
            </a:solidFill>
            <a:prstDash val="solid"/>
          </a:ln>
        </p:spPr>
      </p:sp>
      <p:sp>
        <p:nvSpPr>
          <p:cNvPr id="44" name="Text 37"/>
          <p:cNvSpPr txBox="1"/>
          <p:nvPr/>
        </p:nvSpPr>
        <p:spPr>
          <a:xfrm>
            <a:off x="685800" y="5806440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상태</a:t>
            </a:r>
            <a:endParaRPr lang="en-US" sz="900" dirty="0"/>
          </a:p>
        </p:txBody>
      </p:sp>
      <p:sp>
        <p:nvSpPr>
          <p:cNvPr id="45" name="Text 38"/>
          <p:cNvSpPr txBox="1"/>
          <p:nvPr/>
        </p:nvSpPr>
        <p:spPr>
          <a:xfrm>
            <a:off x="1600200" y="5806440"/>
            <a:ext cx="4023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■ 정상   □ 결과없음   ■ 오류   □ 처리불가   ■ 완료</a:t>
            </a:r>
            <a:endParaRPr lang="en-US" sz="900" dirty="0"/>
          </a:p>
        </p:txBody>
      </p:sp>
      <p:sp>
        <p:nvSpPr>
          <p:cNvPr id="46" name="Text 39"/>
          <p:cNvSpPr txBox="1"/>
          <p:nvPr/>
        </p:nvSpPr>
        <p:spPr>
          <a:xfrm>
            <a:off x="5669280" y="5806440"/>
            <a:ext cx="868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이동 화면</a:t>
            </a:r>
            <a:endParaRPr lang="en-US" sz="900" dirty="0"/>
          </a:p>
        </p:txBody>
      </p:sp>
      <p:sp>
        <p:nvSpPr>
          <p:cNvPr id="47" name="Text 40"/>
          <p:cNvSpPr txBox="1"/>
          <p:nvPr/>
        </p:nvSpPr>
        <p:spPr>
          <a:xfrm>
            <a:off x="6537960" y="5806440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 → 권한·입력 검사·서버 저장 → SCR-B-001 목록 갱신</a:t>
            </a:r>
            <a:endParaRPr lang="en-US" sz="900" dirty="0"/>
          </a:p>
        </p:txBody>
      </p:sp>
      <p:sp>
        <p:nvSpPr>
          <p:cNvPr id="49" name="Text 41"/>
          <p:cNvSpPr txBox="1"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82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정보시스템 캡스톤디자인 | 화면설계서·Storyboard Template</a:t>
            </a:r>
            <a:endParaRPr lang="en-US" sz="800" dirty="0"/>
          </a:p>
        </p:txBody>
      </p:sp>
      <p:sp>
        <p:nvSpPr>
          <p:cNvPr id="1002" name="Callout 1 circle"/>
          <p:cNvSpPr/>
          <p:nvPr/>
        </p:nvSpPr>
        <p:spPr>
          <a:xfrm>
            <a:off x="4199987" y="1910781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03" name="Callout 1 number"/>
          <p:cNvSpPr txBox="1"/>
          <p:nvPr/>
        </p:nvSpPr>
        <p:spPr>
          <a:xfrm>
            <a:off x="4199987" y="1910781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  <p:sp>
        <p:nvSpPr>
          <p:cNvPr id="1004" name="Callout 2 circle"/>
          <p:cNvSpPr/>
          <p:nvPr/>
        </p:nvSpPr>
        <p:spPr>
          <a:xfrm>
            <a:off x="632322" y="2681708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05" name="Callout 2 number"/>
          <p:cNvSpPr txBox="1"/>
          <p:nvPr/>
        </p:nvSpPr>
        <p:spPr>
          <a:xfrm>
            <a:off x="632322" y="268170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  <p:sp>
        <p:nvSpPr>
          <p:cNvPr id="1006" name="Callout 3 circle"/>
          <p:cNvSpPr/>
          <p:nvPr/>
        </p:nvSpPr>
        <p:spPr>
          <a:xfrm>
            <a:off x="632322" y="3284252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07" name="Callout 3 number"/>
          <p:cNvSpPr txBox="1"/>
          <p:nvPr/>
        </p:nvSpPr>
        <p:spPr>
          <a:xfrm>
            <a:off x="632322" y="328425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  <p:sp>
        <p:nvSpPr>
          <p:cNvPr id="1008" name="Callout 4 circle"/>
          <p:cNvSpPr/>
          <p:nvPr/>
        </p:nvSpPr>
        <p:spPr>
          <a:xfrm>
            <a:off x="2576499" y="3284252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09" name="Callout 4 number"/>
          <p:cNvSpPr txBox="1"/>
          <p:nvPr/>
        </p:nvSpPr>
        <p:spPr>
          <a:xfrm>
            <a:off x="2576499" y="328425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  <p:sp>
        <p:nvSpPr>
          <p:cNvPr id="1010" name="Callout 5 circle"/>
          <p:cNvSpPr/>
          <p:nvPr/>
        </p:nvSpPr>
        <p:spPr>
          <a:xfrm>
            <a:off x="632322" y="3886797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11" name="Callout 5 number"/>
          <p:cNvSpPr txBox="1"/>
          <p:nvPr/>
        </p:nvSpPr>
        <p:spPr>
          <a:xfrm>
            <a:off x="632322" y="3886797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00" dirty="0"/>
          </a:p>
        </p:txBody>
      </p:sp>
      <p:sp>
        <p:nvSpPr>
          <p:cNvPr id="1012" name="Callout 6 circle"/>
          <p:cNvSpPr/>
          <p:nvPr/>
        </p:nvSpPr>
        <p:spPr>
          <a:xfrm>
            <a:off x="632322" y="4860764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13" name="Callout 6 number"/>
          <p:cNvSpPr txBox="1"/>
          <p:nvPr/>
        </p:nvSpPr>
        <p:spPr>
          <a:xfrm>
            <a:off x="632322" y="486076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00" dirty="0"/>
          </a:p>
        </p:txBody>
      </p:sp>
      <p:sp>
        <p:nvSpPr>
          <p:cNvPr id="1014" name="Callout 7 circle"/>
          <p:cNvSpPr/>
          <p:nvPr/>
        </p:nvSpPr>
        <p:spPr>
          <a:xfrm>
            <a:off x="3449416" y="4860764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15" name="Callout 7 number"/>
          <p:cNvSpPr txBox="1"/>
          <p:nvPr/>
        </p:nvSpPr>
        <p:spPr>
          <a:xfrm>
            <a:off x="3449416" y="486076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800" dirty="0"/>
          </a:p>
        </p:txBody>
      </p:sp>
      <p:sp>
        <p:nvSpPr>
          <p:cNvPr id="1016" name="Callout 8 circle"/>
          <p:cNvSpPr/>
          <p:nvPr/>
        </p:nvSpPr>
        <p:spPr>
          <a:xfrm>
            <a:off x="3888171" y="4860764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17" name="Callout 8 number"/>
          <p:cNvSpPr txBox="1"/>
          <p:nvPr/>
        </p:nvSpPr>
        <p:spPr>
          <a:xfrm>
            <a:off x="3888171" y="486076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800" dirty="0"/>
          </a:p>
        </p:txBody>
      </p:sp>
      <p:sp>
        <p:nvSpPr>
          <p:cNvPr id="1018" name="Callout 9 circle"/>
          <p:cNvSpPr/>
          <p:nvPr/>
        </p:nvSpPr>
        <p:spPr>
          <a:xfrm>
            <a:off x="6448231" y="2777732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19" name="Callout 9 number"/>
          <p:cNvSpPr txBox="1"/>
          <p:nvPr/>
        </p:nvSpPr>
        <p:spPr>
          <a:xfrm>
            <a:off x="6448231" y="277773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800" dirty="0"/>
          </a:p>
        </p:txBody>
      </p:sp>
      <p:sp>
        <p:nvSpPr>
          <p:cNvPr id="1020" name="Callout 10 circle"/>
          <p:cNvSpPr/>
          <p:nvPr/>
        </p:nvSpPr>
        <p:spPr>
          <a:xfrm>
            <a:off x="6315267" y="3198577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21" name="Callout 10 number"/>
          <p:cNvSpPr txBox="1"/>
          <p:nvPr/>
        </p:nvSpPr>
        <p:spPr>
          <a:xfrm>
            <a:off x="6315267" y="3198577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800" dirty="0"/>
          </a:p>
        </p:txBody>
      </p:sp>
      <p:sp>
        <p:nvSpPr>
          <p:cNvPr id="1022" name="Callout 11 circle"/>
          <p:cNvSpPr/>
          <p:nvPr/>
        </p:nvSpPr>
        <p:spPr>
          <a:xfrm>
            <a:off x="4846320" y="4066177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23" name="Callout 11 number"/>
          <p:cNvSpPr txBox="1"/>
          <p:nvPr/>
        </p:nvSpPr>
        <p:spPr>
          <a:xfrm>
            <a:off x="4846320" y="4066177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ns2="http://schemas.microsoft.com/office/powerpoint/2010/main" xmlns:p="http://schemas.openxmlformats.org/presentationml/2006/main" xmlns:r="http://schemas.openxmlformats.org/officeDocument/2006/relationships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16459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화면설계서 · Storyboard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18288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64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/ 12 · 계획 작성 · 저장 실패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11480" y="621792"/>
            <a:ext cx="11338560" cy="27432"/>
          </a:xfrm>
          <a:prstGeom prst="rect">
            <a:avLst/>
          </a:prstGeom>
          <a:solidFill>
            <a:srgbClr val="4371A0"/>
          </a:solidFill>
          <a:ln w="12700">
            <a:solidFill>
              <a:srgbClr val="4371A0"/>
            </a:solidFill>
            <a:prstDash val="solid"/>
          </a:ln>
        </p:spPr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ns2:modId val="1579011935"/>
              </p:ext>
            </p:extLst>
          </p:nvPr>
        </p:nvGraphicFramePr>
        <p:xfrm>
          <a:off x="502920" y="731520"/>
          <a:ext cx="11219688" cy="914400"/>
        </p:xfrm>
        <a:graphic>
          <a:graphicData uri="http://schemas.openxmlformats.org/drawingml/2006/table">
            <a:tbl>
              <a:tblPr/>
              <a:tblGrid>
                <a:gridCol w="804672"/>
                <a:gridCol w="1188720"/>
                <a:gridCol w="621792"/>
                <a:gridCol w="1417320"/>
                <a:gridCol w="548640"/>
                <a:gridCol w="1325880"/>
                <a:gridCol w="658368"/>
                <a:gridCol w="2423160"/>
                <a:gridCol w="475488"/>
                <a:gridCol w="1755648"/>
              </a:tblGrid>
              <a:tr h="4937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63E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Screen ID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SCR-B-001-P01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63E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화면명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계획 작성 · 저장 실패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63E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Actor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사업체 운영자 · 서비스 운영자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63E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관련 UC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UC03 3개월 홍보 일정표 관리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63E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경로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메인 &gt; 3개월 홍보 일정표 관리 &gt; 계획 작성·수정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02920" y="1325880"/>
            <a:ext cx="6355080" cy="4389120"/>
          </a:xfrm>
          <a:prstGeom prst="rect">
            <a:avLst/>
          </a:prstGeom>
          <a:solidFill>
            <a:srgbClr val="FFFFFF"/>
          </a:solidFill>
          <a:ln w="9525">
            <a:solidFill>
              <a:srgbClr val="B9C6D4"/>
            </a:solidFill>
            <a:prstDash val="solid"/>
          </a:ln>
        </p:spPr>
      </p:sp>
      <p:pic>
        <p:nvPicPr>
          <p:cNvPr id="7" name="Image 0" descr="plan-save-error | Figma Make screenshot | https://blob-silver-16955234.figma.site/#calendar" title="plan-save-error">
            <a:hlinkClick r:id="rIdRevisedMake" tooltip="Figma Make 수정본 열기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6040" y="1389888"/>
            <a:ext cx="4437984" cy="4242816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1466040" y="1389888"/>
            <a:ext cx="4437984" cy="4242816"/>
          </a:xfrm>
          <a:prstGeom prst="rect">
            <a:avLst/>
          </a:prstGeom>
          <a:ln w="6350">
            <a:solidFill>
              <a:srgbClr val="D0D7DE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995160" y="1325880"/>
            <a:ext cx="4727448" cy="4389120"/>
          </a:xfrm>
          <a:prstGeom prst="rect">
            <a:avLst/>
          </a:prstGeom>
          <a:solidFill>
            <a:srgbClr val="FFFFFF"/>
          </a:solidFill>
          <a:ln w="9525">
            <a:solidFill>
              <a:srgbClr val="B9C6D4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995160" y="1325880"/>
            <a:ext cx="4727448" cy="365760"/>
          </a:xfrm>
          <a:prstGeom prst="rect">
            <a:avLst/>
          </a:prstGeom>
          <a:solidFill>
            <a:srgbClr val="263E5C"/>
          </a:solidFill>
          <a:ln w="12700">
            <a:solidFill>
              <a:srgbClr val="263E5C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6995160" y="1325880"/>
            <a:ext cx="4727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Description (화면설명)</a:t>
            </a:r>
            <a:endParaRPr lang="en-US" sz="1000" dirty="0"/>
          </a:p>
        </p:txBody>
      </p:sp>
      <p:graphicFrame>
        <p:nvGraphicFramePr>
          <p:cNvPr id="45" name="Table 1"/>
          <p:cNvGraphicFramePr>
            <a:graphicFrameLocks noGrp="1"/>
          </p:cNvGraphicFramePr>
          <p:nvPr>
            <p:extLst>
              <p:ext uri="{D42A27DB-BD31-4B8C-83A1-F6EECF244321}">
                <ns2:modId val="1579011935"/>
              </p:ext>
            </p:extLst>
          </p:nvPr>
        </p:nvGraphicFramePr>
        <p:xfrm>
          <a:off x="7050024" y="1755648"/>
          <a:ext cx="4617720" cy="914400"/>
        </p:xfrm>
        <a:graphic>
          <a:graphicData uri="http://schemas.openxmlformats.org/drawingml/2006/table">
            <a:tbl>
              <a:tblPr/>
              <a:tblGrid>
                <a:gridCol w="274320"/>
                <a:gridCol w="4343400"/>
              </a:tblGrid>
              <a:tr h="1844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①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입력 내용 확인·수정 → 실패 전 입력값 유지 → 계획 작성 폼에서 재시도 준비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39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②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오류 확인 → 완료 처리 없이 기존 저장본 유지 → 저장 실패·재시도 안내 표시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44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③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다시 저장 클릭 → 권한·입력 재검사 후 저장 → 성공 시 SCR-B-001 목록 갱신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9" name="Shape 14"/>
          <p:cNvSpPr/>
          <p:nvPr/>
        </p:nvSpPr>
        <p:spPr>
          <a:xfrm>
            <a:off x="7050024" y="4967414"/>
            <a:ext cx="4617720" cy="692722"/>
          </a:xfrm>
          <a:prstGeom prst="rect">
            <a:avLst/>
          </a:prstGeom>
          <a:solidFill>
            <a:srgbClr val="F7F9FB"/>
          </a:solidFill>
          <a:ln w="6350">
            <a:solidFill>
              <a:srgbClr val="E1E7EE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7104888" y="4994846"/>
            <a:ext cx="4507992" cy="6378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8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비고</a:t>
            </a:r>
            <a:endParaRPr lang="en-US" sz="8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750" dirty="0">
                <a:solidFill>
                  <a:srgbClr val="6464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서비스 운영자는 관리 권한을 받은 사업체의 계획·기록만 처리</a:t>
            </a:r>
            <a:endParaRPr lang="en-US" sz="8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750" dirty="0">
                <a:solidFill>
                  <a:srgbClr val="6464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실패 시 작성 완료로 표시하지 않고 입력 유지</a:t>
            </a:r>
            <a:endParaRPr lang="en-US" sz="8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750" dirty="0">
                <a:solidFill>
                  <a:srgbClr val="6464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재시도 성공 후에만 목록 갱신·완료 안내</a:t>
            </a:r>
            <a:endParaRPr lang="en-US" sz="800" dirty="0"/>
          </a:p>
        </p:txBody>
      </p:sp>
      <p:sp>
        <p:nvSpPr>
          <p:cNvPr id="21" name="Shape 16"/>
          <p:cNvSpPr/>
          <p:nvPr/>
        </p:nvSpPr>
        <p:spPr>
          <a:xfrm>
            <a:off x="502920" y="5806440"/>
            <a:ext cx="11219688" cy="475488"/>
          </a:xfrm>
          <a:prstGeom prst="rect">
            <a:avLst/>
          </a:prstGeom>
          <a:solidFill>
            <a:srgbClr val="EFF3F7"/>
          </a:solidFill>
          <a:ln w="12700">
            <a:solidFill>
              <a:srgbClr val="EFF3F7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685800" y="5806440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상태</a:t>
            </a:r>
            <a:endParaRPr lang="en-US" sz="900" dirty="0"/>
          </a:p>
        </p:txBody>
      </p:sp>
      <p:sp>
        <p:nvSpPr>
          <p:cNvPr id="2000" name="Text 18"/>
          <p:cNvSpPr txBox="1"/>
          <p:nvPr/>
        </p:nvSpPr>
        <p:spPr>
          <a:xfrm>
            <a:off x="1600200" y="5806440"/>
            <a:ext cx="4023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□ 정상   □ 결과없음   ■ 오류   □ 처리불가   □ 완료</a:t>
            </a:r>
            <a:endParaRPr lang="en-US" sz="900" dirty="0"/>
          </a:p>
        </p:txBody>
      </p:sp>
      <p:sp>
        <p:nvSpPr>
          <p:cNvPr id="24" name="Text 19"/>
          <p:cNvSpPr txBox="1"/>
          <p:nvPr/>
        </p:nvSpPr>
        <p:spPr>
          <a:xfrm>
            <a:off x="5669280" y="5806440"/>
            <a:ext cx="868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이동 화면</a:t>
            </a:r>
            <a:endParaRPr lang="en-US" sz="900" dirty="0"/>
          </a:p>
        </p:txBody>
      </p:sp>
      <p:sp>
        <p:nvSpPr>
          <p:cNvPr id="25" name="Text 20"/>
          <p:cNvSpPr txBox="1"/>
          <p:nvPr/>
        </p:nvSpPr>
        <p:spPr>
          <a:xfrm>
            <a:off x="6537960" y="5806440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다시 저장 → 재검사·서버 저장 → SCR-B-001 목록 갱신</a:t>
            </a:r>
            <a:endParaRPr lang="en-US" sz="900" dirty="0"/>
          </a:p>
        </p:txBody>
      </p:sp>
      <p:sp>
        <p:nvSpPr>
          <p:cNvPr id="27" name="Text 21"/>
          <p:cNvSpPr txBox="1"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82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정보시스템 캡스톤디자인 | 화면설계서·Storyboard Template</a:t>
            </a:r>
            <a:endParaRPr lang="en-US" sz="800" dirty="0"/>
          </a:p>
        </p:txBody>
      </p:sp>
      <p:sp>
        <p:nvSpPr>
          <p:cNvPr id="1002" name="Callout 1 circle"/>
          <p:cNvSpPr/>
          <p:nvPr/>
        </p:nvSpPr>
        <p:spPr>
          <a:xfrm>
            <a:off x="1503445" y="2450780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03" name="Callout 1 number"/>
          <p:cNvSpPr txBox="1"/>
          <p:nvPr/>
        </p:nvSpPr>
        <p:spPr>
          <a:xfrm>
            <a:off x="1503445" y="245078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  <p:sp>
        <p:nvSpPr>
          <p:cNvPr id="1004" name="Callout 2 circle"/>
          <p:cNvSpPr/>
          <p:nvPr/>
        </p:nvSpPr>
        <p:spPr>
          <a:xfrm>
            <a:off x="1503445" y="4613627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05" name="Callout 2 number"/>
          <p:cNvSpPr txBox="1"/>
          <p:nvPr/>
        </p:nvSpPr>
        <p:spPr>
          <a:xfrm>
            <a:off x="1503445" y="4613627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  <p:sp>
        <p:nvSpPr>
          <p:cNvPr id="1006" name="Callout 3 circle"/>
          <p:cNvSpPr/>
          <p:nvPr/>
        </p:nvSpPr>
        <p:spPr>
          <a:xfrm>
            <a:off x="4991758" y="5141868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07" name="Callout 3 number"/>
          <p:cNvSpPr txBox="1"/>
          <p:nvPr/>
        </p:nvSpPr>
        <p:spPr>
          <a:xfrm>
            <a:off x="4991758" y="514186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ns2="http://schemas.microsoft.com/office/powerpoint/2010/main" xmlns:p="http://schemas.openxmlformats.org/presentationml/2006/main" xmlns:r="http://schemas.openxmlformats.org/officeDocument/2006/relationships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16459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화면설계서 · Storyboard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18288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64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/ 13 · 사용 기록 입력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11480" y="621792"/>
            <a:ext cx="11338560" cy="27432"/>
          </a:xfrm>
          <a:prstGeom prst="rect">
            <a:avLst/>
          </a:prstGeom>
          <a:solidFill>
            <a:srgbClr val="4371A0"/>
          </a:solidFill>
          <a:ln w="12700">
            <a:solidFill>
              <a:srgbClr val="4371A0"/>
            </a:solidFill>
            <a:prstDash val="solid"/>
          </a:ln>
        </p:spPr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ns2:modId val="1579011935"/>
              </p:ext>
            </p:extLst>
          </p:nvPr>
        </p:nvGraphicFramePr>
        <p:xfrm>
          <a:off x="502920" y="731520"/>
          <a:ext cx="11219688" cy="914400"/>
        </p:xfrm>
        <a:graphic>
          <a:graphicData uri="http://schemas.openxmlformats.org/drawingml/2006/table">
            <a:tbl>
              <a:tblPr/>
              <a:tblGrid>
                <a:gridCol w="804672"/>
                <a:gridCol w="1188720"/>
                <a:gridCol w="621792"/>
                <a:gridCol w="1417320"/>
                <a:gridCol w="548640"/>
                <a:gridCol w="1325880"/>
                <a:gridCol w="658368"/>
                <a:gridCol w="2423160"/>
                <a:gridCol w="475488"/>
                <a:gridCol w="1755648"/>
              </a:tblGrid>
              <a:tr h="4937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63E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Screen ID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SCR-B-002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63E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화면명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사용 기록 입력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63E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Actor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사업체 운영자 · 서비스 운영자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63E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관련 UC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UC04 사용 기록 입력 · UC05 계획 이행 확인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63E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경로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메인 &gt; 사용 기록 입력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02920" y="1325880"/>
            <a:ext cx="6355080" cy="4389120"/>
          </a:xfrm>
          <a:prstGeom prst="rect">
            <a:avLst/>
          </a:prstGeom>
          <a:solidFill>
            <a:srgbClr val="FFFFFF"/>
          </a:solidFill>
          <a:ln w="9525">
            <a:solidFill>
              <a:srgbClr val="B9C6D4"/>
            </a:solidFill>
            <a:prstDash val="solid"/>
          </a:ln>
        </p:spPr>
      </p:sp>
      <p:pic>
        <p:nvPicPr>
          <p:cNvPr id="7" name="Image 0" descr="records | Figma Make screenshot | https://blob-silver-16955234.figma.site/#records" title="records">
            <a:hlinkClick r:id="rIdRevisedMake" tooltip="Figma Make 수정본 열기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216" y="1456767"/>
            <a:ext cx="6199632" cy="4109058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85216" y="1456767"/>
            <a:ext cx="6199632" cy="4109058"/>
          </a:xfrm>
          <a:prstGeom prst="rect">
            <a:avLst/>
          </a:prstGeom>
          <a:ln w="6350">
            <a:solidFill>
              <a:srgbClr val="D0D7DE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6995160" y="1325880"/>
            <a:ext cx="4727448" cy="4389120"/>
          </a:xfrm>
          <a:prstGeom prst="rect">
            <a:avLst/>
          </a:prstGeom>
          <a:solidFill>
            <a:srgbClr val="FFFFFF"/>
          </a:solidFill>
          <a:ln w="9525">
            <a:solidFill>
              <a:srgbClr val="B9C6D4"/>
            </a:solidFill>
            <a:prstDash val="solid"/>
          </a:ln>
        </p:spPr>
      </p:sp>
      <p:sp>
        <p:nvSpPr>
          <p:cNvPr id="2000" name="Shape 20"/>
          <p:cNvSpPr/>
          <p:nvPr/>
        </p:nvSpPr>
        <p:spPr>
          <a:xfrm>
            <a:off x="6995160" y="1325880"/>
            <a:ext cx="4727448" cy="365760"/>
          </a:xfrm>
          <a:prstGeom prst="rect">
            <a:avLst/>
          </a:prstGeom>
          <a:solidFill>
            <a:srgbClr val="263E5C"/>
          </a:solidFill>
          <a:ln w="12700">
            <a:solidFill>
              <a:srgbClr val="263E5C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6995160" y="1325880"/>
            <a:ext cx="4727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Description (화면설명)</a:t>
            </a:r>
            <a:endParaRPr lang="en-US" sz="1000" dirty="0"/>
          </a:p>
        </p:txBody>
      </p:sp>
      <p:graphicFrame>
        <p:nvGraphicFramePr>
          <p:cNvPr id="47" name="Table 1"/>
          <p:cNvGraphicFramePr>
            <a:graphicFrameLocks noGrp="1"/>
          </p:cNvGraphicFramePr>
          <p:nvPr>
            <p:extLst>
              <p:ext uri="{D42A27DB-BD31-4B8C-83A1-F6EECF244321}">
                <ns2:modId val="1579011935"/>
              </p:ext>
            </p:extLst>
          </p:nvPr>
        </p:nvGraphicFramePr>
        <p:xfrm>
          <a:off x="7050024" y="1755648"/>
          <a:ext cx="4617720" cy="914400"/>
        </p:xfrm>
        <a:graphic>
          <a:graphicData uri="http://schemas.openxmlformats.org/drawingml/2006/table">
            <a:tbl>
              <a:tblPr/>
              <a:tblGrid>
                <a:gridCol w="274320"/>
                <a:gridCol w="4343400"/>
              </a:tblGrid>
              <a:tr h="1844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①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요약 카드 확인 → 계획·기록 수 집계 → 작성·실행·미기록 수 표시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44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②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사용 결과 요약 클릭 → 권한 내 입력 기록 집계 → SCR-B-002-P02 표시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44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③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기록 목록 확인 → 계획별 기록 조회 → 없으면 계획 추가 안내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44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④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기록 수정 클릭 → 저장된 기록 조회 → SCR-B-002-P01 표시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44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⑤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기록 입력 클릭 → 선택 계획 연결 → 빈 SCR-B-002-P01 표시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44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⑥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기록 저장 성공 → 목록·요약 갱신 → 완료 알림 표시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7" name="Shape 22"/>
          <p:cNvSpPr/>
          <p:nvPr/>
        </p:nvSpPr>
        <p:spPr>
          <a:xfrm>
            <a:off x="7050024" y="4967414"/>
            <a:ext cx="4617720" cy="692722"/>
          </a:xfrm>
          <a:prstGeom prst="rect">
            <a:avLst/>
          </a:prstGeom>
          <a:solidFill>
            <a:srgbClr val="F7F9FB"/>
          </a:solidFill>
          <a:ln w="6350">
            <a:solidFill>
              <a:srgbClr val="E1E7EE"/>
            </a:solidFill>
            <a:prstDash val="solid"/>
          </a:ln>
        </p:spPr>
      </p:sp>
      <p:sp>
        <p:nvSpPr>
          <p:cNvPr id="28" name="Text 23"/>
          <p:cNvSpPr txBox="1"/>
          <p:nvPr/>
        </p:nvSpPr>
        <p:spPr>
          <a:xfrm>
            <a:off x="7104888" y="4994846"/>
            <a:ext cx="4507992" cy="6378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8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비고</a:t>
            </a:r>
            <a:endParaRPr lang="en-US" sz="8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750" dirty="0">
                <a:solidFill>
                  <a:srgbClr val="6464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서비스 운영자는 관리 권한을 받은 사업체의 계획·기록만 처리</a:t>
            </a:r>
            <a:endParaRPr lang="en-US" sz="8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750" dirty="0">
                <a:solidFill>
                  <a:srgbClr val="6464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미기록은 실행 실패로 처리하지 않음</a:t>
            </a:r>
            <a:endParaRPr lang="en-US" sz="8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750" dirty="0">
                <a:solidFill>
                  <a:srgbClr val="6464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빈값은 미확보, 숫자 0은 실제 확인한 0건</a:t>
            </a:r>
            <a:endParaRPr lang="en-US" sz="800" dirty="0"/>
          </a:p>
        </p:txBody>
      </p:sp>
      <p:sp>
        <p:nvSpPr>
          <p:cNvPr id="29" name="Shape 24"/>
          <p:cNvSpPr/>
          <p:nvPr/>
        </p:nvSpPr>
        <p:spPr>
          <a:xfrm>
            <a:off x="502920" y="5806440"/>
            <a:ext cx="11219688" cy="475488"/>
          </a:xfrm>
          <a:prstGeom prst="rect">
            <a:avLst/>
          </a:prstGeom>
          <a:solidFill>
            <a:srgbClr val="EFF3F7"/>
          </a:solidFill>
          <a:ln w="12700">
            <a:solidFill>
              <a:srgbClr val="EFF3F7"/>
            </a:solidFill>
            <a:prstDash val="solid"/>
          </a:ln>
        </p:spPr>
      </p:sp>
      <p:sp>
        <p:nvSpPr>
          <p:cNvPr id="30" name="Text 25"/>
          <p:cNvSpPr txBox="1"/>
          <p:nvPr/>
        </p:nvSpPr>
        <p:spPr>
          <a:xfrm>
            <a:off x="685800" y="5806440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상태</a:t>
            </a:r>
            <a:endParaRPr lang="en-US" sz="900" dirty="0"/>
          </a:p>
        </p:txBody>
      </p:sp>
      <p:sp>
        <p:nvSpPr>
          <p:cNvPr id="31" name="Text 26"/>
          <p:cNvSpPr txBox="1"/>
          <p:nvPr/>
        </p:nvSpPr>
        <p:spPr>
          <a:xfrm>
            <a:off x="1600200" y="5806440"/>
            <a:ext cx="4023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■ 정상   ■ 결과없음   □ 오류   □ 처리불가   ■ 완료</a:t>
            </a:r>
            <a:endParaRPr lang="en-US" sz="900" dirty="0"/>
          </a:p>
        </p:txBody>
      </p:sp>
      <p:sp>
        <p:nvSpPr>
          <p:cNvPr id="32" name="Text 27"/>
          <p:cNvSpPr txBox="1"/>
          <p:nvPr/>
        </p:nvSpPr>
        <p:spPr>
          <a:xfrm>
            <a:off x="5669280" y="5806440"/>
            <a:ext cx="868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이동 화면</a:t>
            </a:r>
            <a:endParaRPr lang="en-US" sz="900" dirty="0"/>
          </a:p>
        </p:txBody>
      </p:sp>
      <p:sp>
        <p:nvSpPr>
          <p:cNvPr id="33" name="Text 28"/>
          <p:cNvSpPr txBox="1"/>
          <p:nvPr/>
        </p:nvSpPr>
        <p:spPr>
          <a:xfrm>
            <a:off x="6537960" y="5806440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기록 입력·수정 → 선택 계획 조회 → SCR-B-002-P01 기록 입력·수정</a:t>
            </a:r>
            <a:endParaRPr lang="en-US" sz="900" dirty="0"/>
          </a:p>
        </p:txBody>
      </p:sp>
      <p:sp>
        <p:nvSpPr>
          <p:cNvPr id="35" name="Text 29"/>
          <p:cNvSpPr txBox="1"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82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정보시스템 캡스톤디자인 | 화면설계서·Storyboard Template</a:t>
            </a:r>
            <a:endParaRPr lang="en-US" sz="800" dirty="0"/>
          </a:p>
        </p:txBody>
      </p:sp>
      <p:sp>
        <p:nvSpPr>
          <p:cNvPr id="1002" name="Callout 1 circle"/>
          <p:cNvSpPr/>
          <p:nvPr/>
        </p:nvSpPr>
        <p:spPr>
          <a:xfrm>
            <a:off x="661983" y="2411646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03" name="Callout 1 number"/>
          <p:cNvSpPr txBox="1"/>
          <p:nvPr/>
        </p:nvSpPr>
        <p:spPr>
          <a:xfrm>
            <a:off x="661983" y="241164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  <p:sp>
        <p:nvSpPr>
          <p:cNvPr id="1004" name="Callout 2 circle"/>
          <p:cNvSpPr/>
          <p:nvPr/>
        </p:nvSpPr>
        <p:spPr>
          <a:xfrm>
            <a:off x="5651970" y="1737785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05" name="Callout 2 number"/>
          <p:cNvSpPr txBox="1"/>
          <p:nvPr/>
        </p:nvSpPr>
        <p:spPr>
          <a:xfrm>
            <a:off x="5651970" y="1737785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  <p:sp>
        <p:nvSpPr>
          <p:cNvPr id="1006" name="Callout 3 circle"/>
          <p:cNvSpPr/>
          <p:nvPr/>
        </p:nvSpPr>
        <p:spPr>
          <a:xfrm>
            <a:off x="667990" y="3414693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07" name="Callout 3 number"/>
          <p:cNvSpPr txBox="1"/>
          <p:nvPr/>
        </p:nvSpPr>
        <p:spPr>
          <a:xfrm>
            <a:off x="667990" y="3414693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  <p:sp>
        <p:nvSpPr>
          <p:cNvPr id="1008" name="Callout 4 circle"/>
          <p:cNvSpPr/>
          <p:nvPr/>
        </p:nvSpPr>
        <p:spPr>
          <a:xfrm>
            <a:off x="5880438" y="3600923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09" name="Callout 4 number"/>
          <p:cNvSpPr txBox="1"/>
          <p:nvPr/>
        </p:nvSpPr>
        <p:spPr>
          <a:xfrm>
            <a:off x="5880438" y="3600923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  <p:sp>
        <p:nvSpPr>
          <p:cNvPr id="1010" name="Callout 5 circle"/>
          <p:cNvSpPr/>
          <p:nvPr/>
        </p:nvSpPr>
        <p:spPr>
          <a:xfrm>
            <a:off x="5880438" y="4195655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11" name="Callout 5 number"/>
          <p:cNvSpPr txBox="1"/>
          <p:nvPr/>
        </p:nvSpPr>
        <p:spPr>
          <a:xfrm>
            <a:off x="5880438" y="4195655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00" dirty="0"/>
          </a:p>
        </p:txBody>
      </p:sp>
      <p:sp>
        <p:nvSpPr>
          <p:cNvPr id="1012" name="Callout 6 circle"/>
          <p:cNvSpPr/>
          <p:nvPr/>
        </p:nvSpPr>
        <p:spPr>
          <a:xfrm>
            <a:off x="2290503" y="5241317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13" name="Callout 6 number"/>
          <p:cNvSpPr txBox="1"/>
          <p:nvPr/>
        </p:nvSpPr>
        <p:spPr>
          <a:xfrm>
            <a:off x="2290503" y="5241317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ns2="http://schemas.microsoft.com/office/powerpoint/2010/main" xmlns:p="http://schemas.openxmlformats.org/presentationml/2006/main" xmlns:r="http://schemas.openxmlformats.org/officeDocument/2006/relationships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16459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화면설계서 · Storyboard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18288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64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/ 14 · 기록 입력·수정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11480" y="621792"/>
            <a:ext cx="11338560" cy="27432"/>
          </a:xfrm>
          <a:prstGeom prst="rect">
            <a:avLst/>
          </a:prstGeom>
          <a:solidFill>
            <a:srgbClr val="4371A0"/>
          </a:solidFill>
          <a:ln w="12700">
            <a:solidFill>
              <a:srgbClr val="4371A0"/>
            </a:solidFill>
            <a:prstDash val="solid"/>
          </a:ln>
        </p:spPr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ns2:modId val="1579011935"/>
              </p:ext>
            </p:extLst>
          </p:nvPr>
        </p:nvGraphicFramePr>
        <p:xfrm>
          <a:off x="502920" y="731520"/>
          <a:ext cx="11219688" cy="914400"/>
        </p:xfrm>
        <a:graphic>
          <a:graphicData uri="http://schemas.openxmlformats.org/drawingml/2006/table">
            <a:tbl>
              <a:tblPr/>
              <a:tblGrid>
                <a:gridCol w="804672"/>
                <a:gridCol w="1188720"/>
                <a:gridCol w="621792"/>
                <a:gridCol w="1417320"/>
                <a:gridCol w="548640"/>
                <a:gridCol w="1325880"/>
                <a:gridCol w="658368"/>
                <a:gridCol w="2423160"/>
                <a:gridCol w="475488"/>
                <a:gridCol w="1755648"/>
              </a:tblGrid>
              <a:tr h="4937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63E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Screen ID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SCR-B-002-P01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63E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화면명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기록 입력·수정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63E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Actor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사업체 운영자 · 서비스 운영자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63E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관련 UC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UC04 사용 기록 입력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63E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경로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메인 &gt; 사용 기록 입력 &gt; 기록 입력·수정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02920" y="1325880"/>
            <a:ext cx="6355080" cy="4389120"/>
          </a:xfrm>
          <a:prstGeom prst="rect">
            <a:avLst/>
          </a:prstGeom>
          <a:solidFill>
            <a:srgbClr val="FFFFFF"/>
          </a:solidFill>
          <a:ln w="9525">
            <a:solidFill>
              <a:srgbClr val="B9C6D4"/>
            </a:solidFill>
            <a:prstDash val="solid"/>
          </a:ln>
        </p:spPr>
      </p:sp>
      <p:pic>
        <p:nvPicPr>
          <p:cNvPr id="7" name="Image 0" descr="record-edit | Figma Make screenshot | https://blob-silver-16955234.figma.site/#records" title="record-edit">
            <a:hlinkClick r:id="rIdRevisedMake" tooltip="Figma Make 수정본 열기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34574" y="1389888"/>
            <a:ext cx="3100916" cy="4242816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2134574" y="1389888"/>
            <a:ext cx="3100916" cy="4242816"/>
          </a:xfrm>
          <a:prstGeom prst="rect">
            <a:avLst/>
          </a:prstGeom>
          <a:ln w="6350">
            <a:solidFill>
              <a:srgbClr val="D0D7DE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6995160" y="1325880"/>
            <a:ext cx="4727448" cy="4389120"/>
          </a:xfrm>
          <a:prstGeom prst="rect">
            <a:avLst/>
          </a:prstGeom>
          <a:solidFill>
            <a:srgbClr val="FFFFFF"/>
          </a:solidFill>
          <a:ln w="9525">
            <a:solidFill>
              <a:srgbClr val="B9C6D4"/>
            </a:solidFill>
            <a:prstDash val="solid"/>
          </a:ln>
        </p:spPr>
      </p:sp>
      <p:sp>
        <p:nvSpPr>
          <p:cNvPr id="34" name="Shape 30"/>
          <p:cNvSpPr/>
          <p:nvPr/>
        </p:nvSpPr>
        <p:spPr>
          <a:xfrm>
            <a:off x="6995160" y="1325880"/>
            <a:ext cx="4727448" cy="365760"/>
          </a:xfrm>
          <a:prstGeom prst="rect">
            <a:avLst/>
          </a:prstGeom>
          <a:solidFill>
            <a:srgbClr val="263E5C"/>
          </a:solidFill>
          <a:ln w="12700">
            <a:solidFill>
              <a:srgbClr val="263E5C"/>
            </a:solidFill>
            <a:prstDash val="solid"/>
          </a:ln>
        </p:spPr>
      </p:sp>
      <p:sp>
        <p:nvSpPr>
          <p:cNvPr id="35" name="Text 31"/>
          <p:cNvSpPr txBox="1"/>
          <p:nvPr/>
        </p:nvSpPr>
        <p:spPr>
          <a:xfrm>
            <a:off x="6995160" y="1325880"/>
            <a:ext cx="4727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Description (화면설명)</a:t>
            </a:r>
            <a:endParaRPr lang="en-US" sz="1000" dirty="0"/>
          </a:p>
        </p:txBody>
      </p:sp>
      <p:graphicFrame>
        <p:nvGraphicFramePr>
          <p:cNvPr id="49" name="Table 1"/>
          <p:cNvGraphicFramePr>
            <a:graphicFrameLocks noGrp="1"/>
          </p:cNvGraphicFramePr>
          <p:nvPr>
            <p:extLst>
              <p:ext uri="{D42A27DB-BD31-4B8C-83A1-F6EECF244321}">
                <ns2:modId val="1579011935"/>
              </p:ext>
            </p:extLst>
          </p:nvPr>
        </p:nvGraphicFramePr>
        <p:xfrm>
          <a:off x="7050024" y="1755648"/>
          <a:ext cx="4617720" cy="914400"/>
        </p:xfrm>
        <a:graphic>
          <a:graphicData uri="http://schemas.openxmlformats.org/drawingml/2006/table">
            <a:tbl>
              <a:tblPr/>
              <a:tblGrid>
                <a:gridCol w="274320"/>
                <a:gridCol w="4343400"/>
              </a:tblGrid>
              <a:tr h="1691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①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✕ 클릭 → 입력 저장 취소 → 팝업 닫고 SCR-B-002 유지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②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소요 시간 입력 → 음수·범위 검사 → 빈값은 미측정으로 유지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③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채택 여부 선택 → 선택값을 계획과 연결 → 자동 추정 없이 저장 준비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④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실행 여부 선택 → 실행 여부에 맞춰 필수값 설정 → 날짜 입력 조건 변경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⑤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실행 날짜 입력 → 실행한 경우 날짜 검사 → 오류 시 입력란에 안내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⑥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실행 활동 입력 → 예정 활동과 구분 → 실제 실행 기록에 포함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⑦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클릭 수 입력 → 비음수 정수 검사 → 빈값은 미확보·0은 실제 0건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⑧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예약 수 입력 → 비음수 정수 검사 → 빈값은 미확보로 유지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⑨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쿠폰 사용 수 입력 → 비음수 정수 검사 → 빈값은 미확보로 유지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⑩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결과·수집 방법 입력 → 기록과 연결 → 사용 결과 해석에 활용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⑪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취소 클릭 → 입력 저장 취소 → SCR-B-002 복귀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⑫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기록 저장 클릭 → 권한·입력 검사 후 서버 저장 → 성공 시 목록 갱신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7" name="Shape 32"/>
          <p:cNvSpPr/>
          <p:nvPr/>
        </p:nvSpPr>
        <p:spPr>
          <a:xfrm>
            <a:off x="7050024" y="4967414"/>
            <a:ext cx="4617720" cy="692722"/>
          </a:xfrm>
          <a:prstGeom prst="rect">
            <a:avLst/>
          </a:prstGeom>
          <a:solidFill>
            <a:srgbClr val="F7F9FB"/>
          </a:solidFill>
          <a:ln w="6350">
            <a:solidFill>
              <a:srgbClr val="E1E7EE"/>
            </a:solidFill>
            <a:prstDash val="solid"/>
          </a:ln>
        </p:spPr>
      </p:sp>
      <p:sp>
        <p:nvSpPr>
          <p:cNvPr id="38" name="Text 33"/>
          <p:cNvSpPr txBox="1"/>
          <p:nvPr/>
        </p:nvSpPr>
        <p:spPr>
          <a:xfrm>
            <a:off x="7104888" y="4994846"/>
            <a:ext cx="4507992" cy="6378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8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비고</a:t>
            </a:r>
            <a:endParaRPr lang="en-US" sz="8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750" dirty="0">
                <a:solidFill>
                  <a:srgbClr val="6464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서비스 운영자는 관리 권한을 받은 사업체의 계획·기록만 처리</a:t>
            </a:r>
            <a:endParaRPr lang="en-US" sz="8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750" dirty="0">
                <a:solidFill>
                  <a:srgbClr val="6464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미실행이면 실행 날짜는 필수가 아님</a:t>
            </a:r>
            <a:endParaRPr lang="en-US" sz="8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750" dirty="0">
                <a:solidFill>
                  <a:srgbClr val="6464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오류·저장 실패 시 입력 유지, 미확보를 0으로 대체하지 않음</a:t>
            </a:r>
            <a:endParaRPr lang="en-US" sz="800" dirty="0"/>
          </a:p>
        </p:txBody>
      </p:sp>
      <p:sp>
        <p:nvSpPr>
          <p:cNvPr id="39" name="Shape 34"/>
          <p:cNvSpPr/>
          <p:nvPr/>
        </p:nvSpPr>
        <p:spPr>
          <a:xfrm>
            <a:off x="502920" y="5806440"/>
            <a:ext cx="11219688" cy="475488"/>
          </a:xfrm>
          <a:prstGeom prst="rect">
            <a:avLst/>
          </a:prstGeom>
          <a:solidFill>
            <a:srgbClr val="EFF3F7"/>
          </a:solidFill>
          <a:ln w="12700">
            <a:solidFill>
              <a:srgbClr val="EFF3F7"/>
            </a:solidFill>
            <a:prstDash val="solid"/>
          </a:ln>
        </p:spPr>
      </p:sp>
      <p:sp>
        <p:nvSpPr>
          <p:cNvPr id="40" name="Text 35"/>
          <p:cNvSpPr txBox="1"/>
          <p:nvPr/>
        </p:nvSpPr>
        <p:spPr>
          <a:xfrm>
            <a:off x="685800" y="5806440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상태</a:t>
            </a:r>
            <a:endParaRPr lang="en-US" sz="900" dirty="0"/>
          </a:p>
        </p:txBody>
      </p:sp>
      <p:sp>
        <p:nvSpPr>
          <p:cNvPr id="41" name="Text 36"/>
          <p:cNvSpPr txBox="1"/>
          <p:nvPr/>
        </p:nvSpPr>
        <p:spPr>
          <a:xfrm>
            <a:off x="1600200" y="5806440"/>
            <a:ext cx="4023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■ 정상   □ 결과없음   ■ 오류   □ 처리불가   ■ 완료</a:t>
            </a:r>
            <a:endParaRPr lang="en-US" sz="900" dirty="0"/>
          </a:p>
        </p:txBody>
      </p:sp>
      <p:sp>
        <p:nvSpPr>
          <p:cNvPr id="42" name="Text 37"/>
          <p:cNvSpPr txBox="1"/>
          <p:nvPr/>
        </p:nvSpPr>
        <p:spPr>
          <a:xfrm>
            <a:off x="5669280" y="5806440"/>
            <a:ext cx="868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이동 화면</a:t>
            </a:r>
            <a:endParaRPr lang="en-US" sz="900" dirty="0"/>
          </a:p>
        </p:txBody>
      </p:sp>
      <p:sp>
        <p:nvSpPr>
          <p:cNvPr id="43" name="Text 38"/>
          <p:cNvSpPr txBox="1"/>
          <p:nvPr/>
        </p:nvSpPr>
        <p:spPr>
          <a:xfrm>
            <a:off x="6537960" y="5806440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기록 저장 → 권한·입력 검사·서버 저장 → SCR-B-002 사용 기록 입력</a:t>
            </a:r>
            <a:endParaRPr lang="en-US" sz="900" dirty="0"/>
          </a:p>
        </p:txBody>
      </p:sp>
      <p:sp>
        <p:nvSpPr>
          <p:cNvPr id="45" name="Text 39"/>
          <p:cNvSpPr txBox="1"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82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정보시스템 캡스톤디자인 | 화면설계서·Storyboard Template</a:t>
            </a:r>
            <a:endParaRPr lang="en-US" sz="800" dirty="0"/>
          </a:p>
        </p:txBody>
      </p:sp>
      <p:sp>
        <p:nvSpPr>
          <p:cNvPr id="1002" name="Callout 1 circle"/>
          <p:cNvSpPr/>
          <p:nvPr/>
        </p:nvSpPr>
        <p:spPr>
          <a:xfrm>
            <a:off x="4803950" y="1526484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03" name="Callout 1 number"/>
          <p:cNvSpPr txBox="1"/>
          <p:nvPr/>
        </p:nvSpPr>
        <p:spPr>
          <a:xfrm>
            <a:off x="4803950" y="152648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  <p:sp>
        <p:nvSpPr>
          <p:cNvPr id="1004" name="Callout 2 circle"/>
          <p:cNvSpPr/>
          <p:nvPr/>
        </p:nvSpPr>
        <p:spPr>
          <a:xfrm>
            <a:off x="2134574" y="2103608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05" name="Callout 2 number"/>
          <p:cNvSpPr txBox="1"/>
          <p:nvPr/>
        </p:nvSpPr>
        <p:spPr>
          <a:xfrm>
            <a:off x="2134574" y="210360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  <p:sp>
        <p:nvSpPr>
          <p:cNvPr id="1006" name="Callout 3 circle"/>
          <p:cNvSpPr/>
          <p:nvPr/>
        </p:nvSpPr>
        <p:spPr>
          <a:xfrm>
            <a:off x="3588591" y="2103608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07" name="Callout 3 number"/>
          <p:cNvSpPr txBox="1"/>
          <p:nvPr/>
        </p:nvSpPr>
        <p:spPr>
          <a:xfrm>
            <a:off x="3588591" y="210360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  <p:sp>
        <p:nvSpPr>
          <p:cNvPr id="1008" name="Callout 4 circle"/>
          <p:cNvSpPr/>
          <p:nvPr/>
        </p:nvSpPr>
        <p:spPr>
          <a:xfrm>
            <a:off x="2134574" y="2554679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09" name="Callout 4 number"/>
          <p:cNvSpPr txBox="1"/>
          <p:nvPr/>
        </p:nvSpPr>
        <p:spPr>
          <a:xfrm>
            <a:off x="2134574" y="2554679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  <p:sp>
        <p:nvSpPr>
          <p:cNvPr id="1010" name="Callout 5 circle"/>
          <p:cNvSpPr/>
          <p:nvPr/>
        </p:nvSpPr>
        <p:spPr>
          <a:xfrm>
            <a:off x="2134574" y="3003796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11" name="Callout 5 number"/>
          <p:cNvSpPr txBox="1"/>
          <p:nvPr/>
        </p:nvSpPr>
        <p:spPr>
          <a:xfrm>
            <a:off x="2134574" y="300379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00" dirty="0"/>
          </a:p>
        </p:txBody>
      </p:sp>
      <p:sp>
        <p:nvSpPr>
          <p:cNvPr id="1012" name="Callout 6 circle"/>
          <p:cNvSpPr/>
          <p:nvPr/>
        </p:nvSpPr>
        <p:spPr>
          <a:xfrm>
            <a:off x="2134574" y="3454866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13" name="Callout 6 number"/>
          <p:cNvSpPr txBox="1"/>
          <p:nvPr/>
        </p:nvSpPr>
        <p:spPr>
          <a:xfrm>
            <a:off x="2134574" y="345486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00" dirty="0"/>
          </a:p>
        </p:txBody>
      </p:sp>
      <p:sp>
        <p:nvSpPr>
          <p:cNvPr id="1014" name="Callout 7 circle"/>
          <p:cNvSpPr/>
          <p:nvPr/>
        </p:nvSpPr>
        <p:spPr>
          <a:xfrm>
            <a:off x="2134574" y="4082005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15" name="Callout 7 number"/>
          <p:cNvSpPr txBox="1"/>
          <p:nvPr/>
        </p:nvSpPr>
        <p:spPr>
          <a:xfrm>
            <a:off x="2134574" y="4082005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800" dirty="0"/>
          </a:p>
        </p:txBody>
      </p:sp>
      <p:sp>
        <p:nvSpPr>
          <p:cNvPr id="1016" name="Callout 8 circle"/>
          <p:cNvSpPr/>
          <p:nvPr/>
        </p:nvSpPr>
        <p:spPr>
          <a:xfrm>
            <a:off x="3103447" y="4082005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17" name="Callout 8 number"/>
          <p:cNvSpPr txBox="1"/>
          <p:nvPr/>
        </p:nvSpPr>
        <p:spPr>
          <a:xfrm>
            <a:off x="3103447" y="4082005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800" dirty="0"/>
          </a:p>
        </p:txBody>
      </p:sp>
      <p:sp>
        <p:nvSpPr>
          <p:cNvPr id="1018" name="Callout 9 circle"/>
          <p:cNvSpPr/>
          <p:nvPr/>
        </p:nvSpPr>
        <p:spPr>
          <a:xfrm>
            <a:off x="4073734" y="4082005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19" name="Callout 9 number"/>
          <p:cNvSpPr txBox="1"/>
          <p:nvPr/>
        </p:nvSpPr>
        <p:spPr>
          <a:xfrm>
            <a:off x="4073734" y="4082005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800" dirty="0"/>
          </a:p>
        </p:txBody>
      </p:sp>
      <p:sp>
        <p:nvSpPr>
          <p:cNvPr id="1020" name="Callout 10 circle"/>
          <p:cNvSpPr/>
          <p:nvPr/>
        </p:nvSpPr>
        <p:spPr>
          <a:xfrm>
            <a:off x="2134574" y="4654049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21" name="Callout 10 number"/>
          <p:cNvSpPr txBox="1"/>
          <p:nvPr/>
        </p:nvSpPr>
        <p:spPr>
          <a:xfrm>
            <a:off x="2134574" y="4654049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800" dirty="0"/>
          </a:p>
        </p:txBody>
      </p:sp>
      <p:sp>
        <p:nvSpPr>
          <p:cNvPr id="1022" name="Callout 11 circle"/>
          <p:cNvSpPr/>
          <p:nvPr/>
        </p:nvSpPr>
        <p:spPr>
          <a:xfrm>
            <a:off x="4245347" y="5262197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23" name="Callout 11 number"/>
          <p:cNvSpPr txBox="1"/>
          <p:nvPr/>
        </p:nvSpPr>
        <p:spPr>
          <a:xfrm>
            <a:off x="4245347" y="5262197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800" dirty="0"/>
          </a:p>
        </p:txBody>
      </p:sp>
      <p:sp>
        <p:nvSpPr>
          <p:cNvPr id="1024" name="Callout 12 circle"/>
          <p:cNvSpPr/>
          <p:nvPr/>
        </p:nvSpPr>
        <p:spPr>
          <a:xfrm>
            <a:off x="4573803" y="5262197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25" name="Callout 12 number"/>
          <p:cNvSpPr txBox="1"/>
          <p:nvPr/>
        </p:nvSpPr>
        <p:spPr>
          <a:xfrm>
            <a:off x="4573803" y="5262197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ns2="http://schemas.microsoft.com/office/powerpoint/2010/main" xmlns:p="http://schemas.openxmlformats.org/presentationml/2006/main" xmlns:r="http://schemas.openxmlformats.org/officeDocument/2006/relationships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16459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화면설계서 · Storyboard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18288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64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/ 15 · 사용 결과 요약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11480" y="621792"/>
            <a:ext cx="11338560" cy="27432"/>
          </a:xfrm>
          <a:prstGeom prst="rect">
            <a:avLst/>
          </a:prstGeom>
          <a:solidFill>
            <a:srgbClr val="4371A0"/>
          </a:solidFill>
          <a:ln w="12700">
            <a:solidFill>
              <a:srgbClr val="4371A0"/>
            </a:solidFill>
            <a:prstDash val="solid"/>
          </a:ln>
        </p:spPr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ns2:modId val="1579011935"/>
              </p:ext>
            </p:extLst>
          </p:nvPr>
        </p:nvGraphicFramePr>
        <p:xfrm>
          <a:off x="502920" y="731520"/>
          <a:ext cx="11219688" cy="914400"/>
        </p:xfrm>
        <a:graphic>
          <a:graphicData uri="http://schemas.openxmlformats.org/drawingml/2006/table">
            <a:tbl>
              <a:tblPr/>
              <a:tblGrid>
                <a:gridCol w="804672"/>
                <a:gridCol w="1188720"/>
                <a:gridCol w="621792"/>
                <a:gridCol w="1417320"/>
                <a:gridCol w="548640"/>
                <a:gridCol w="1325880"/>
                <a:gridCol w="658368"/>
                <a:gridCol w="2423160"/>
                <a:gridCol w="475488"/>
                <a:gridCol w="1755648"/>
              </a:tblGrid>
              <a:tr h="4937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63E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Screen ID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SCR-B-002-P02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63E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화면명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사용 결과 요약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63E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Actor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사업체 운영자 · 서비스 운영자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63E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관련 UC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UC05 계획 이행 확인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63E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경로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메인 &gt; 사용 기록 입력 &gt; 사용 결과 요약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02920" y="1325880"/>
            <a:ext cx="6355080" cy="4389120"/>
          </a:xfrm>
          <a:prstGeom prst="rect">
            <a:avLst/>
          </a:prstGeom>
          <a:solidFill>
            <a:srgbClr val="FFFFFF"/>
          </a:solidFill>
          <a:ln w="9525">
            <a:solidFill>
              <a:srgbClr val="B9C6D4"/>
            </a:solidFill>
            <a:prstDash val="solid"/>
          </a:ln>
        </p:spPr>
      </p:sp>
      <p:pic>
        <p:nvPicPr>
          <p:cNvPr id="7" name="Image 0" descr="summary | Figma Make screenshot | https://blob-silver-16955234.figma.site/#records" title="summary">
            <a:hlinkClick r:id="rIdRevisedMake" tooltip="Figma Make 수정본 열기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72804" y="1389888"/>
            <a:ext cx="4424455" cy="4242816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1472804" y="1389888"/>
            <a:ext cx="4424455" cy="4242816"/>
          </a:xfrm>
          <a:prstGeom prst="rect">
            <a:avLst/>
          </a:prstGeom>
          <a:ln w="6350">
            <a:solidFill>
              <a:srgbClr val="D0D7DE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995160" y="1325880"/>
            <a:ext cx="4727448" cy="4389120"/>
          </a:xfrm>
          <a:prstGeom prst="rect">
            <a:avLst/>
          </a:prstGeom>
          <a:solidFill>
            <a:srgbClr val="FFFFFF"/>
          </a:solidFill>
          <a:ln w="9525">
            <a:solidFill>
              <a:srgbClr val="B9C6D4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995160" y="1325880"/>
            <a:ext cx="4727448" cy="365760"/>
          </a:xfrm>
          <a:prstGeom prst="rect">
            <a:avLst/>
          </a:prstGeom>
          <a:solidFill>
            <a:srgbClr val="263E5C"/>
          </a:solidFill>
          <a:ln w="12700">
            <a:solidFill>
              <a:srgbClr val="263E5C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6995160" y="1325880"/>
            <a:ext cx="4727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Description (화면설명)</a:t>
            </a:r>
            <a:endParaRPr lang="en-US" sz="1000" dirty="0"/>
          </a:p>
        </p:txBody>
      </p:sp>
      <p:graphicFrame>
        <p:nvGraphicFramePr>
          <p:cNvPr id="51" name="Table 1"/>
          <p:cNvGraphicFramePr>
            <a:graphicFrameLocks noGrp="1"/>
          </p:cNvGraphicFramePr>
          <p:nvPr>
            <p:extLst>
              <p:ext uri="{D42A27DB-BD31-4B8C-83A1-F6EECF244321}">
                <ns2:modId val="1579011935"/>
              </p:ext>
            </p:extLst>
          </p:nvPr>
        </p:nvGraphicFramePr>
        <p:xfrm>
          <a:off x="7050024" y="1755648"/>
          <a:ext cx="4617720" cy="914400"/>
        </p:xfrm>
        <a:graphic>
          <a:graphicData uri="http://schemas.openxmlformats.org/drawingml/2006/table">
            <a:tbl>
              <a:tblPr/>
              <a:tblGrid>
                <a:gridCol w="274320"/>
                <a:gridCol w="4343400"/>
              </a:tblGrid>
              <a:tr h="3139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①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요약 열기 → 권한 내 기록을 집계 → 계획·채택·시간·실행 결과 표시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44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②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닫기 클릭 → 요약 팝업 닫기 → SCR-B-002 복귀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44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③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✕ 클릭 → 요약 팝업 닫기 → SCR-B-002 복귀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9" name="Shape 14"/>
          <p:cNvSpPr/>
          <p:nvPr/>
        </p:nvSpPr>
        <p:spPr>
          <a:xfrm>
            <a:off x="7050024" y="4967414"/>
            <a:ext cx="4617720" cy="692722"/>
          </a:xfrm>
          <a:prstGeom prst="rect">
            <a:avLst/>
          </a:prstGeom>
          <a:solidFill>
            <a:srgbClr val="F7F9FB"/>
          </a:solidFill>
          <a:ln w="6350">
            <a:solidFill>
              <a:srgbClr val="E1E7EE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7104888" y="4994846"/>
            <a:ext cx="4507992" cy="6378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8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비고</a:t>
            </a:r>
            <a:endParaRPr lang="en-US" sz="8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750" dirty="0">
                <a:solidFill>
                  <a:srgbClr val="6464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서비스 운영자는 관리 권한을 받은 사업체의 계획·기록만 처리</a:t>
            </a:r>
            <a:endParaRPr lang="en-US" sz="8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750" dirty="0">
                <a:solidFill>
                  <a:srgbClr val="6464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기록이 없으면 기록 없음과 입력 화면 이동 안내</a:t>
            </a:r>
            <a:endParaRPr lang="en-US" sz="8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750" dirty="0">
                <a:solidFill>
                  <a:srgbClr val="6464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미확보는 그대로 표시하며 매출 증가·인과 효과를 추정하지 않음</a:t>
            </a:r>
            <a:endParaRPr lang="en-US" sz="800" dirty="0"/>
          </a:p>
        </p:txBody>
      </p:sp>
      <p:sp>
        <p:nvSpPr>
          <p:cNvPr id="21" name="Shape 16"/>
          <p:cNvSpPr/>
          <p:nvPr/>
        </p:nvSpPr>
        <p:spPr>
          <a:xfrm>
            <a:off x="502920" y="5806440"/>
            <a:ext cx="11219688" cy="475488"/>
          </a:xfrm>
          <a:prstGeom prst="rect">
            <a:avLst/>
          </a:prstGeom>
          <a:solidFill>
            <a:srgbClr val="EFF3F7"/>
          </a:solidFill>
          <a:ln w="12700">
            <a:solidFill>
              <a:srgbClr val="EFF3F7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685800" y="5806440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상태</a:t>
            </a:r>
            <a:endParaRPr lang="en-US" sz="900" dirty="0"/>
          </a:p>
        </p:txBody>
      </p:sp>
      <p:sp>
        <p:nvSpPr>
          <p:cNvPr id="23" name="Text 18"/>
          <p:cNvSpPr txBox="1"/>
          <p:nvPr/>
        </p:nvSpPr>
        <p:spPr>
          <a:xfrm>
            <a:off x="1600200" y="5806440"/>
            <a:ext cx="4023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■ 정상   ■ 결과없음   □ 오류   □ 처리불가   □ 완료</a:t>
            </a:r>
            <a:endParaRPr lang="en-US" sz="900" dirty="0"/>
          </a:p>
        </p:txBody>
      </p:sp>
      <p:sp>
        <p:nvSpPr>
          <p:cNvPr id="24" name="Text 19"/>
          <p:cNvSpPr txBox="1"/>
          <p:nvPr/>
        </p:nvSpPr>
        <p:spPr>
          <a:xfrm>
            <a:off x="5669280" y="5806440"/>
            <a:ext cx="868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이동 화면</a:t>
            </a:r>
            <a:endParaRPr lang="en-US" sz="900" dirty="0"/>
          </a:p>
        </p:txBody>
      </p:sp>
      <p:sp>
        <p:nvSpPr>
          <p:cNvPr id="25" name="Text 20"/>
          <p:cNvSpPr txBox="1"/>
          <p:nvPr/>
        </p:nvSpPr>
        <p:spPr>
          <a:xfrm>
            <a:off x="6537960" y="5806440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닫기 → 요약 종료 → SCR-B-002 사용 기록 입력</a:t>
            </a:r>
            <a:endParaRPr lang="en-US" sz="900" dirty="0"/>
          </a:p>
        </p:txBody>
      </p:sp>
      <p:sp>
        <p:nvSpPr>
          <p:cNvPr id="27" name="Text 21"/>
          <p:cNvSpPr txBox="1"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82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정보시스템 캡스톤디자인 | 화면설계서·Storyboard Template</a:t>
            </a:r>
            <a:endParaRPr lang="en-US" sz="800" dirty="0"/>
          </a:p>
        </p:txBody>
      </p:sp>
      <p:sp>
        <p:nvSpPr>
          <p:cNvPr id="1002" name="Callout 1 circle"/>
          <p:cNvSpPr/>
          <p:nvPr/>
        </p:nvSpPr>
        <p:spPr>
          <a:xfrm>
            <a:off x="1472804" y="2077634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03" name="Callout 1 number"/>
          <p:cNvSpPr txBox="1"/>
          <p:nvPr/>
        </p:nvSpPr>
        <p:spPr>
          <a:xfrm>
            <a:off x="1472804" y="207763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  <p:sp>
        <p:nvSpPr>
          <p:cNvPr id="1004" name="Callout 2 circle"/>
          <p:cNvSpPr/>
          <p:nvPr/>
        </p:nvSpPr>
        <p:spPr>
          <a:xfrm>
            <a:off x="5165901" y="5143085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05" name="Callout 2 number"/>
          <p:cNvSpPr txBox="1"/>
          <p:nvPr/>
        </p:nvSpPr>
        <p:spPr>
          <a:xfrm>
            <a:off x="5165901" y="5143085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  <p:sp>
        <p:nvSpPr>
          <p:cNvPr id="1006" name="Callout 3 circle"/>
          <p:cNvSpPr/>
          <p:nvPr/>
        </p:nvSpPr>
        <p:spPr>
          <a:xfrm>
            <a:off x="5320557" y="1623815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07" name="Callout 3 number"/>
          <p:cNvSpPr txBox="1"/>
          <p:nvPr/>
        </p:nvSpPr>
        <p:spPr>
          <a:xfrm>
            <a:off x="5320557" y="1623815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ns2="http://schemas.microsoft.com/office/powerpoint/2010/main" xmlns:p="http://schemas.openxmlformats.org/presentationml/2006/main" xmlns:r="http://schemas.openxmlformats.org/officeDocument/2006/relationships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16459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화면설계서 · Storyboard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18288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64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/ 16 · 자료·기준 관리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11480" y="621792"/>
            <a:ext cx="11338560" cy="27432"/>
          </a:xfrm>
          <a:prstGeom prst="rect">
            <a:avLst/>
          </a:prstGeom>
          <a:solidFill>
            <a:srgbClr val="4371A0"/>
          </a:solidFill>
          <a:ln w="12700">
            <a:solidFill>
              <a:srgbClr val="4371A0"/>
            </a:solidFill>
            <a:prstDash val="solid"/>
          </a:ln>
        </p:spPr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ns2:modId val="1579011935"/>
              </p:ext>
            </p:extLst>
          </p:nvPr>
        </p:nvGraphicFramePr>
        <p:xfrm>
          <a:off x="502920" y="731520"/>
          <a:ext cx="11219688" cy="914400"/>
        </p:xfrm>
        <a:graphic>
          <a:graphicData uri="http://schemas.openxmlformats.org/drawingml/2006/table">
            <a:tbl>
              <a:tblPr/>
              <a:tblGrid>
                <a:gridCol w="804672"/>
                <a:gridCol w="1188720"/>
                <a:gridCol w="621792"/>
                <a:gridCol w="1417320"/>
                <a:gridCol w="548640"/>
                <a:gridCol w="1325880"/>
                <a:gridCol w="658368"/>
                <a:gridCol w="2423160"/>
                <a:gridCol w="475488"/>
                <a:gridCol w="1755648"/>
              </a:tblGrid>
              <a:tr h="4937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63E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Screen ID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SCR-A-001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63E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화면명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자료·기준 관리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63E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Actor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서비스 운영자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63E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관련 UC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UC07 CSV 자료 등록 · UC08 자료 기준·누락값 검증 · UC09 추천 기준·근거 관리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63E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경로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메인 &gt; 자료·기준 관리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02920" y="1325880"/>
            <a:ext cx="6355080" cy="4389120"/>
          </a:xfrm>
          <a:prstGeom prst="rect">
            <a:avLst/>
          </a:prstGeom>
          <a:solidFill>
            <a:srgbClr val="FFFFFF"/>
          </a:solidFill>
          <a:ln w="9525">
            <a:solidFill>
              <a:srgbClr val="B9C6D4"/>
            </a:solidFill>
            <a:prstDash val="solid"/>
          </a:ln>
        </p:spPr>
      </p:sp>
      <p:pic>
        <p:nvPicPr>
          <p:cNvPr id="7" name="Image 0" descr="data-admin | Figma Make screenshot | https://blob-silver-16955234.figma.site/#data" title="data-admin">
            <a:hlinkClick r:id="rIdRevisedMake" tooltip="Figma Make 수정본 열기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87" y="1389888"/>
            <a:ext cx="5541089" cy="4242816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914487" y="1389888"/>
            <a:ext cx="5541089" cy="4242816"/>
          </a:xfrm>
          <a:prstGeom prst="rect">
            <a:avLst/>
          </a:prstGeom>
          <a:ln w="6350">
            <a:solidFill>
              <a:srgbClr val="D0D7DE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6995160" y="1325880"/>
            <a:ext cx="4727448" cy="4389120"/>
          </a:xfrm>
          <a:prstGeom prst="rect">
            <a:avLst/>
          </a:prstGeom>
          <a:solidFill>
            <a:srgbClr val="FFFFFF"/>
          </a:solidFill>
          <a:ln w="9525">
            <a:solidFill>
              <a:srgbClr val="B9C6D4"/>
            </a:solidFill>
            <a:prstDash val="solid"/>
          </a:ln>
        </p:spPr>
      </p:sp>
      <p:sp>
        <p:nvSpPr>
          <p:cNvPr id="36" name="Shape 32"/>
          <p:cNvSpPr/>
          <p:nvPr/>
        </p:nvSpPr>
        <p:spPr>
          <a:xfrm>
            <a:off x="6995160" y="1325880"/>
            <a:ext cx="4727448" cy="365760"/>
          </a:xfrm>
          <a:prstGeom prst="rect">
            <a:avLst/>
          </a:prstGeom>
          <a:solidFill>
            <a:srgbClr val="263E5C"/>
          </a:solidFill>
          <a:ln w="12700">
            <a:solidFill>
              <a:srgbClr val="263E5C"/>
            </a:solidFill>
            <a:prstDash val="solid"/>
          </a:ln>
        </p:spPr>
      </p:sp>
      <p:sp>
        <p:nvSpPr>
          <p:cNvPr id="37" name="Text 33"/>
          <p:cNvSpPr txBox="1"/>
          <p:nvPr/>
        </p:nvSpPr>
        <p:spPr>
          <a:xfrm>
            <a:off x="6995160" y="1325880"/>
            <a:ext cx="4727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Description (화면설명)</a:t>
            </a:r>
            <a:endParaRPr lang="en-US" sz="1000" dirty="0"/>
          </a:p>
        </p:txBody>
      </p:sp>
      <p:graphicFrame>
        <p:nvGraphicFramePr>
          <p:cNvPr id="53" name="Table 1"/>
          <p:cNvGraphicFramePr>
            <a:graphicFrameLocks noGrp="1"/>
          </p:cNvGraphicFramePr>
          <p:nvPr>
            <p:extLst>
              <p:ext uri="{D42A27DB-BD31-4B8C-83A1-F6EECF244321}">
                <ns2:modId val="1579011935"/>
              </p:ext>
            </p:extLst>
          </p:nvPr>
        </p:nvGraphicFramePr>
        <p:xfrm>
          <a:off x="7050024" y="1755648"/>
          <a:ext cx="4617720" cy="914400"/>
        </p:xfrm>
        <a:graphic>
          <a:graphicData uri="http://schemas.openxmlformats.org/drawingml/2006/table">
            <a:tbl>
              <a:tblPr/>
              <a:tblGrid>
                <a:gridCol w="274320"/>
                <a:gridCol w="4343400"/>
              </a:tblGrid>
              <a:tr h="1691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①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CSV 양식 다운로드 클릭 → 등록 양식 제공 → 파일 저장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②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CSV 파일 선택 → 확장자·크기 검사 → 파일명 또는 오류 표시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③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출처·버전 입력 → 자료 식별 정보 검사 → 검증 정보에 반영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④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시작일 입력 → 날짜 형식 검사 → 기준기간 검증에 반영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⑤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종료일 입력 → 날짜·선후 관계 검사 → 기준기간 검증에 반영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⑥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단위 선택 → 허용 단위 확인 → 집계 기준 검증에 반영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⑦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제공자·집계 기준 입력 → 필수값 확인 → 비교 가능성 검증에 반영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⑧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CSV 형식 안내 클릭 → 필수 열·작성 규칙 조회 → 안내 펼침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⑨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자료 검증 클릭 → 선택 파일의 5개 항목 검사 → SCR-A-001-P01 표시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⑩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자료 등록 클릭 → 검증·권한 확인 후 서버 저장 → 등록 자료 수 갱신·완료 알림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⑪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검증 항목 확인 → 기간·집계·지역·누락·제공 기준 판정 → 항목별 상태 표시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⑫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기준·근거 수정 클릭 → 현재 기준 조회 → SCR-A-001-P02 표시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⑬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추천 기준 확인 → 적용 기준·등록 자료 조회 → 현재 기준 요약 표시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9" name="Shape 34"/>
          <p:cNvSpPr/>
          <p:nvPr/>
        </p:nvSpPr>
        <p:spPr>
          <a:xfrm>
            <a:off x="7050024" y="4967414"/>
            <a:ext cx="4617720" cy="692722"/>
          </a:xfrm>
          <a:prstGeom prst="rect">
            <a:avLst/>
          </a:prstGeom>
          <a:solidFill>
            <a:srgbClr val="F7F9FB"/>
          </a:solidFill>
          <a:ln w="6350">
            <a:solidFill>
              <a:srgbClr val="E1E7EE"/>
            </a:solidFill>
            <a:prstDash val="solid"/>
          </a:ln>
        </p:spPr>
      </p:sp>
      <p:sp>
        <p:nvSpPr>
          <p:cNvPr id="40" name="Text 35"/>
          <p:cNvSpPr txBox="1"/>
          <p:nvPr/>
        </p:nvSpPr>
        <p:spPr>
          <a:xfrm>
            <a:off x="7104888" y="4994846"/>
            <a:ext cx="4507992" cy="6378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8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비고</a:t>
            </a:r>
            <a:endParaRPr lang="en-US" sz="8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750" dirty="0">
                <a:solidFill>
                  <a:srgbClr val="6464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검증 실패·미확인 항목이 있으면 등록 차단</a:t>
            </a:r>
            <a:endParaRPr lang="en-US" sz="8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750" dirty="0">
                <a:solidFill>
                  <a:srgbClr val="6464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파일·기준 변경 시 이전 검증 결과 무효화</a:t>
            </a:r>
            <a:endParaRPr lang="en-US" sz="8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750" dirty="0">
                <a:solidFill>
                  <a:srgbClr val="6464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등록 실패 시 입력·검증 결과를 유지하고 재시도 안내</a:t>
            </a:r>
            <a:endParaRPr lang="en-US" sz="800" dirty="0"/>
          </a:p>
        </p:txBody>
      </p:sp>
      <p:sp>
        <p:nvSpPr>
          <p:cNvPr id="41" name="Shape 36"/>
          <p:cNvSpPr/>
          <p:nvPr/>
        </p:nvSpPr>
        <p:spPr>
          <a:xfrm>
            <a:off x="502920" y="5806440"/>
            <a:ext cx="11219688" cy="475488"/>
          </a:xfrm>
          <a:prstGeom prst="rect">
            <a:avLst/>
          </a:prstGeom>
          <a:solidFill>
            <a:srgbClr val="EFF3F7"/>
          </a:solidFill>
          <a:ln w="12700">
            <a:solidFill>
              <a:srgbClr val="EFF3F7"/>
            </a:solidFill>
            <a:prstDash val="solid"/>
          </a:ln>
        </p:spPr>
      </p:sp>
      <p:sp>
        <p:nvSpPr>
          <p:cNvPr id="42" name="Text 37"/>
          <p:cNvSpPr txBox="1"/>
          <p:nvPr/>
        </p:nvSpPr>
        <p:spPr>
          <a:xfrm>
            <a:off x="685800" y="5806440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상태</a:t>
            </a:r>
            <a:endParaRPr lang="en-US" sz="900" dirty="0"/>
          </a:p>
        </p:txBody>
      </p:sp>
      <p:sp>
        <p:nvSpPr>
          <p:cNvPr id="43" name="Text 38"/>
          <p:cNvSpPr txBox="1"/>
          <p:nvPr/>
        </p:nvSpPr>
        <p:spPr>
          <a:xfrm>
            <a:off x="1600200" y="5806440"/>
            <a:ext cx="4023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■ 정상   □ 결과없음   ■ 오류   ■ 처리불가   ■ 완료</a:t>
            </a:r>
            <a:endParaRPr lang="en-US" sz="900" dirty="0"/>
          </a:p>
        </p:txBody>
      </p:sp>
      <p:sp>
        <p:nvSpPr>
          <p:cNvPr id="44" name="Text 39"/>
          <p:cNvSpPr txBox="1"/>
          <p:nvPr/>
        </p:nvSpPr>
        <p:spPr>
          <a:xfrm>
            <a:off x="5669280" y="5806440"/>
            <a:ext cx="868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이동 화면</a:t>
            </a:r>
            <a:endParaRPr lang="en-US" sz="900" dirty="0"/>
          </a:p>
        </p:txBody>
      </p:sp>
      <p:sp>
        <p:nvSpPr>
          <p:cNvPr id="45" name="Text 40"/>
          <p:cNvSpPr txBox="1"/>
          <p:nvPr/>
        </p:nvSpPr>
        <p:spPr>
          <a:xfrm>
            <a:off x="6537960" y="5806440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 검증 → 5개 항목 검사 → SCR-A-001-P01 CSV 검증 결과</a:t>
            </a:r>
            <a:endParaRPr lang="en-US" sz="900" dirty="0"/>
          </a:p>
        </p:txBody>
      </p:sp>
      <p:sp>
        <p:nvSpPr>
          <p:cNvPr id="47" name="Text 41"/>
          <p:cNvSpPr txBox="1"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82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정보시스템 캡스톤디자인 | 화면설계서·Storyboard Template</a:t>
            </a:r>
            <a:endParaRPr lang="en-US" sz="800" dirty="0"/>
          </a:p>
        </p:txBody>
      </p:sp>
      <p:sp>
        <p:nvSpPr>
          <p:cNvPr id="1002" name="Callout 1 circle"/>
          <p:cNvSpPr/>
          <p:nvPr/>
        </p:nvSpPr>
        <p:spPr>
          <a:xfrm>
            <a:off x="5297413" y="1631343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03" name="Callout 1 number"/>
          <p:cNvSpPr txBox="1"/>
          <p:nvPr/>
        </p:nvSpPr>
        <p:spPr>
          <a:xfrm>
            <a:off x="5297413" y="1631343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  <p:sp>
        <p:nvSpPr>
          <p:cNvPr id="1004" name="Callout 2 circle"/>
          <p:cNvSpPr/>
          <p:nvPr/>
        </p:nvSpPr>
        <p:spPr>
          <a:xfrm>
            <a:off x="1112988" y="2928274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05" name="Callout 2 number"/>
          <p:cNvSpPr txBox="1"/>
          <p:nvPr/>
        </p:nvSpPr>
        <p:spPr>
          <a:xfrm>
            <a:off x="1112988" y="292827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  <p:sp>
        <p:nvSpPr>
          <p:cNvPr id="1006" name="Callout 3 circle"/>
          <p:cNvSpPr/>
          <p:nvPr/>
        </p:nvSpPr>
        <p:spPr>
          <a:xfrm>
            <a:off x="2770248" y="2928274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07" name="Callout 3 number"/>
          <p:cNvSpPr txBox="1"/>
          <p:nvPr/>
        </p:nvSpPr>
        <p:spPr>
          <a:xfrm>
            <a:off x="2770248" y="292827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  <p:sp>
        <p:nvSpPr>
          <p:cNvPr id="1008" name="Callout 4 circle"/>
          <p:cNvSpPr/>
          <p:nvPr/>
        </p:nvSpPr>
        <p:spPr>
          <a:xfrm>
            <a:off x="4427591" y="2928274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09" name="Callout 4 number"/>
          <p:cNvSpPr txBox="1"/>
          <p:nvPr/>
        </p:nvSpPr>
        <p:spPr>
          <a:xfrm>
            <a:off x="4427591" y="292827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  <p:sp>
        <p:nvSpPr>
          <p:cNvPr id="1010" name="Callout 5 circle"/>
          <p:cNvSpPr/>
          <p:nvPr/>
        </p:nvSpPr>
        <p:spPr>
          <a:xfrm>
            <a:off x="1112988" y="3482316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11" name="Callout 5 number"/>
          <p:cNvSpPr txBox="1"/>
          <p:nvPr/>
        </p:nvSpPr>
        <p:spPr>
          <a:xfrm>
            <a:off x="1112988" y="348231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00" dirty="0"/>
          </a:p>
        </p:txBody>
      </p:sp>
      <p:sp>
        <p:nvSpPr>
          <p:cNvPr id="1012" name="Callout 6 circle"/>
          <p:cNvSpPr/>
          <p:nvPr/>
        </p:nvSpPr>
        <p:spPr>
          <a:xfrm>
            <a:off x="2770248" y="3482316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13" name="Callout 6 number"/>
          <p:cNvSpPr txBox="1"/>
          <p:nvPr/>
        </p:nvSpPr>
        <p:spPr>
          <a:xfrm>
            <a:off x="2770248" y="348231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00" dirty="0"/>
          </a:p>
        </p:txBody>
      </p:sp>
      <p:sp>
        <p:nvSpPr>
          <p:cNvPr id="1014" name="Callout 7 circle"/>
          <p:cNvSpPr/>
          <p:nvPr/>
        </p:nvSpPr>
        <p:spPr>
          <a:xfrm>
            <a:off x="4427591" y="3482316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15" name="Callout 7 number"/>
          <p:cNvSpPr txBox="1"/>
          <p:nvPr/>
        </p:nvSpPr>
        <p:spPr>
          <a:xfrm>
            <a:off x="4427591" y="348231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800" dirty="0"/>
          </a:p>
        </p:txBody>
      </p:sp>
      <p:sp>
        <p:nvSpPr>
          <p:cNvPr id="1016" name="Callout 8 circle"/>
          <p:cNvSpPr/>
          <p:nvPr/>
        </p:nvSpPr>
        <p:spPr>
          <a:xfrm>
            <a:off x="1112988" y="3898938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17" name="Callout 8 number"/>
          <p:cNvSpPr txBox="1"/>
          <p:nvPr/>
        </p:nvSpPr>
        <p:spPr>
          <a:xfrm>
            <a:off x="1112988" y="389893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800" dirty="0"/>
          </a:p>
        </p:txBody>
      </p:sp>
      <p:sp>
        <p:nvSpPr>
          <p:cNvPr id="1018" name="Callout 9 circle"/>
          <p:cNvSpPr/>
          <p:nvPr/>
        </p:nvSpPr>
        <p:spPr>
          <a:xfrm>
            <a:off x="1112988" y="4095420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19" name="Callout 9 number"/>
          <p:cNvSpPr txBox="1"/>
          <p:nvPr/>
        </p:nvSpPr>
        <p:spPr>
          <a:xfrm>
            <a:off x="1112988" y="409542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800" dirty="0"/>
          </a:p>
        </p:txBody>
      </p:sp>
      <p:sp>
        <p:nvSpPr>
          <p:cNvPr id="1020" name="Callout 10 circle"/>
          <p:cNvSpPr/>
          <p:nvPr/>
        </p:nvSpPr>
        <p:spPr>
          <a:xfrm>
            <a:off x="1533553" y="4095420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21" name="Callout 10 number"/>
          <p:cNvSpPr txBox="1"/>
          <p:nvPr/>
        </p:nvSpPr>
        <p:spPr>
          <a:xfrm>
            <a:off x="1533553" y="409542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800" dirty="0"/>
          </a:p>
        </p:txBody>
      </p:sp>
      <p:sp>
        <p:nvSpPr>
          <p:cNvPr id="1022" name="Callout 11 circle"/>
          <p:cNvSpPr/>
          <p:nvPr/>
        </p:nvSpPr>
        <p:spPr>
          <a:xfrm>
            <a:off x="1112988" y="4722534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23" name="Callout 11 number"/>
          <p:cNvSpPr txBox="1"/>
          <p:nvPr/>
        </p:nvSpPr>
        <p:spPr>
          <a:xfrm>
            <a:off x="1112988" y="472253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800" dirty="0"/>
          </a:p>
        </p:txBody>
      </p:sp>
      <p:sp>
        <p:nvSpPr>
          <p:cNvPr id="1024" name="Callout 12 circle"/>
          <p:cNvSpPr/>
          <p:nvPr/>
        </p:nvSpPr>
        <p:spPr>
          <a:xfrm>
            <a:off x="5291037" y="5162479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25" name="Callout 12 number"/>
          <p:cNvSpPr txBox="1"/>
          <p:nvPr/>
        </p:nvSpPr>
        <p:spPr>
          <a:xfrm>
            <a:off x="5291037" y="5162479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800" dirty="0"/>
          </a:p>
        </p:txBody>
      </p:sp>
      <p:sp>
        <p:nvSpPr>
          <p:cNvPr id="1026" name="Callout 13 circle"/>
          <p:cNvSpPr/>
          <p:nvPr/>
        </p:nvSpPr>
        <p:spPr>
          <a:xfrm>
            <a:off x="1112988" y="5051066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27" name="Callout 13 number"/>
          <p:cNvSpPr txBox="1"/>
          <p:nvPr/>
        </p:nvSpPr>
        <p:spPr>
          <a:xfrm>
            <a:off x="1112988" y="505106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ns2="http://schemas.microsoft.com/office/powerpoint/2010/main" xmlns:p="http://schemas.openxmlformats.org/presentationml/2006/main" xmlns:r="http://schemas.openxmlformats.org/officeDocument/2006/relationships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16459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화면설계서 · Storyboard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18288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64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/ 17 · CSV 검증 결과 · 통과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11480" y="621792"/>
            <a:ext cx="11338560" cy="27432"/>
          </a:xfrm>
          <a:prstGeom prst="rect">
            <a:avLst/>
          </a:prstGeom>
          <a:solidFill>
            <a:srgbClr val="4371A0"/>
          </a:solidFill>
          <a:ln w="12700">
            <a:solidFill>
              <a:srgbClr val="4371A0"/>
            </a:solidFill>
            <a:prstDash val="solid"/>
          </a:ln>
        </p:spPr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ns2:modId val="1579011935"/>
              </p:ext>
            </p:extLst>
          </p:nvPr>
        </p:nvGraphicFramePr>
        <p:xfrm>
          <a:off x="502920" y="731520"/>
          <a:ext cx="11219688" cy="914400"/>
        </p:xfrm>
        <a:graphic>
          <a:graphicData uri="http://schemas.openxmlformats.org/drawingml/2006/table">
            <a:tbl>
              <a:tblPr/>
              <a:tblGrid>
                <a:gridCol w="804672"/>
                <a:gridCol w="1188720"/>
                <a:gridCol w="621792"/>
                <a:gridCol w="1417320"/>
                <a:gridCol w="548640"/>
                <a:gridCol w="1325880"/>
                <a:gridCol w="658368"/>
                <a:gridCol w="2423160"/>
                <a:gridCol w="475488"/>
                <a:gridCol w="1755648"/>
              </a:tblGrid>
              <a:tr h="4937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63E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Screen ID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SCR-A-001-P01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63E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화면명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CSV 검증 결과 · 통과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63E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Actor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서비스 운영자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63E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관련 UC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UC07 CSV 자료 등록 · UC08 자료 기준·누락값 검증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63E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경로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메인 &gt; 자료·기준 관리 &gt; CSV 검증 결과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02920" y="1325880"/>
            <a:ext cx="6355080" cy="4389120"/>
          </a:xfrm>
          <a:prstGeom prst="rect">
            <a:avLst/>
          </a:prstGeom>
          <a:solidFill>
            <a:srgbClr val="FFFFFF"/>
          </a:solidFill>
          <a:ln w="9525">
            <a:solidFill>
              <a:srgbClr val="B9C6D4"/>
            </a:solidFill>
            <a:prstDash val="solid"/>
          </a:ln>
        </p:spPr>
      </p:sp>
      <p:pic>
        <p:nvPicPr>
          <p:cNvPr id="7" name="Image 0" descr="csv-validation | Figma Make screenshot | https://blob-silver-16955234.figma.site/#data" title="csv-validation">
            <a:hlinkClick r:id="rIdRevisedMake" tooltip="Figma Make 수정본 열기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2136957"/>
            <a:ext cx="4142232" cy="2748678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603504" y="2136957"/>
            <a:ext cx="4142232" cy="2748678"/>
          </a:xfrm>
          <a:prstGeom prst="rect">
            <a:avLst/>
          </a:prstGeom>
          <a:ln w="6350">
            <a:solidFill>
              <a:srgbClr val="D0D7DE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4864608" y="3017291"/>
            <a:ext cx="1901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750" dirty="0">
                <a:solidFill>
                  <a:srgbClr val="6464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등록 성공 시 토스트</a:t>
            </a:r>
            <a:endParaRPr lang="en-US" sz="750" dirty="0"/>
          </a:p>
        </p:txBody>
      </p:sp>
      <p:pic>
        <p:nvPicPr>
          <p:cNvPr id="16" name="Image 1" descr="csv-registered | Figma Make screenshot | https://blob-silver-16955234.figma.site/#data" title="csv-registered">
            <a:hlinkClick r:id="rIdRevisedMake" tooltip="Figma Make 수정본 열기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3131856"/>
            <a:ext cx="1901952" cy="612576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4846320" y="3131856"/>
            <a:ext cx="1901952" cy="612576"/>
          </a:xfrm>
          <a:prstGeom prst="rect">
            <a:avLst/>
          </a:prstGeom>
          <a:ln w="12700">
            <a:solidFill>
              <a:srgbClr val="D73737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995160" y="1325880"/>
            <a:ext cx="4727448" cy="4389120"/>
          </a:xfrm>
          <a:prstGeom prst="rect">
            <a:avLst/>
          </a:prstGeom>
          <a:solidFill>
            <a:srgbClr val="FFFFFF"/>
          </a:solidFill>
          <a:ln w="9525">
            <a:solidFill>
              <a:srgbClr val="B9C6D4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6995160" y="1325880"/>
            <a:ext cx="4727448" cy="365760"/>
          </a:xfrm>
          <a:prstGeom prst="rect">
            <a:avLst/>
          </a:prstGeom>
          <a:solidFill>
            <a:srgbClr val="263E5C"/>
          </a:solidFill>
          <a:ln w="12700">
            <a:solidFill>
              <a:srgbClr val="263E5C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6995160" y="1325880"/>
            <a:ext cx="4727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Description (화면설명)</a:t>
            </a:r>
            <a:endParaRPr lang="en-US" sz="1000" dirty="0"/>
          </a:p>
        </p:txBody>
      </p:sp>
      <p:graphicFrame>
        <p:nvGraphicFramePr>
          <p:cNvPr id="55" name="Table 1"/>
          <p:cNvGraphicFramePr>
            <a:graphicFrameLocks noGrp="1"/>
          </p:cNvGraphicFramePr>
          <p:nvPr>
            <p:extLst>
              <p:ext uri="{D42A27DB-BD31-4B8C-83A1-F6EECF244321}">
                <ns2:modId val="1579011935"/>
              </p:ext>
            </p:extLst>
          </p:nvPr>
        </p:nvGraphicFramePr>
        <p:xfrm>
          <a:off x="7050024" y="1755648"/>
          <a:ext cx="4617720" cy="914400"/>
        </p:xfrm>
        <a:graphic>
          <a:graphicData uri="http://schemas.openxmlformats.org/drawingml/2006/table">
            <a:tbl>
              <a:tblPr/>
              <a:tblGrid>
                <a:gridCol w="274320"/>
                <a:gridCol w="4343400"/>
              </a:tblGrid>
              <a:tr h="1844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①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검증 완료 → 통과 항목 집계 → 등록 가능 안내 표시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44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②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항목별 결과 확인 → 5개 기준 판정 → 통과 여부·사용 가능 범위 표시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44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③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자료 등록 클릭 → 검증·권한 확인 후 서버 저장 → SCR-A-001 등록 자료 수 갱신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44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④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등록 성공 → 완료 메시지 생성 → 자료 등록 완료 알림 표시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4" name="Shape 18"/>
          <p:cNvSpPr/>
          <p:nvPr/>
        </p:nvSpPr>
        <p:spPr>
          <a:xfrm>
            <a:off x="7050024" y="5020056"/>
            <a:ext cx="4617720" cy="640080"/>
          </a:xfrm>
          <a:prstGeom prst="rect">
            <a:avLst/>
          </a:prstGeom>
          <a:solidFill>
            <a:srgbClr val="F7F9FB"/>
          </a:solidFill>
          <a:ln w="6350">
            <a:solidFill>
              <a:srgbClr val="E1E7EE"/>
            </a:solidFill>
            <a:prstDash val="solid"/>
          </a:ln>
        </p:spPr>
      </p:sp>
      <p:sp>
        <p:nvSpPr>
          <p:cNvPr id="25" name="Text 19"/>
          <p:cNvSpPr txBox="1"/>
          <p:nvPr/>
        </p:nvSpPr>
        <p:spPr>
          <a:xfrm>
            <a:off x="7104888" y="5047488"/>
            <a:ext cx="45079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8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비고</a:t>
            </a:r>
            <a:endParaRPr lang="en-US" sz="8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750" dirty="0">
                <a:solidFill>
                  <a:srgbClr val="6464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필수 검증 통과 후에만 등록 가능</a:t>
            </a:r>
            <a:endParaRPr lang="en-US" sz="8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750" dirty="0">
                <a:solidFill>
                  <a:srgbClr val="6464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검증 후 파일·입력 기준이 바뀌면 다시 검증</a:t>
            </a:r>
            <a:endParaRPr lang="en-US" sz="800" dirty="0"/>
          </a:p>
        </p:txBody>
      </p:sp>
      <p:sp>
        <p:nvSpPr>
          <p:cNvPr id="26" name="Shape 20"/>
          <p:cNvSpPr/>
          <p:nvPr/>
        </p:nvSpPr>
        <p:spPr>
          <a:xfrm>
            <a:off x="502920" y="5806440"/>
            <a:ext cx="11219688" cy="475488"/>
          </a:xfrm>
          <a:prstGeom prst="rect">
            <a:avLst/>
          </a:prstGeom>
          <a:solidFill>
            <a:srgbClr val="EFF3F7"/>
          </a:solidFill>
          <a:ln w="12700">
            <a:solidFill>
              <a:srgbClr val="EFF3F7"/>
            </a:solidFill>
            <a:prstDash val="solid"/>
          </a:ln>
        </p:spPr>
      </p:sp>
      <p:sp>
        <p:nvSpPr>
          <p:cNvPr id="27" name="Text 21"/>
          <p:cNvSpPr txBox="1"/>
          <p:nvPr/>
        </p:nvSpPr>
        <p:spPr>
          <a:xfrm>
            <a:off x="685800" y="5806440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상태</a:t>
            </a:r>
            <a:endParaRPr lang="en-US" sz="900" dirty="0"/>
          </a:p>
        </p:txBody>
      </p:sp>
      <p:sp>
        <p:nvSpPr>
          <p:cNvPr id="2000" name="Text 22"/>
          <p:cNvSpPr txBox="1"/>
          <p:nvPr/>
        </p:nvSpPr>
        <p:spPr>
          <a:xfrm>
            <a:off x="1600200" y="5806440"/>
            <a:ext cx="4023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■ 정상   □ 결과없음   □ 오류   □ 처리불가   ■ 완료</a:t>
            </a:r>
            <a:endParaRPr lang="en-US" sz="900" dirty="0"/>
          </a:p>
        </p:txBody>
      </p:sp>
      <p:sp>
        <p:nvSpPr>
          <p:cNvPr id="29" name="Text 23"/>
          <p:cNvSpPr txBox="1"/>
          <p:nvPr/>
        </p:nvSpPr>
        <p:spPr>
          <a:xfrm>
            <a:off x="5669280" y="5806440"/>
            <a:ext cx="868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이동 화면</a:t>
            </a:r>
            <a:endParaRPr lang="en-US" sz="900" dirty="0"/>
          </a:p>
        </p:txBody>
      </p:sp>
      <p:sp>
        <p:nvSpPr>
          <p:cNvPr id="30" name="Text 24"/>
          <p:cNvSpPr txBox="1"/>
          <p:nvPr/>
        </p:nvSpPr>
        <p:spPr>
          <a:xfrm>
            <a:off x="6537960" y="5806440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 등록 → 검증·권한 확인·서버 저장 → SCR-A-001 등록 자료 수 갱신</a:t>
            </a:r>
            <a:endParaRPr lang="en-US" sz="900" dirty="0"/>
          </a:p>
        </p:txBody>
      </p:sp>
      <p:sp>
        <p:nvSpPr>
          <p:cNvPr id="32" name="Text 25"/>
          <p:cNvSpPr txBox="1"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82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정보시스템 캡스톤디자인 | 화면설계서·Storyboard Template</a:t>
            </a:r>
            <a:endParaRPr lang="en-US" sz="800" dirty="0"/>
          </a:p>
        </p:txBody>
      </p:sp>
      <p:sp>
        <p:nvSpPr>
          <p:cNvPr id="1002" name="Callout 1 circle"/>
          <p:cNvSpPr/>
          <p:nvPr/>
        </p:nvSpPr>
        <p:spPr>
          <a:xfrm>
            <a:off x="603504" y="3813516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03" name="Callout 1 number"/>
          <p:cNvSpPr txBox="1"/>
          <p:nvPr/>
        </p:nvSpPr>
        <p:spPr>
          <a:xfrm>
            <a:off x="603504" y="381351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  <p:sp>
        <p:nvSpPr>
          <p:cNvPr id="1004" name="Callout 2 circle"/>
          <p:cNvSpPr/>
          <p:nvPr/>
        </p:nvSpPr>
        <p:spPr>
          <a:xfrm>
            <a:off x="603504" y="4097418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05" name="Callout 2 number"/>
          <p:cNvSpPr txBox="1"/>
          <p:nvPr/>
        </p:nvSpPr>
        <p:spPr>
          <a:xfrm>
            <a:off x="603504" y="409741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  <p:sp>
        <p:nvSpPr>
          <p:cNvPr id="1006" name="Callout 3 circle"/>
          <p:cNvSpPr/>
          <p:nvPr/>
        </p:nvSpPr>
        <p:spPr>
          <a:xfrm>
            <a:off x="927703" y="3593460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07" name="Callout 3 number"/>
          <p:cNvSpPr txBox="1"/>
          <p:nvPr/>
        </p:nvSpPr>
        <p:spPr>
          <a:xfrm>
            <a:off x="927703" y="359346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  <p:sp>
        <p:nvSpPr>
          <p:cNvPr id="1008" name="Callout 4 circle"/>
          <p:cNvSpPr/>
          <p:nvPr/>
        </p:nvSpPr>
        <p:spPr>
          <a:xfrm>
            <a:off x="4846320" y="3197497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09" name="Callout 4 number"/>
          <p:cNvSpPr txBox="1"/>
          <p:nvPr/>
        </p:nvSpPr>
        <p:spPr>
          <a:xfrm>
            <a:off x="4846320" y="3197497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ns2="http://schemas.microsoft.com/office/powerpoint/2010/main" xmlns:p="http://schemas.openxmlformats.org/presentationml/2006/main" xmlns:r="http://schemas.openxmlformats.org/officeDocument/2006/relationships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16459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화면설계서 · Storyboard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18288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64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/ 18 · CSV 검증 결과 · 등록 불가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11480" y="621792"/>
            <a:ext cx="11338560" cy="27432"/>
          </a:xfrm>
          <a:prstGeom prst="rect">
            <a:avLst/>
          </a:prstGeom>
          <a:solidFill>
            <a:srgbClr val="4371A0"/>
          </a:solidFill>
          <a:ln w="12700">
            <a:solidFill>
              <a:srgbClr val="4371A0"/>
            </a:solidFill>
            <a:prstDash val="solid"/>
          </a:ln>
        </p:spPr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ns2:modId val="1579011935"/>
              </p:ext>
            </p:extLst>
          </p:nvPr>
        </p:nvGraphicFramePr>
        <p:xfrm>
          <a:off x="502920" y="731520"/>
          <a:ext cx="11219688" cy="914400"/>
        </p:xfrm>
        <a:graphic>
          <a:graphicData uri="http://schemas.openxmlformats.org/drawingml/2006/table">
            <a:tbl>
              <a:tblPr/>
              <a:tblGrid>
                <a:gridCol w="804672"/>
                <a:gridCol w="1188720"/>
                <a:gridCol w="621792"/>
                <a:gridCol w="1417320"/>
                <a:gridCol w="548640"/>
                <a:gridCol w="1325880"/>
                <a:gridCol w="658368"/>
                <a:gridCol w="2423160"/>
                <a:gridCol w="475488"/>
                <a:gridCol w="1755648"/>
              </a:tblGrid>
              <a:tr h="4937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63E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Screen ID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SCR-A-001-P01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63E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화면명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CSV 검증 결과 · 등록 불가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63E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Actor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서비스 운영자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63E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관련 UC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UC08 자료 기준·누락값 검증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63E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경로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메인 &gt; 자료·기준 관리 &gt; CSV 검증 결과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02920" y="1325880"/>
            <a:ext cx="6355080" cy="4389120"/>
          </a:xfrm>
          <a:prstGeom prst="rect">
            <a:avLst/>
          </a:prstGeom>
          <a:solidFill>
            <a:srgbClr val="FFFFFF"/>
          </a:solidFill>
          <a:ln w="9525">
            <a:solidFill>
              <a:srgbClr val="B9C6D4"/>
            </a:solidFill>
            <a:prstDash val="solid"/>
          </a:ln>
        </p:spPr>
      </p:sp>
      <p:pic>
        <p:nvPicPr>
          <p:cNvPr id="7" name="Image 0" descr="csv-error | Figma Make screenshot | https://blob-silver-16955234.figma.site/#data" title="csv-error">
            <a:hlinkClick r:id="rIdRevisedMake" tooltip="Figma Make 수정본 열기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216" y="1402674"/>
            <a:ext cx="6199632" cy="4217243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85216" y="1402674"/>
            <a:ext cx="6199632" cy="4217243"/>
          </a:xfrm>
          <a:prstGeom prst="rect">
            <a:avLst/>
          </a:prstGeom>
          <a:ln w="6350">
            <a:solidFill>
              <a:srgbClr val="D0D7DE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995160" y="1325880"/>
            <a:ext cx="4727448" cy="4389120"/>
          </a:xfrm>
          <a:prstGeom prst="rect">
            <a:avLst/>
          </a:prstGeom>
          <a:solidFill>
            <a:srgbClr val="FFFFFF"/>
          </a:solidFill>
          <a:ln w="9525">
            <a:solidFill>
              <a:srgbClr val="B9C6D4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995160" y="1325880"/>
            <a:ext cx="4727448" cy="365760"/>
          </a:xfrm>
          <a:prstGeom prst="rect">
            <a:avLst/>
          </a:prstGeom>
          <a:solidFill>
            <a:srgbClr val="263E5C"/>
          </a:solidFill>
          <a:ln w="12700">
            <a:solidFill>
              <a:srgbClr val="263E5C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6995160" y="1325880"/>
            <a:ext cx="4727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Description (화면설명)</a:t>
            </a:r>
            <a:endParaRPr lang="en-US" sz="1000" dirty="0"/>
          </a:p>
        </p:txBody>
      </p:sp>
      <p:graphicFrame>
        <p:nvGraphicFramePr>
          <p:cNvPr id="57" name="Table 1"/>
          <p:cNvGraphicFramePr>
            <a:graphicFrameLocks noGrp="1"/>
          </p:cNvGraphicFramePr>
          <p:nvPr>
            <p:extLst>
              <p:ext uri="{D42A27DB-BD31-4B8C-83A1-F6EECF244321}">
                <ns2:modId val="1579011935"/>
              </p:ext>
            </p:extLst>
          </p:nvPr>
        </p:nvGraphicFramePr>
        <p:xfrm>
          <a:off x="7050024" y="1755648"/>
          <a:ext cx="4617720" cy="914400"/>
        </p:xfrm>
        <a:graphic>
          <a:graphicData uri="http://schemas.openxmlformats.org/drawingml/2006/table">
            <a:tbl>
              <a:tblPr/>
              <a:tblGrid>
                <a:gridCol w="274320"/>
                <a:gridCol w="4343400"/>
              </a:tblGrid>
              <a:tr h="1844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①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오류가 있는 파일 검증 → 실패 항목 판별 → 등록 불가 사유·재검증 안내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44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②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오류 항목 확인 → 실패한 검증 기준 확인 → 수정 후 재검증 안내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44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③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등록 버튼 확인 → 필수 검증 미통과 확인 → 등록 비활성 유지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9" name="Shape 14"/>
          <p:cNvSpPr/>
          <p:nvPr/>
        </p:nvSpPr>
        <p:spPr>
          <a:xfrm>
            <a:off x="7050024" y="5020056"/>
            <a:ext cx="4617720" cy="640080"/>
          </a:xfrm>
          <a:prstGeom prst="rect">
            <a:avLst/>
          </a:prstGeom>
          <a:solidFill>
            <a:srgbClr val="F7F9FB"/>
          </a:solidFill>
          <a:ln w="6350">
            <a:solidFill>
              <a:srgbClr val="E1E7EE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7104888" y="5047488"/>
            <a:ext cx="45079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8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비고</a:t>
            </a:r>
            <a:endParaRPr lang="en-US" sz="8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750" dirty="0">
                <a:solidFill>
                  <a:srgbClr val="6464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없는 수치를 만들어 채우거나 0으로 대체하지 않음</a:t>
            </a:r>
            <a:endParaRPr lang="en-US" sz="8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750" dirty="0">
                <a:solidFill>
                  <a:srgbClr val="6464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자료를 수정한 뒤 다시 검증해야 등록 가능</a:t>
            </a:r>
            <a:endParaRPr lang="en-US" sz="800" dirty="0"/>
          </a:p>
        </p:txBody>
      </p:sp>
      <p:sp>
        <p:nvSpPr>
          <p:cNvPr id="21" name="Shape 16"/>
          <p:cNvSpPr/>
          <p:nvPr/>
        </p:nvSpPr>
        <p:spPr>
          <a:xfrm>
            <a:off x="502920" y="5806440"/>
            <a:ext cx="11219688" cy="475488"/>
          </a:xfrm>
          <a:prstGeom prst="rect">
            <a:avLst/>
          </a:prstGeom>
          <a:solidFill>
            <a:srgbClr val="EFF3F7"/>
          </a:solidFill>
          <a:ln w="12700">
            <a:solidFill>
              <a:srgbClr val="EFF3F7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685800" y="5806440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상태</a:t>
            </a:r>
            <a:endParaRPr lang="en-US" sz="900" dirty="0"/>
          </a:p>
        </p:txBody>
      </p:sp>
      <p:sp>
        <p:nvSpPr>
          <p:cNvPr id="23" name="Text 18"/>
          <p:cNvSpPr txBox="1"/>
          <p:nvPr/>
        </p:nvSpPr>
        <p:spPr>
          <a:xfrm>
            <a:off x="1600200" y="5806440"/>
            <a:ext cx="4023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□ 정상   □ 결과없음   ■ 오류   ■ 처리불가   □ 완료</a:t>
            </a:r>
            <a:endParaRPr lang="en-US" sz="900" dirty="0"/>
          </a:p>
        </p:txBody>
      </p:sp>
      <p:sp>
        <p:nvSpPr>
          <p:cNvPr id="24" name="Text 19"/>
          <p:cNvSpPr txBox="1"/>
          <p:nvPr/>
        </p:nvSpPr>
        <p:spPr>
          <a:xfrm>
            <a:off x="5669280" y="5806440"/>
            <a:ext cx="868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이동 화면</a:t>
            </a:r>
            <a:endParaRPr lang="en-US" sz="900" dirty="0"/>
          </a:p>
        </p:txBody>
      </p:sp>
      <p:sp>
        <p:nvSpPr>
          <p:cNvPr id="25" name="Text 20"/>
          <p:cNvSpPr txBox="1"/>
          <p:nvPr/>
        </p:nvSpPr>
        <p:spPr>
          <a:xfrm>
            <a:off x="6537960" y="5806440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 수정 후 검증 → 재검증 → SCR-A-001-P01 결과 갱신</a:t>
            </a:r>
            <a:endParaRPr lang="en-US" sz="900" dirty="0"/>
          </a:p>
        </p:txBody>
      </p:sp>
      <p:sp>
        <p:nvSpPr>
          <p:cNvPr id="27" name="Text 21"/>
          <p:cNvSpPr txBox="1"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82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정보시스템 캡스톤디자인 | 화면설계서·Storyboard Template</a:t>
            </a:r>
            <a:endParaRPr lang="en-US" sz="800" dirty="0"/>
          </a:p>
        </p:txBody>
      </p:sp>
      <p:sp>
        <p:nvSpPr>
          <p:cNvPr id="1002" name="Callout 1 circle"/>
          <p:cNvSpPr/>
          <p:nvPr/>
        </p:nvSpPr>
        <p:spPr>
          <a:xfrm>
            <a:off x="610019" y="3957379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03" name="Callout 1 number"/>
          <p:cNvSpPr txBox="1"/>
          <p:nvPr/>
        </p:nvSpPr>
        <p:spPr>
          <a:xfrm>
            <a:off x="610019" y="3957379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  <p:sp>
        <p:nvSpPr>
          <p:cNvPr id="1004" name="Callout 2 circle"/>
          <p:cNvSpPr/>
          <p:nvPr/>
        </p:nvSpPr>
        <p:spPr>
          <a:xfrm>
            <a:off x="4163102" y="4382292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05" name="Callout 2 number"/>
          <p:cNvSpPr txBox="1"/>
          <p:nvPr/>
        </p:nvSpPr>
        <p:spPr>
          <a:xfrm>
            <a:off x="4163102" y="438229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  <p:sp>
        <p:nvSpPr>
          <p:cNvPr id="1006" name="Callout 3 circle"/>
          <p:cNvSpPr/>
          <p:nvPr/>
        </p:nvSpPr>
        <p:spPr>
          <a:xfrm>
            <a:off x="1115858" y="3628024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07" name="Callout 3 number"/>
          <p:cNvSpPr txBox="1"/>
          <p:nvPr/>
        </p:nvSpPr>
        <p:spPr>
          <a:xfrm>
            <a:off x="1115858" y="362802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ns2="http://schemas.microsoft.com/office/powerpoint/2010/main" xmlns:p="http://schemas.openxmlformats.org/presentationml/2006/main" xmlns:r="http://schemas.openxmlformats.org/officeDocument/2006/relationships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16459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화면설계서 · Storyboard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18288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64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/ 19 · 추천 기준·근거 편집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11480" y="621792"/>
            <a:ext cx="11338560" cy="27432"/>
          </a:xfrm>
          <a:prstGeom prst="rect">
            <a:avLst/>
          </a:prstGeom>
          <a:solidFill>
            <a:srgbClr val="4371A0"/>
          </a:solidFill>
          <a:ln w="12700">
            <a:solidFill>
              <a:srgbClr val="4371A0"/>
            </a:solidFill>
            <a:prstDash val="solid"/>
          </a:ln>
        </p:spPr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ns2:modId val="1579011935"/>
              </p:ext>
            </p:extLst>
          </p:nvPr>
        </p:nvGraphicFramePr>
        <p:xfrm>
          <a:off x="502920" y="731520"/>
          <a:ext cx="11219688" cy="914400"/>
        </p:xfrm>
        <a:graphic>
          <a:graphicData uri="http://schemas.openxmlformats.org/drawingml/2006/table">
            <a:tbl>
              <a:tblPr/>
              <a:tblGrid>
                <a:gridCol w="804672"/>
                <a:gridCol w="1188720"/>
                <a:gridCol w="621792"/>
                <a:gridCol w="1417320"/>
                <a:gridCol w="548640"/>
                <a:gridCol w="1325880"/>
                <a:gridCol w="658368"/>
                <a:gridCol w="2423160"/>
                <a:gridCol w="475488"/>
                <a:gridCol w="1755648"/>
              </a:tblGrid>
              <a:tr h="4937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63E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Screen ID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SCR-A-001-P02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63E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화면명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추천 기준·근거 편집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63E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Actor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서비스 운영자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63E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관련 UC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UC09 추천 기준·근거 관리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63E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경로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메인 &gt; 자료·기준 관리 &gt; 추천 기준·근거 편집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02920" y="1325880"/>
            <a:ext cx="6355080" cy="4389120"/>
          </a:xfrm>
          <a:prstGeom prst="rect">
            <a:avLst/>
          </a:prstGeom>
          <a:solidFill>
            <a:srgbClr val="FFFFFF"/>
          </a:solidFill>
          <a:ln w="9525">
            <a:solidFill>
              <a:srgbClr val="B9C6D4"/>
            </a:solidFill>
            <a:prstDash val="solid"/>
          </a:ln>
        </p:spPr>
      </p:sp>
      <p:pic>
        <p:nvPicPr>
          <p:cNvPr id="7" name="Image 0" descr="criteria | Figma Make screenshot | https://blob-silver-16955234.figma.site/#data" title="criteria">
            <a:hlinkClick r:id="rIdRevisedMake" tooltip="Figma Make 수정본 열기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9698" y="1426464"/>
            <a:ext cx="3429844" cy="4169664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959698" y="1426464"/>
            <a:ext cx="3429844" cy="4169664"/>
          </a:xfrm>
          <a:prstGeom prst="rect">
            <a:avLst/>
          </a:prstGeom>
          <a:ln w="6350">
            <a:solidFill>
              <a:srgbClr val="D0D7DE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4846320" y="2988636"/>
            <a:ext cx="1901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750" dirty="0">
                <a:solidFill>
                  <a:srgbClr val="6464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⑧ 저장 성공 시 토스트</a:t>
            </a:r>
            <a:endParaRPr lang="en-US" sz="750" dirty="0"/>
          </a:p>
        </p:txBody>
      </p:sp>
      <p:pic>
        <p:nvPicPr>
          <p:cNvPr id="26" name="Image 1" descr="criteria-saved | Figma Make screenshot | https://blob-silver-16955234.figma.site/#data" title="criteria-saved">
            <a:hlinkClick r:id="rIdRevisedMake" tooltip="Figma Make 수정본 열기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3282956"/>
            <a:ext cx="1901952" cy="310377"/>
          </a:xfrm>
          <a:prstGeom prst="rect">
            <a:avLst/>
          </a:prstGeom>
        </p:spPr>
      </p:pic>
      <p:sp>
        <p:nvSpPr>
          <p:cNvPr id="27" name="Shape 22"/>
          <p:cNvSpPr/>
          <p:nvPr/>
        </p:nvSpPr>
        <p:spPr>
          <a:xfrm>
            <a:off x="4846320" y="3282956"/>
            <a:ext cx="1901952" cy="310377"/>
          </a:xfrm>
          <a:prstGeom prst="rect">
            <a:avLst/>
          </a:prstGeom>
          <a:ln w="12700">
            <a:solidFill>
              <a:srgbClr val="D73737"/>
            </a:solidFill>
            <a:prstDash val="solid"/>
          </a:ln>
        </p:spPr>
      </p:sp>
      <p:sp>
        <p:nvSpPr>
          <p:cNvPr id="2000" name="Shape 25"/>
          <p:cNvSpPr/>
          <p:nvPr/>
        </p:nvSpPr>
        <p:spPr>
          <a:xfrm>
            <a:off x="6995160" y="1325880"/>
            <a:ext cx="4727448" cy="4389120"/>
          </a:xfrm>
          <a:prstGeom prst="rect">
            <a:avLst/>
          </a:prstGeom>
          <a:solidFill>
            <a:srgbClr val="FFFFFF"/>
          </a:solidFill>
          <a:ln w="9525">
            <a:solidFill>
              <a:srgbClr val="B9C6D4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6995160" y="1325880"/>
            <a:ext cx="4727448" cy="365760"/>
          </a:xfrm>
          <a:prstGeom prst="rect">
            <a:avLst/>
          </a:prstGeom>
          <a:solidFill>
            <a:srgbClr val="263E5C"/>
          </a:solidFill>
          <a:ln w="12700">
            <a:solidFill>
              <a:srgbClr val="263E5C"/>
            </a:solidFill>
            <a:prstDash val="solid"/>
          </a:ln>
        </p:spPr>
      </p:sp>
      <p:sp>
        <p:nvSpPr>
          <p:cNvPr id="32" name="Text 27"/>
          <p:cNvSpPr txBox="1"/>
          <p:nvPr/>
        </p:nvSpPr>
        <p:spPr>
          <a:xfrm>
            <a:off x="6995160" y="1325880"/>
            <a:ext cx="4727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Description (화면설명)</a:t>
            </a:r>
            <a:endParaRPr lang="en-US" sz="1000" dirty="0"/>
          </a:p>
        </p:txBody>
      </p:sp>
      <p:graphicFrame>
        <p:nvGraphicFramePr>
          <p:cNvPr id="59" name="Table 1"/>
          <p:cNvGraphicFramePr>
            <a:graphicFrameLocks noGrp="1"/>
          </p:cNvGraphicFramePr>
          <p:nvPr>
            <p:extLst>
              <p:ext uri="{D42A27DB-BD31-4B8C-83A1-F6EECF244321}">
                <ns2:modId val="1579011935"/>
              </p:ext>
            </p:extLst>
          </p:nvPr>
        </p:nvGraphicFramePr>
        <p:xfrm>
          <a:off x="7050024" y="1755648"/>
          <a:ext cx="4617720" cy="914400"/>
        </p:xfrm>
        <a:graphic>
          <a:graphicData uri="http://schemas.openxmlformats.org/drawingml/2006/table">
            <a:tbl>
              <a:tblPr/>
              <a:tblGrid>
                <a:gridCol w="274320"/>
                <a:gridCol w="4343400"/>
              </a:tblGrid>
              <a:tr h="1844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①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✕ 클릭 → 변경 내용 저장 취소 → SCR-A-001 유지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44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②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적용 안내 확인 → 기준 적용 방식 표시 → 저장 후 제안 재계산 안내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44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③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방문 감소 기준 입력 → 숫자·범위 검사 → 추천 기준 저장 준비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44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④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출처·기준 입력 → 필수값 검사 → 제안의 출처·기준에 반영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44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⑤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추천 판단 이유 입력 → 필수값 검사 → 제안 설명에 반영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44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⑥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적용 조건 입력 → 필수값 검사 → 제안의 확인 조건에 표시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44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⑦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취소 클릭 → 변경 내용 저장 취소 → SCR-A-001 복귀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44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⑧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기준 저장 클릭 → 권한·입력 검사·서버 저장 → 기준·홍보 제안 갱신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39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737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⑨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저장 성공 → 완료 메시지 생성 → 추천 기준 저장 완료 알림 표시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4" name="Shape 28"/>
          <p:cNvSpPr/>
          <p:nvPr/>
        </p:nvSpPr>
        <p:spPr>
          <a:xfrm>
            <a:off x="7050024" y="4967414"/>
            <a:ext cx="4617720" cy="692722"/>
          </a:xfrm>
          <a:prstGeom prst="rect">
            <a:avLst/>
          </a:prstGeom>
          <a:solidFill>
            <a:srgbClr val="F7F9FB"/>
          </a:solidFill>
          <a:ln w="6350">
            <a:solidFill>
              <a:srgbClr val="E1E7EE"/>
            </a:solidFill>
            <a:prstDash val="solid"/>
          </a:ln>
        </p:spPr>
      </p:sp>
      <p:sp>
        <p:nvSpPr>
          <p:cNvPr id="35" name="Text 29"/>
          <p:cNvSpPr txBox="1"/>
          <p:nvPr/>
        </p:nvSpPr>
        <p:spPr>
          <a:xfrm>
            <a:off x="7104888" y="4994846"/>
            <a:ext cx="4507992" cy="6378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8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비고</a:t>
            </a:r>
            <a:endParaRPr lang="en-US" sz="8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750" dirty="0">
                <a:solidFill>
                  <a:srgbClr val="6464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저장한 기준·근거는 이후 홍보 제안 조회에 반영</a:t>
            </a:r>
            <a:endParaRPr lang="en-US" sz="8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750" dirty="0">
                <a:solidFill>
                  <a:srgbClr val="6464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필수값 오류는 해당 입력란에 표시</a:t>
            </a:r>
            <a:endParaRPr lang="en-US" sz="8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750" dirty="0">
                <a:solidFill>
                  <a:srgbClr val="6464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저장 실패 시 기존 적용 기준과 입력값을 유지</a:t>
            </a:r>
            <a:endParaRPr lang="en-US" sz="800" dirty="0"/>
          </a:p>
        </p:txBody>
      </p:sp>
      <p:sp>
        <p:nvSpPr>
          <p:cNvPr id="36" name="Shape 30"/>
          <p:cNvSpPr/>
          <p:nvPr/>
        </p:nvSpPr>
        <p:spPr>
          <a:xfrm>
            <a:off x="502920" y="5806440"/>
            <a:ext cx="11219688" cy="475488"/>
          </a:xfrm>
          <a:prstGeom prst="rect">
            <a:avLst/>
          </a:prstGeom>
          <a:solidFill>
            <a:srgbClr val="EFF3F7"/>
          </a:solidFill>
          <a:ln w="12700">
            <a:solidFill>
              <a:srgbClr val="EFF3F7"/>
            </a:solidFill>
            <a:prstDash val="solid"/>
          </a:ln>
        </p:spPr>
      </p:sp>
      <p:sp>
        <p:nvSpPr>
          <p:cNvPr id="37" name="Text 31"/>
          <p:cNvSpPr txBox="1"/>
          <p:nvPr/>
        </p:nvSpPr>
        <p:spPr>
          <a:xfrm>
            <a:off x="685800" y="5806440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상태</a:t>
            </a:r>
            <a:endParaRPr lang="en-US" sz="900" dirty="0"/>
          </a:p>
        </p:txBody>
      </p:sp>
      <p:sp>
        <p:nvSpPr>
          <p:cNvPr id="38" name="Text 32"/>
          <p:cNvSpPr txBox="1"/>
          <p:nvPr/>
        </p:nvSpPr>
        <p:spPr>
          <a:xfrm>
            <a:off x="1600200" y="5806440"/>
            <a:ext cx="4023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■ 정상   □ 결과없음   ■ 오류   □ 처리불가   ■ 완료</a:t>
            </a:r>
            <a:endParaRPr lang="en-US" sz="900" dirty="0"/>
          </a:p>
        </p:txBody>
      </p:sp>
      <p:sp>
        <p:nvSpPr>
          <p:cNvPr id="39" name="Text 33"/>
          <p:cNvSpPr txBox="1"/>
          <p:nvPr/>
        </p:nvSpPr>
        <p:spPr>
          <a:xfrm>
            <a:off x="5669280" y="5806440"/>
            <a:ext cx="868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이동 화면</a:t>
            </a:r>
            <a:endParaRPr lang="en-US" sz="900" dirty="0"/>
          </a:p>
        </p:txBody>
      </p:sp>
      <p:sp>
        <p:nvSpPr>
          <p:cNvPr id="40" name="Text 34"/>
          <p:cNvSpPr txBox="1"/>
          <p:nvPr/>
        </p:nvSpPr>
        <p:spPr>
          <a:xfrm>
            <a:off x="6537960" y="5806440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 저장 → 서버 저장·제안 재계산 → SCR-A-001 기준 요약 갱신</a:t>
            </a:r>
            <a:endParaRPr lang="en-US" sz="900" dirty="0"/>
          </a:p>
        </p:txBody>
      </p:sp>
      <p:sp>
        <p:nvSpPr>
          <p:cNvPr id="42" name="Text 35"/>
          <p:cNvSpPr txBox="1"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82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정보시스템 캡스톤디자인 | 화면설계서·Storyboard Template</a:t>
            </a:r>
            <a:endParaRPr lang="en-US" sz="800" dirty="0"/>
          </a:p>
        </p:txBody>
      </p:sp>
      <p:sp>
        <p:nvSpPr>
          <p:cNvPr id="1002" name="Callout 1 circle"/>
          <p:cNvSpPr/>
          <p:nvPr/>
        </p:nvSpPr>
        <p:spPr>
          <a:xfrm>
            <a:off x="3921926" y="1587249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03" name="Callout 1 number"/>
          <p:cNvSpPr txBox="1"/>
          <p:nvPr/>
        </p:nvSpPr>
        <p:spPr>
          <a:xfrm>
            <a:off x="3921926" y="1587249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  <p:sp>
        <p:nvSpPr>
          <p:cNvPr id="1004" name="Callout 2 circle"/>
          <p:cNvSpPr/>
          <p:nvPr/>
        </p:nvSpPr>
        <p:spPr>
          <a:xfrm>
            <a:off x="967834" y="2071818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05" name="Callout 2 number"/>
          <p:cNvSpPr txBox="1"/>
          <p:nvPr/>
        </p:nvSpPr>
        <p:spPr>
          <a:xfrm>
            <a:off x="967834" y="207181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  <p:sp>
        <p:nvSpPr>
          <p:cNvPr id="1006" name="Callout 3 circle"/>
          <p:cNvSpPr/>
          <p:nvPr/>
        </p:nvSpPr>
        <p:spPr>
          <a:xfrm>
            <a:off x="967834" y="2732288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07" name="Callout 3 number"/>
          <p:cNvSpPr txBox="1"/>
          <p:nvPr/>
        </p:nvSpPr>
        <p:spPr>
          <a:xfrm>
            <a:off x="967834" y="273228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  <p:sp>
        <p:nvSpPr>
          <p:cNvPr id="1008" name="Callout 4 circle"/>
          <p:cNvSpPr/>
          <p:nvPr/>
        </p:nvSpPr>
        <p:spPr>
          <a:xfrm>
            <a:off x="967834" y="3231206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09" name="Callout 4 number"/>
          <p:cNvSpPr txBox="1"/>
          <p:nvPr/>
        </p:nvSpPr>
        <p:spPr>
          <a:xfrm>
            <a:off x="967834" y="323120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  <p:sp>
        <p:nvSpPr>
          <p:cNvPr id="1010" name="Callout 5 circle"/>
          <p:cNvSpPr/>
          <p:nvPr/>
        </p:nvSpPr>
        <p:spPr>
          <a:xfrm>
            <a:off x="967834" y="3730124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11" name="Callout 5 number"/>
          <p:cNvSpPr txBox="1"/>
          <p:nvPr/>
        </p:nvSpPr>
        <p:spPr>
          <a:xfrm>
            <a:off x="967834" y="373012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00" dirty="0"/>
          </a:p>
        </p:txBody>
      </p:sp>
      <p:sp>
        <p:nvSpPr>
          <p:cNvPr id="1012" name="Callout 6 circle"/>
          <p:cNvSpPr/>
          <p:nvPr/>
        </p:nvSpPr>
        <p:spPr>
          <a:xfrm>
            <a:off x="967834" y="4523362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13" name="Callout 6 number"/>
          <p:cNvSpPr txBox="1"/>
          <p:nvPr/>
        </p:nvSpPr>
        <p:spPr>
          <a:xfrm>
            <a:off x="967834" y="452336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00" dirty="0"/>
          </a:p>
        </p:txBody>
      </p:sp>
      <p:sp>
        <p:nvSpPr>
          <p:cNvPr id="1014" name="Callout 7 circle"/>
          <p:cNvSpPr/>
          <p:nvPr/>
        </p:nvSpPr>
        <p:spPr>
          <a:xfrm>
            <a:off x="3438739" y="5196019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15" name="Callout 7 number"/>
          <p:cNvSpPr txBox="1"/>
          <p:nvPr/>
        </p:nvSpPr>
        <p:spPr>
          <a:xfrm>
            <a:off x="3438739" y="5196019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800" dirty="0"/>
          </a:p>
        </p:txBody>
      </p:sp>
      <p:sp>
        <p:nvSpPr>
          <p:cNvPr id="1016" name="Callout 8 circle"/>
          <p:cNvSpPr/>
          <p:nvPr/>
        </p:nvSpPr>
        <p:spPr>
          <a:xfrm>
            <a:off x="3802037" y="5196019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17" name="Callout 8 number"/>
          <p:cNvSpPr txBox="1"/>
          <p:nvPr/>
        </p:nvSpPr>
        <p:spPr>
          <a:xfrm>
            <a:off x="3802037" y="5196019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800" dirty="0"/>
          </a:p>
        </p:txBody>
      </p:sp>
      <p:sp>
        <p:nvSpPr>
          <p:cNvPr id="1018" name="Callout 9 circle"/>
          <p:cNvSpPr/>
          <p:nvPr/>
        </p:nvSpPr>
        <p:spPr>
          <a:xfrm>
            <a:off x="4846320" y="3282956"/>
            <a:ext cx="182880" cy="182880"/>
          </a:xfrm>
          <a:prstGeom prst="ellipse">
            <a:avLst/>
          </a:prstGeom>
          <a:solidFill>
            <a:srgbClr val="D73737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19" name="Callout 9 number"/>
          <p:cNvSpPr txBox="1"/>
          <p:nvPr/>
        </p:nvSpPr>
        <p:spPr>
          <a:xfrm>
            <a:off x="4846320" y="328295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16459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구현 범위와 Figma 공유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18288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64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 / 범위 · 제출 링크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11480" y="621792"/>
            <a:ext cx="11338560" cy="27432"/>
          </a:xfrm>
          <a:prstGeom prst="rect">
            <a:avLst/>
          </a:prstGeom>
          <a:solidFill>
            <a:srgbClr val="4371A0"/>
          </a:solidFill>
          <a:ln w="12700">
            <a:solidFill>
              <a:srgbClr val="4371A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914400"/>
            <a:ext cx="384048" cy="384048"/>
          </a:xfrm>
          <a:prstGeom prst="ellipse">
            <a:avLst/>
          </a:prstGeom>
          <a:solidFill>
            <a:srgbClr val="4371A0"/>
          </a:solidFill>
          <a:ln w="12700">
            <a:solidFill>
              <a:srgbClr val="4371A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914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89611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구현 범위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2880360" y="896112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F01 방문 추이 · F02 소비 비교·홍보 제안 · F03 일정·사용 기록 · 운영 지원(CSV 등록·검증, 추천 기준 관리)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85800" y="1673352"/>
            <a:ext cx="384048" cy="384048"/>
          </a:xfrm>
          <a:prstGeom prst="ellipse">
            <a:avLst/>
          </a:prstGeom>
          <a:solidFill>
            <a:srgbClr val="4371A0"/>
          </a:solidFill>
          <a:ln w="12700">
            <a:solidFill>
              <a:srgbClr val="4371A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" y="16733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1655064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이번 제출 범위 제외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2880360" y="1655064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F04(UC06 보고서 초안 작성)는 이번 제출의 구현 범위에서 제외합니다. 이후 도입 여부는 별도 결정합니다.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85800" y="2432304"/>
            <a:ext cx="384048" cy="384048"/>
          </a:xfrm>
          <a:prstGeom prst="ellipse">
            <a:avLst/>
          </a:prstGeom>
          <a:solidFill>
            <a:srgbClr val="4371A0"/>
          </a:solidFill>
          <a:ln w="12700">
            <a:solidFill>
              <a:srgbClr val="4371A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5800" y="24323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2414016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설계·시안 구분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2880360" y="2414016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화면은 서버 인증·저장·검증을 기준으로 설계합니다. 현재 시안은 예시 자료와 브라우저 저장을 사용하며 서버 기능은 미연결입니다.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85800" y="3191256"/>
            <a:ext cx="384048" cy="384048"/>
          </a:xfrm>
          <a:prstGeom prst="ellipse">
            <a:avLst/>
          </a:prstGeom>
          <a:solidFill>
            <a:srgbClr val="4371A0"/>
          </a:solidFill>
          <a:ln w="12700">
            <a:solidFill>
              <a:srgbClr val="4371A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85800" y="31912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1234440" y="317296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Figma Make 편집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2880360" y="3172968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u="sng" dirty="0">
                <a:solidFill>
                  <a:srgbClr val="4371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ScopeMakeEditor"/>
              </a:rPr>
              <a:t>https://www.figma.com/make/AlZOwKZXABo7G6BkUhTG03/Start-Task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85800" y="3950208"/>
            <a:ext cx="384048" cy="384048"/>
          </a:xfrm>
          <a:prstGeom prst="ellipse">
            <a:avLst/>
          </a:prstGeom>
          <a:solidFill>
            <a:srgbClr val="4371A0"/>
          </a:solidFill>
          <a:ln w="12700">
            <a:solidFill>
              <a:srgbClr val="4371A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8580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1234440" y="393192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시안 실행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2880360" y="3931920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u="sng" dirty="0">
                <a:solidFill>
                  <a:srgbClr val="4371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ScopePublishedPreview"/>
              </a:rPr>
              <a:t>https://blob-silver-16955234.figma.site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85800" y="4709160"/>
            <a:ext cx="384048" cy="384048"/>
          </a:xfrm>
          <a:prstGeom prst="ellipse">
            <a:avLst/>
          </a:prstGeom>
          <a:solidFill>
            <a:srgbClr val="4371A0"/>
          </a:solidFill>
          <a:ln w="12700">
            <a:solidFill>
              <a:srgbClr val="4371A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85800" y="4709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1234440" y="469087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공유·화면 이동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2880360" y="4690872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링크 비로그인 열람 확인(편집은 로그인 필요). 화면 이동: Figma Make 미리보기의 메뉴·버튼으로 확인.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85800" y="5623560"/>
            <a:ext cx="10789920" cy="530352"/>
          </a:xfrm>
          <a:prstGeom prst="rect">
            <a:avLst/>
          </a:prstGeom>
          <a:solidFill>
            <a:srgbClr val="EFF3F7"/>
          </a:solidFill>
          <a:ln w="12700">
            <a:solidFill>
              <a:srgbClr val="EFF3F7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68680" y="5623560"/>
            <a:ext cx="10424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지역 방문 집계는 개별 가게 손님 수가 아닙니다. 기록 미확보와 0건을 구분하며, 매출 증가나 미래 결과를 보장하지 않습니다.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82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정보시스템 캡스톤디자인 | 화면설계서·Storyboard Template</a:t>
            </a:r>
            <a:endParaRPr lang="en-US" sz="8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16459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5. 제출 전 체크리스트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18288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64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 / 최종 점검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11480" y="621792"/>
            <a:ext cx="11338560" cy="27432"/>
          </a:xfrm>
          <a:prstGeom prst="rect">
            <a:avLst/>
          </a:prstGeom>
          <a:solidFill>
            <a:srgbClr val="4371A0"/>
          </a:solidFill>
          <a:ln w="12700">
            <a:solidFill>
              <a:srgbClr val="4371A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914400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4371A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914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71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914400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PROJECT.md의 주요 기능이 화면에 반영되어 있다.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85800" y="1499616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4371A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" y="14996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71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△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1499616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Use Case Diagram의 주요 Use Case가 화면 또는 화면 내 기능과 연결되어 있다. (최종 다이어그램 대조 대기)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85800" y="2084832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4371A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85800" y="20848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71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280160" y="2084832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사용자/관리자 등 Actor별 화면이 구분되어 있다.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85800" y="2670048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4371A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85800" y="2670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71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280160" y="2670048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 화면에 Screen ID, 화면명, 관련 Use Case, 경로가 기재되어 있다.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85800" y="3255264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4371A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85800" y="32552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71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280160" y="3255264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입력·버튼·조회결과·팝업 등에 번호가 있고 Description과 대응된다.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85800" y="3840480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4371A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85800" y="3840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71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280160" y="3840480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정상 상태뿐 아니라 결과 없음·입력 오류·처리 불가·완료 상태를 필요한 경우 표현했다.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85800" y="4425696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4371A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85800" y="44256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71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1280160" y="4425696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버튼 클릭 후 처리 내용과 다음 화면 이동이 명확하다.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85800" y="5010912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4371A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85800" y="50109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71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1280160" y="5010912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구현하지 않을 기능을 실제 기능처럼 화면설계서에 포함하지 않았다.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85800" y="5760720"/>
            <a:ext cx="10789920" cy="411480"/>
          </a:xfrm>
          <a:prstGeom prst="rect">
            <a:avLst/>
          </a:prstGeom>
          <a:solidFill>
            <a:srgbClr val="EFF3F7"/>
          </a:solidFill>
          <a:ln w="12700">
            <a:solidFill>
              <a:srgbClr val="EFF3F7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68680" y="576072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63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제출 파일명: Red 화면설계서_20260927_수정완료.pptx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82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정보시스템 캡스톤디자인 | 화면설계서·Storyboard Template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ns0:Properties xmlns:ns0="http://schemas.openxmlformats.org/officeDocument/2006/extended-properties" xmlns:ns1="http://schemas.openxmlformats.org/officeDocument/2006/docPropsVTypes">
  <ns0:TotalTime>0</ns0:TotalTime>
  <ns0:Words>0</ns0:Words>
  <ns0:Application>Microsoft Office PowerPoint</ns0:Application>
  <ns0:PresentationFormat>On-screen Show (16:9)</ns0:PresentationFormat>
  <ns0:Paragraphs>0</ns0:Paragraphs>
  <ns0:Slides>30</ns0:Slides>
  <ns0:Notes>31</ns0:Notes>
  <ns0:HiddenSlides>0</ns0:HiddenSlides>
  <ns0:MMClips>0</ns0:MMClips>
  <ns0:ScaleCrop>false</ns0:ScaleCrop>
  <ns0:HeadingPairs>
    <ns1:vector size="6" baseType="variant">
      <ns1:variant>
        <ns1:lpstr>Fonts Used</ns1:lpstr>
      </ns1:variant>
      <ns1:variant>
        <ns1:i4>2</ns1:i4>
      </ns1:variant>
      <ns1:variant>
        <ns1:lpstr>Theme</ns1:lpstr>
      </ns1:variant>
      <ns1:variant>
        <ns1:i4>1</ns1:i4>
      </ns1:variant>
      <ns1:variant>
        <ns1:lpstr>Slide Titles</ns1:lpstr>
      </ns1:variant>
      <ns1:variant>
        <ns1:i4>31</ns1:i4>
      </ns1:variant>
    </ns1:vector>
  </ns0:HeadingPairs>
  <ns0:TitlesOfParts>
    <ns1:vector size="34" baseType="lpstr">
      <ns1:lpstr>Arial</ns1:lpstr>
      <ns1:lpstr>Calibri</ns1:lpstr>
      <ns1:lpstr>Office Theme</ns1:lpstr>
      <ns1:lpstr>Slide 1</ns1:lpstr>
      <ns1:lpstr>Slide 2</ns1:lpstr>
      <ns1:lpstr>Slide 3</ns1:lpstr>
      <ns1:lpstr>Slide 4</ns1:lpstr>
      <ns1:lpstr>Slide 5</ns1:lpstr>
      <ns1:lpstr>Slide 6</ns1:lpstr>
      <ns1:lpstr>Slide 7</ns1:lpstr>
      <ns1:lpstr>Slide 8</ns1:lpstr>
      <ns1:lpstr>Slide 9</ns1:lpstr>
      <ns1:lpstr>Slide 10</ns1:lpstr>
      <ns1:lpstr>Slide 11</ns1:lpstr>
      <ns1:lpstr>Slide 12</ns1:lpstr>
      <ns1:lpstr>Slide 13</ns1:lpstr>
      <ns1:lpstr>Slide 14</ns1:lpstr>
      <ns1:lpstr>Slide 15</ns1:lpstr>
      <ns1:lpstr>Slide 16</ns1:lpstr>
      <ns1:lpstr>Slide 17</ns1:lpstr>
      <ns1:lpstr>Slide 18</ns1:lpstr>
      <ns1:lpstr>Slide 19</ns1:lpstr>
      <ns1:lpstr>Slide 20</ns1:lpstr>
      <ns1:lpstr>Slide 21</ns1:lpstr>
      <ns1:lpstr>Slide 22</ns1:lpstr>
      <ns1:lpstr>Slide 23</ns1:lpstr>
      <ns1:lpstr>Slide 24</ns1:lpstr>
      <ns1:lpstr>Slide 25</ns1:lpstr>
      <ns1:lpstr>Slide 26</ns1:lpstr>
      <ns1:lpstr>Slide 27</ns1:lpstr>
      <ns1:lpstr>Slide 28</ns1:lpstr>
      <ns1:lpstr>Slide 29</ns1:lpstr>
      <ns1:lpstr>Slide 30</ns1:lpstr>
      <ns1:lpstr>Slide 31</ns1:lpstr>
    </ns1:vector>
  </ns0:TitlesOfParts>
  <ns0:Company>PptxGenJS</ns0:Company>
  <ns0:LinksUpToDate>false</ns0:LinksUpToDate>
  <ns0:SharedDoc>false</ns0:SharedDoc>
  <ns0:HyperlinksChanged>false</ns0:HyperlinksChanged>
  <ns0:AppVersion>16.0000</ns0:AppVersion>
</ns0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Red 화면설계서</dc:title>
  <dc:subject>PptxGenJS Presentation</dc:subject>
  <dc:creator>PptxGenJS</dc:creator>
  <cp:lastModifiedBy>PptxGenJS</cp:lastModifiedBy>
  <cp:revision>1</cp:revision>
  <dcterms:created xsi:type="dcterms:W3CDTF">2026-09-27T12:03:15Z</dcterms:created>
  <dcterms:modified xsi:type="dcterms:W3CDTF">2026-09-27T12:03:15Z</dcterms:modified>
</cp:coreProperties>
</file>