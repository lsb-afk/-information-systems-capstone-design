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1014" r:id="rIdOctober14"/>
    <p:sldId id="269" r:id="rId15"/>
    <p:sldId id="270" r:id="rId16"/>
    <p:sldId id="271" r:id="rId17"/>
    <p:sldId id="272" r:id="rId18"/>
    <p:sldId id="1019" r:id="rIdOctober19"/>
    <p:sldId id="273" r:id="rId19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notesMaster" Target="notesMasters/notesMaster1.xml" /><Relationship Id="rId34" Type="http://schemas.openxmlformats.org/officeDocument/2006/relationships/presProps" Target="presProps.xml" /><Relationship Id="rId35" Type="http://schemas.openxmlformats.org/officeDocument/2006/relationships/viewProps" Target="viewProps.xml" /><Relationship Id="rId36" Type="http://schemas.openxmlformats.org/officeDocument/2006/relationships/theme" Target="theme/theme1.xml" /><Relationship Id="rId37" Type="http://schemas.openxmlformats.org/officeDocument/2006/relationships/tableStyles" Target="tableStyles.xml" /><Relationship Id="rIdOctober14" Type="http://schemas.openxmlformats.org/officeDocument/2006/relationships/slide" Target="slides/slide32.xml" /><Relationship Id="rIdOctober19" Type="http://schemas.openxmlformats.org/officeDocument/2006/relationships/slide" Target="slides/slide33.xml" 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'1.0' encoding='utf-8'?>
<Relationships xmlns="http://schemas.openxmlformats.org/package/2006/relationships">
			<Relationship Id="rId1" Type="http://schemas.openxmlformats.org/officeDocument/2006/relationships/notesMaster" Target="../notesMasters/notesMaster1.xml" />
			<Relationship Id="rId2" Type="http://schemas.openxmlformats.org/officeDocument/2006/relationships/slide" Target="../slides/slide32.xml" />
		</Relationships>
</file>

<file path=ppt/notesSlides/_rels/notesSlide33.xml.rels><?xml version='1.0' encoding='utf-8'?>
<Relationships xmlns="http://schemas.openxmlformats.org/package/2006/relationships">
			<Relationship Id="rId1" Type="http://schemas.openxmlformats.org/officeDocument/2006/relationships/notesMaster" Target="../notesMasters/notesMaster1.xml" />
			<Relationship Id="rId2" Type="http://schemas.openxmlformats.org/officeDocument/2006/relationships/slide" Target="../slides/slide33.xml" />
		</Relationships>
</file>

<file path=ppt/notesSlides/notesSlide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제공된 화면설계서 양식 및 Figma Make Version 8, 2026-10-02 확인. https://www.figma.com/make/AlZOwKZXABo7G6BkUhTG03/Start-Task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제공된 화면설계서 양식 및 Figma Make Version 8, 2026-10-02 확인. https://www.figma.com/make/AlZOwKZXABo7G6BkUhTG03/Start-Task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제공된 화면설계서 양식 및 Figma Make Version 8, 2026-10-02 확인. https://www.figma.com/make/AlZOwKZXABo7G6BkUhTG03/Start-Task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제공된 화면설계서 양식 및 Figma Make Version 8, 2026-10-02 확인. https://www.figma.com/make/AlZOwKZXABo7G6BkUhTG03/Start-Task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제공된 화면설계서 양식 및 Figma Make Version 8, 2026-10-02 확인. https://www.figma.com/make/AlZOwKZXABo7G6BkUhTG03/Start-Task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제공된 화면설계서 양식 및 Figma Make Version 8, 2026-10-02 확인. https://www.figma.com/make/AlZOwKZXABo7G6BkUhTG03/Start-Task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제공된 화면설계서 양식 및 Figma Make Version 8, 2026-10-02 확인. https://www.figma.com/make/AlZOwKZXABo7G6BkUhTG03/Start-Task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제공된 화면설계서 양식 및 Figma Make Version 8, 2026-10-02 확인. https://www.figma.com/make/AlZOwKZXABo7G6BkUhTG03/Start-Task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제공된 화면설계서 양식 및 Figma Make Version 8, 2026-10-02 확인. https://www.figma.com/make/AlZOwKZXABo7G6BkUhTG03/Start-Task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SCR-C-001 로그인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SCR-C-001 로그인 · 입력 오류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SCR-C-000 공통 레이아웃 (사이드바·상단바)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SCR-C-002 한눈에 보기 · 제안과 일정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SCR-C-003 지역 분석 · 방문과 계절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SCR-C-003 지역 분석 · 소비 비교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SCR-C-003 지역 분석 · 자료 없음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SCR-C-004 홍보 제안 · 월별 목록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SCR-C-004-P01 추천 근거 상세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SCR-B-001 3개월 홍보 일정표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SCR-B-001-P01 계획 작성·수정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SCR-B-001-P01 계획 작성 · 저장 실패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SCR-B-002 실행 결과 조회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SCR-B-002-P01 기록 입력·수정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SCR-B-002-P02 사용 결과 요약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SCR-A-001 자료·기준 관리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SCR-A-001-P01 CSV 검증 결과 · 통과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SCR-A-001-P01 CSV 검증 결과 · 등록 불가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SCR-A-001-P02 추천 기준·근거 편집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제공된 화면설계서 양식 및 Figma Make Version 8, 2026-10-02 확인. https://www.figma.com/make/AlZOwKZXABo7G6BkUhTG03/Start-Task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제공된 화면설계서 양식 및 Figma Make Version 8, 2026-10-02 확인. https://www.figma.com/make/AlZOwKZXABo7G6BkUhTG03/Start-Task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SCR-C-002 한눈에 보기 · 사례와 자료 현황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기준: Figma Make Version 8, 2026-10-02 확인. https://www.figma.com/make/AlZOwKZXABo7G6BkUhTG03/Start-Task</a:t>
            </a:r>
            <a:endParaRPr lang="en-US" dirty="0"/>
          </a:p>
          <a:p>
            <a:r>
              <a:rPr lang="en-US" dirty="0"/>
              <a:t>화면 Description은 목표 서비스 동작. 시안의 임시 계정·브라우저 저장·예시 데이터 한계는 구현 범위 페이지 참조.</a:t>
            </a:r>
            <a:endParaRPr lang="en-US" dirty="0"/>
          </a:p>
          <a:p>
            <a:r>
              <a:rPr lang="en-US" dirty="0"/>
              <a:t>화면: SCR-C-004 홍보 제안 · 카드 상세</a:t>
            </a:r>
            <a:endParaRPr lang="en-US" dirty="0"/>
          </a:p>
          <a:p>
            <a:r>
              <a:rPr lang="en-US" dirty="0"/>
              <a:t>UC 기준: Use_Case_다이어그램_수정_가이드.md의 수정안. 원본 MDJ·PROJECT 최종 대조는 미완료.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2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3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4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5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6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7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8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9.xml" /></Relationships>
</file>

<file path=ppt/slides/_rels/slide10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0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10-login.png" /></Relationships>
</file>

<file path=ppt/slides/_rels/slide11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1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11-login-error.png" /></Relationships>
</file>

<file path=ppt/slides/_rels/slide12.xml.rels><?xml version='1.0' encoding='utf-8'?>
<Relationships xmlns="http://schemas.openxmlformats.org/package/2006/relationships"><Relationship Id="rId3" Type="http://schemas.openxmlformats.org/officeDocument/2006/relationships/slideLayout" Target="../slideLayouts/slideLayout1.xml" /><Relationship Id="rId4" Type="http://schemas.openxmlformats.org/officeDocument/2006/relationships/notesSlide" Target="../notesSlides/notesSlide12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12-common-layout.png" /><Relationship Id="rIdCapture1" Type="http://schemas.openxmlformats.org/officeDocument/2006/relationships/image" Target="../media/oct02-12-logout-confirm.png" /></Relationships>
</file>

<file path=ppt/slides/_rels/slide13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3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13-overview.png" /><Relationship Id="rIdCapture1" Type="http://schemas.openxmlformats.org/officeDocument/2006/relationships/image" Target="../media/oct02-13-bulk-saved.png" /></Relationships>
</file>

<file path=ppt/slides/_rels/slide14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4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15-analysis-visits.png" /></Relationships>
</file>

<file path=ppt/slides/_rels/slide15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5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16-analysis-consumption.png" /></Relationships>
</file>

<file path=ppt/slides/_rels/slide16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6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17-analysis-empty.png" /></Relationships>
</file>

<file path=ppt/slides/_rels/slide17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7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18-recommendations.png" /></Relationships>
</file>

<file path=ppt/slides/_rels/slide18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8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20-evidence.png" /></Relationships>
</file>

<file path=ppt/slides/_rels/slide20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20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21-calendar.png" /></Relationships>
</file>

<file path=ppt/slides/_rels/slide21.xml.rels><?xml version='1.0' encoding='utf-8'?>
<Relationships xmlns="http://schemas.openxmlformats.org/package/2006/relationships"><Relationship Id="rId4" Type="http://schemas.openxmlformats.org/officeDocument/2006/relationships/slideLayout" Target="../slideLayouts/slideLayout1.xml" /><Relationship Id="rId5" Type="http://schemas.openxmlformats.org/officeDocument/2006/relationships/notesSlide" Target="../notesSlides/notesSlide21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22-plan-edit.png" /><Relationship Id="rIdCapture1" Type="http://schemas.openxmlformats.org/officeDocument/2006/relationships/image" Target="../media/oct02-22-plan-delete-confirm.png" /><Relationship Id="rIdCapture2" Type="http://schemas.openxmlformats.org/officeDocument/2006/relationships/image" Target="../media/oct02-22-plan-saved.png" /></Relationships>
</file>

<file path=ppt/slides/_rels/slide22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22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23-plan-save-error.png" /></Relationships>
</file>

<file path=ppt/slides/_rels/slide23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23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24-records.png" /></Relationships>
</file>

<file path=ppt/slides/_rels/slide24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24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25-record-prefill.png" /></Relationships>
</file>

<file path=ppt/slides/_rels/slide25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25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26-summary.png" /></Relationships>
</file>

<file path=ppt/slides/_rels/slide26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26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27-data-admin.png" /></Relationships>
</file>

<file path=ppt/slides/_rels/slide27.xml.rels><?xml version='1.0' encoding='utf-8'?>
<Relationships xmlns="http://schemas.openxmlformats.org/package/2006/relationships"><Relationship Id="rId3" Type="http://schemas.openxmlformats.org/officeDocument/2006/relationships/slideLayout" Target="../slideLayouts/slideLayout1.xml" /><Relationship Id="rId4" Type="http://schemas.openxmlformats.org/officeDocument/2006/relationships/notesSlide" Target="../notesSlides/notesSlide27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28-csv-validation.png" /><Relationship Id="rIdCapture1" Type="http://schemas.openxmlformats.org/officeDocument/2006/relationships/image" Target="../media/oct02-28-csv-registered.png" /></Relationships>
</file>

<file path=ppt/slides/_rels/slide28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28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29-csv-error.png" /></Relationships>
</file>

<file path=ppt/slides/_rels/slide29.xml.rels><?xml version='1.0' encoding='utf-8'?>
<Relationships xmlns="http://schemas.openxmlformats.org/package/2006/relationships"><Relationship Id="rId3" Type="http://schemas.openxmlformats.org/officeDocument/2006/relationships/slideLayout" Target="../slideLayouts/slideLayout1.xml" /><Relationship Id="rId4" Type="http://schemas.openxmlformats.org/officeDocument/2006/relationships/notesSlide" Target="../notesSlides/notesSlide29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30-criteria.png" /><Relationship Id="rIdCapture1" Type="http://schemas.openxmlformats.org/officeDocument/2006/relationships/image" Target="../media/oct02-30-criteria-saved.png" /></Relationships>
</file>

<file path=ppt/slides/_rels/slide30.xml.rels><?xml version='1.0' encoding='utf-8'?>
<Relationships xmlns="http://schemas.openxmlformats.org/package/2006/relationships"><Relationship Id="rId3" Type="http://schemas.openxmlformats.org/officeDocument/2006/relationships/slideLayout" Target="../slideLayouts/slideLayout1.xml" /><Relationship Id="rId4" Type="http://schemas.openxmlformats.org/officeDocument/2006/relationships/notesSlide" Target="../notesSlides/notesSlide30.xml" /><Relationship Id="rIdScopeMakeEditor" Type="http://schemas.openxmlformats.org/officeDocument/2006/relationships/hyperlink" Target="https://www.figma.com/make/AlZOwKZXABo7G6BkUhTG03/Start-Task" TargetMode="External" /><Relationship Id="rIdScopePublishedPreview" Type="http://schemas.openxmlformats.org/officeDocument/2006/relationships/hyperlink" Target="https://www.figma.com/make/AlZOwKZXABo7G6BkUhTG03/Start-Task?preview-route=%2F%23overview" TargetMode="Externa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31.xml" /></Relationships>
</file>

<file path=ppt/slides/_rels/slide32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32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14-overview-details.png" /></Relationships>
</file>

<file path=ppt/slides/_rels/slide33.xml.rels><?xml version='1.0' encoding='utf-8'?>
<Relationships xmlns="http://schemas.openxmlformats.org/package/2006/relationships"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33.xml" /><Relationship Id="rIdRevisedMake" Type="http://schemas.openxmlformats.org/officeDocument/2006/relationships/hyperlink" Target="https://www.figma.com/make/AlZOwKZXABo7G6BkUhTG03/Start-Task" TargetMode="External" /><Relationship Id="rIdCapture0" Type="http://schemas.openxmlformats.org/officeDocument/2006/relationships/image" Target="../media/oct02-19-recommendation-card.png" /></Relationships>
</file>

<file path=ppt/slides/slide1.xml><?xml version="1.0" encoding="utf-8"?>
<p:sld xmlns:a="http://schemas.openxmlformats.org/drawingml/2006/main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143000"/>
            <a:ext cx="109728" cy="3566160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14173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화면설계서 · 스토리보드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7552" y="219456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제주 비수기 상권 마케팅 캘린더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29718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PROJECT.md → Use Case Diagram → 화면설계서 → 구현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제주 지역별 방문·소비 데이터를 활용해 소상공인의 비수기 홍보 계획 수립을 돕는 서비스입니다.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5257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  |  제주 비수기 상권 마케팅 캘린더  |  2026-10-02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5577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이승보 · 김예원 · 김혜원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원칙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/ 작성 안내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60120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96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9418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단위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9418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 1장에 하나의 주요 화면을 작성합니다.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874520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8562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 Case 연결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18562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화면에 관련 Actor와 Use Case ID/명을 반드시 기재합니다.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2788920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770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 설명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27706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입력·버튼·조회결과·팝업 등에 ①②③ 번호를 붙이고 우측에 동작을 설명합니다.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3703320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685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설계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3685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정상뿐 아니라 조회결과 없음, 입력오류, 처리불가, 완료 등 필요한 상태를 설계합니다.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800" y="4617720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45994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이동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880360" y="45994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[행위] → [처리] → [이동 화면] 형식으로 다음 동작을 명확히 적습니다.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5623560"/>
            <a:ext cx="1078992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" y="5623560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화면의 예쁜 디자인보다 “무엇을 입력하고 → 시스템이 무엇을 처리하고 → 어떤 결과/화면으로 이어지는가”를 우선합니다.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화면구성도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/ 전체 메뉴 구조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Actor는 사업체 운영자와 서비스 운영자입니다. 로그인 후 한눈에 보기에서 제안·일정·결과·분석으로 이동합니다.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280160"/>
            <a:ext cx="3429000" cy="457200"/>
          </a:xfrm>
          <a:prstGeom prst="rect">
            <a:avLst/>
          </a:prstGeom>
          <a:solidFill>
            <a:srgbClr val="263E5C"/>
          </a:solidFill>
          <a:ln w="9525">
            <a:solidFill>
              <a:srgbClr val="263E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280160"/>
            <a:ext cx="34290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진입·메인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11580" y="1965960"/>
            <a:ext cx="2194560" cy="502920"/>
          </a:xfrm>
          <a:prstGeom prst="rect">
            <a:avLst/>
          </a:prstGeom>
          <a:solidFill>
            <a:srgbClr val="EFF3F7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1158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/ 메인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SCR-C-001 → SCR-C-002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308860" y="1737360"/>
            <a:ext cx="914" cy="22860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468880"/>
            <a:ext cx="914" cy="8686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468880"/>
            <a:ext cx="2971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8803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97280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사례·결과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SCR-C-002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14400" y="33375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7280" y="31546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728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반영 현황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SCR-C-002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54864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 안에서 사례·자료 현황 확인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사례는 홍보 제안에서도 확인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343400" y="1280160"/>
            <a:ext cx="3429000" cy="457200"/>
          </a:xfrm>
          <a:prstGeom prst="rect">
            <a:avLst/>
          </a:prstGeom>
          <a:solidFill>
            <a:srgbClr val="263E5C"/>
          </a:solidFill>
          <a:ln w="9525">
            <a:solidFill>
              <a:srgbClr val="263E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43400" y="1280160"/>
            <a:ext cx="34290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사업체 운영자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960620" y="1965960"/>
            <a:ext cx="2194560" cy="502920"/>
          </a:xfrm>
          <a:prstGeom prst="rect">
            <a:avLst/>
          </a:prstGeom>
          <a:solidFill>
            <a:srgbClr val="EFF3F7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6062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/ 메인</a:t>
            </a:r>
            <a:endParaRPr lang="en-US" sz="10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SCR-C-001 → SCR-C-002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057900" y="1737360"/>
            <a:ext cx="914" cy="22860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63440" y="2468880"/>
            <a:ext cx="914" cy="17830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2468880"/>
            <a:ext cx="2971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3440" y="28803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6320" y="26974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46320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 제안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62940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SCR-C-004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4663440" y="33375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46320" y="31546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4632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 조회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629400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663440" y="37947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46320" y="36118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46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홍보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일정표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6629400" y="36118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SCR-B-001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663440" y="42519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46320" y="40690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846320" y="40690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분석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629400" y="4069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SCR-C-003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4343400" y="54864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사업체의 계획·기록 관리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레이아웃·로그아웃: SCR-C-000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8092440" y="1280160"/>
            <a:ext cx="3429000" cy="457200"/>
          </a:xfrm>
          <a:prstGeom prst="rect">
            <a:avLst/>
          </a:prstGeom>
          <a:solidFill>
            <a:srgbClr val="263E5C"/>
          </a:solidFill>
          <a:ln w="9525">
            <a:solidFill>
              <a:srgbClr val="263E5C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092440" y="1280160"/>
            <a:ext cx="34290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운영자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709660" y="1965960"/>
            <a:ext cx="2194560" cy="502920"/>
          </a:xfrm>
          <a:prstGeom prst="rect">
            <a:avLst/>
          </a:prstGeom>
          <a:solidFill>
            <a:srgbClr val="EFF3F7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0966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/ 메인</a:t>
            </a:r>
            <a:endParaRPr lang="en-US" sz="10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SCR-C-001 → SCR-C-002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9806940" y="1737360"/>
            <a:ext cx="914" cy="22860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412480" y="2468880"/>
            <a:ext cx="914" cy="22402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2480" y="2468880"/>
            <a:ext cx="2971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12480" y="28803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595360" y="26974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595360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 제안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1037844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SCR-C-004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8412480" y="33375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595360" y="31546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859536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 조회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10378440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8412480" y="37947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595360" y="36118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59536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홍보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일정표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10378440" y="36118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SCR-B-001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8412480" y="42519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595360" y="40690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595360" y="40690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분석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10378440" y="4069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SCR-C-003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8412480" y="47091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595360" y="45262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595360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자료·기준 관리   </a:t>
            </a:r>
            <a:endParaRPr lang="en-US" sz="1000" dirty="0"/>
          </a:p>
        </p:txBody>
      </p:sp>
      <p:sp>
        <p:nvSpPr>
          <p:cNvPr id="84" name="Text 82"/>
          <p:cNvSpPr txBox="1"/>
          <p:nvPr/>
        </p:nvSpPr>
        <p:spPr>
          <a:xfrm>
            <a:off x="10378440" y="4526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SCR-A-001</a:t>
            </a:r>
            <a:endParaRPr lang="en-US" sz="750" dirty="0"/>
          </a:p>
        </p:txBody>
      </p:sp>
      <p:sp>
        <p:nvSpPr>
          <p:cNvPr id="85" name="Text 83"/>
          <p:cNvSpPr txBox="1"/>
          <p:nvPr/>
        </p:nvSpPr>
        <p:spPr>
          <a:xfrm>
            <a:off x="8092440" y="54864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등록·검증과 추천 기준 관리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권한을 받은 사업체의 계획·기록만 처리</a:t>
            </a:r>
            <a:endParaRPr lang="en-US" sz="950" dirty="0"/>
          </a:p>
        </p:txBody>
      </p:sp>
      <p:sp>
        <p:nvSpPr>
          <p:cNvPr id="86" name="Text 8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화면구성도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/ 상세 구조 · 사업체 운영자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 제안 → 실행 결과 조회 → 3개월 홍보 일정표 → 지역 분석 순서로 메뉴를 배치하며 각 메뉴에 바로 진입할 수 있습니다.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814316" y="1234440"/>
            <a:ext cx="2560320" cy="457200"/>
          </a:xfrm>
          <a:prstGeom prst="rect">
            <a:avLst/>
          </a:prstGeom>
          <a:solidFill>
            <a:srgbClr val="263E5C"/>
          </a:solidFill>
          <a:ln w="9525">
            <a:solidFill>
              <a:srgbClr val="263E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14316" y="1234440"/>
            <a:ext cx="25603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3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D7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SCR-C-001 · 입력 오류 상태 포함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94476" y="169164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14316" y="1874520"/>
            <a:ext cx="2560320" cy="457200"/>
          </a:xfrm>
          <a:prstGeom prst="rect">
            <a:avLst/>
          </a:prstGeom>
          <a:solidFill>
            <a:srgbClr val="EFF3F7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4316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메인(한눈에 보기)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SCR-C-002 · 사례·데이터 현황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923276" y="1874520"/>
            <a:ext cx="2651760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23276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레이아웃 · 로그아웃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SCR-C-000 · 모든 화면 공통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374636" y="2103120"/>
            <a:ext cx="5486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4476" y="2331720"/>
            <a:ext cx="914" cy="22860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59052" y="2560320"/>
            <a:ext cx="9070848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29900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87484" y="2743200"/>
            <a:ext cx="2084832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87484" y="2743200"/>
            <a:ext cx="20848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분석</a:t>
            </a:r>
            <a:endParaRPr lang="en-US" sz="10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97212" y="3273552"/>
            <a:ext cx="914" cy="149047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7212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88652" y="343814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88652" y="343814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방문·계절 비교 탭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697212" y="421538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88652" y="398678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88652" y="398678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비교 탭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697212" y="476402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788652" y="453542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788652" y="453542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없음 상태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559022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6606" y="2743200"/>
            <a:ext cx="2084832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6606" y="2743200"/>
            <a:ext cx="20848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 제안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SCR-C-004 · 월별 제안·사례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6334" y="3273552"/>
            <a:ext cx="914" cy="39319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6334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774" y="343814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774" y="343814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근거 상세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SCR-C-004-P01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606284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63868" y="2743200"/>
            <a:ext cx="2084832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63868" y="2743200"/>
            <a:ext cx="20848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홍보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SCR-B-001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3596" y="3273552"/>
            <a:ext cx="914" cy="94183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673596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765036" y="343814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765036" y="343814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작성·수정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SCR-B-001-P01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673596" y="421538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765036" y="398678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765036" y="398678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일괄 담기·저장 실패 상태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582698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540282" y="2743200"/>
            <a:ext cx="2084832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540282" y="2743200"/>
            <a:ext cx="20848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 조회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650010" y="3273552"/>
            <a:ext cx="914" cy="94183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650010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41450" y="343814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741450" y="343814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자동 채움·수정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SCR-B-002-P01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3650010" y="421538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741450" y="398678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741450" y="398678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결과 요약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SCR-B-002-P02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16636" y="5532120"/>
            <a:ext cx="1115568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85800" y="5532120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개별·월별 추가 → SCR-B-001-P01  |  일괄 담기 → 기존 화면 갱신  |  일정·결과 목록 → SCR-B-002-P01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화면구성도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/ 상세 구조 · 서비스 운영자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운영자는 자료·기준을 관리하며, 권한을 받은 사업체의 일정·기록에만 접근합니다.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814316" y="1234440"/>
            <a:ext cx="2560320" cy="457200"/>
          </a:xfrm>
          <a:prstGeom prst="rect">
            <a:avLst/>
          </a:prstGeom>
          <a:solidFill>
            <a:srgbClr val="263E5C"/>
          </a:solidFill>
          <a:ln w="9525">
            <a:solidFill>
              <a:srgbClr val="263E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14316" y="1234440"/>
            <a:ext cx="25603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3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D7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SCR-C-001 · 입력 오류 상태 포함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94476" y="169164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14316" y="1874520"/>
            <a:ext cx="2560320" cy="457200"/>
          </a:xfrm>
          <a:prstGeom prst="rect">
            <a:avLst/>
          </a:prstGeom>
          <a:solidFill>
            <a:srgbClr val="EFF3F7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4316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메인(한눈에 보기)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SCR-C-002 · 사례·데이터 현황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923276" y="1874520"/>
            <a:ext cx="2651760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23276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레이아웃 · 로그아웃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SCR-C-000 · 모든 화면 공통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374636" y="2103120"/>
            <a:ext cx="5486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4476" y="2331720"/>
            <a:ext cx="914" cy="22860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0076" y="2560320"/>
            <a:ext cx="944880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55762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02322" y="2743200"/>
            <a:ext cx="17068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02322" y="2743200"/>
            <a:ext cx="17068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분석</a:t>
            </a:r>
            <a:endParaRPr lang="en-US" sz="10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050" y="3273552"/>
            <a:ext cx="914" cy="149047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12050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03490" y="343814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03490" y="343814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방문·계절 비교 탭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712050" y="421538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03490" y="398678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03490" y="398678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비교 탭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712050" y="476402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03490" y="453542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03490" y="453542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없음 상태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370381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6941" y="2743200"/>
            <a:ext cx="17068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6941" y="2743200"/>
            <a:ext cx="17068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 제안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SCR-C-004 · 월별 제안·사례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6669" y="3273552"/>
            <a:ext cx="914" cy="39319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6669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8109" y="343814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109" y="343814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근거 상세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SCR-C-004-P01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094476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41036" y="2743200"/>
            <a:ext cx="17068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241036" y="2743200"/>
            <a:ext cx="17068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홍보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SCR-B-001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350764" y="3273552"/>
            <a:ext cx="914" cy="94183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50764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42204" y="343814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42204" y="343814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작성·수정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SCR-B-001-P01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350764" y="421538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42204" y="398678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442204" y="398678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일괄 담기·저장 실패 상태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732886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879446" y="2743200"/>
            <a:ext cx="17068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879446" y="2743200"/>
            <a:ext cx="17068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 조회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989174" y="3273552"/>
            <a:ext cx="914" cy="94183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989174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080614" y="343814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080614" y="343814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자동 채움·수정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SCR-B-002-P01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989174" y="421538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080614" y="398678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080614" y="398678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결과 요약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SCR-B-002-P02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0818876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965436" y="2743200"/>
            <a:ext cx="17068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965436" y="2743200"/>
            <a:ext cx="17068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자료·기준 관리</a:t>
            </a:r>
            <a:endParaRPr lang="en-US" sz="10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SCR-A-001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10075164" y="3273552"/>
            <a:ext cx="914" cy="149047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075164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166604" y="343814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0166604" y="343814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검증 결과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SCR-A-001-P01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10075164" y="421538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66604" y="398678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0166604" y="398678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불가 상태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0075164" y="476402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66604" y="453542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166604" y="453542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기준·근거 편집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SCR-A-001-P02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16636" y="5532120"/>
            <a:ext cx="1115568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5532120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운영자: 자료 등록·검증·기준 관리  |  권한을 받은 사업체의 계획·기록 처리  |  저장 후 호출 화면 갱신</a:t>
            </a:r>
            <a:endParaRPr lang="en-US" sz="1050" dirty="0"/>
          </a:p>
        </p:txBody>
      </p:sp>
      <p:sp>
        <p:nvSpPr>
          <p:cNvPr id="74" name="Text 72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microsoft.com/office/powerpoint/2010/main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화면 목록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/ Screen List (1/4)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ID: C 공통 · B 사업체 계획·기록 업무군 · A 자료·기준 관리 · Pnn 팝업/패널. 서비스 운영자의 B 화면 접근은 권한을 받은 사업체로 제한합니다.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94360" y="1234440"/>
          <a:ext cx="110185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143000"/>
                <a:gridCol w="1005840"/>
                <a:gridCol w="1645920"/>
                <a:gridCol w="2834640"/>
                <a:gridCol w="1920240"/>
                <a:gridCol w="1325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Use Case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SCR-C-000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레이아웃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후 모든 화면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메뉴·로그아웃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(보조 화면)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인증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SCR-C-002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보기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UC01·UC02·UC03·UC10·UC11·UC12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메인(한눈에 보기)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분석·제안·일정·사례·현황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SCR-C-003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분석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UC01 지역별 방문·소비 분석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지역 분석 &gt; 방문·계절 비교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방문·계절 탭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SCR-C-003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분석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UC01 지역별 방문·소비 분석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지역 분석 &gt; 소비 비교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소비 비교 탭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SCR-C-003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분석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UC10 자료 출처·기준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지역 분석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결과와 상시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000" name="Shape 4"/>
          <p:cNvSpPr/>
          <p:nvPr/>
        </p:nvSpPr>
        <p:spPr>
          <a:xfrm>
            <a:off x="594360" y="5532120"/>
            <a:ext cx="1101852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UC01부터 UC05까지, UC07부터 UC12까지 연결합니다. 사례·데이터 현황은 기존 화면 안의 기능입니다.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microsoft.com/office/powerpoint/2010/main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화면 목록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/ Screen List (2/4)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ID: C 공통 · B 사업체 계획·기록 업무군 · A 자료·기준 관리 · Pnn 팝업/패널. 서비스 운영자의 B 화면 접근은 권한을 받은 사업체로 제한합니다.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94360" y="1234440"/>
          <a:ext cx="110185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143000"/>
                <a:gridCol w="1005840"/>
                <a:gridCol w="1645920"/>
                <a:gridCol w="2834640"/>
                <a:gridCol w="1920240"/>
                <a:gridCol w="1325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Use Case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SCR-C-004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제안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UC02·UC03·UC10·UC11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홍보 제안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월별 제안·일괄 담기·사례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SCR-C-004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제안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UC03 3개월 홍보 일정표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홍보 제안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담기·월별 직접 작성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SCR-C-004-P01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근거 상세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UC02·UC03·UC10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홍보 제안 &gt; 추천 근거 상세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부모 화면 내 기능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SCR-C-002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보기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UC11 활용 사례·결과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메인(한눈에 보기)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 영역·홍보 제안에도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SCR-C-002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보기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UC12 데이터 반영 현황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메인(한눈에 보기)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자료별 상태·등록 건수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5532120"/>
            <a:ext cx="1101852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00" name="Text 5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UC01부터 UC05까지, UC07부터 UC12까지 연결합니다. 사례·데이터 현황은 기존 화면 안의 기능입니다.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microsoft.com/office/powerpoint/2010/main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화면 목록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/ Screen List (3/4)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ID: C 공통 · B 사업체 계획·기록 업무군 · A 자료·기준 관리 · Pnn 팝업/패널. 서비스 운영자의 B 화면 접근은 권한을 받은 사업체로 제한합니다.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94360" y="1234440"/>
          <a:ext cx="110185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143000"/>
                <a:gridCol w="1005840"/>
                <a:gridCol w="1645920"/>
                <a:gridCol w="2834640"/>
                <a:gridCol w="1920240"/>
                <a:gridCol w="1325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Use Case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홍보 일정표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UC03·UC04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3개월 홍보 일정표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월별 계획·일괄 담기·기록 연결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SCR-B-001-P01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작성·수정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UC03 3개월 홍보 일정표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3개월 홍보 일정표 &gt; 계획 작성·수정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작성·수정·삭제·저장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SCR-B-002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결과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UC04 사용·실행 기록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실행 결과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계획별 기록 목록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SCR-B-002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결과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UC05 계획 이행·실행 결과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실행 결과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결과 요약 진입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SCR-B-002-P01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입력·수정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UC04 사용·실행 기록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실행 결과 조회 &gt; 기록 입력·수정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내용 자동 채움·확인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5532120"/>
            <a:ext cx="1101852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UC01부터 UC05까지, UC07부터 UC12까지 연결합니다. 사례·데이터 현황은 기존 화면 안의 기능입니다.</a:t>
            </a:r>
            <a:endParaRPr lang="en-US" sz="1100" dirty="0"/>
          </a:p>
        </p:txBody>
      </p:sp>
      <p:sp>
        <p:nvSpPr>
          <p:cNvPr id="3000" name="Text 6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microsoft.com/office/powerpoint/2010/main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화면 목록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/ Screen List (4/4)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ID: C 공통 · B 사업체 계획·기록 업무군 · A 자료·기준 관리 · Pnn 팝업/패널. 서비스 운영자의 B 화면 접근은 권한을 받은 사업체로 제한합니다.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94360" y="1234440"/>
          <a:ext cx="110185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143000"/>
                <a:gridCol w="1005840"/>
                <a:gridCol w="1645920"/>
                <a:gridCol w="2834640"/>
                <a:gridCol w="1920240"/>
                <a:gridCol w="1325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Use Case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SCR-B-002-P02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결과 요약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UC05 계획 이행·실행 결과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실행 결과 조회 &gt; 사용 결과 요약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계획·실행 비교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자료·기준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UC07 CSV 자료 등록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선택·정보 입력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자료·기준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UC08 자료 기준·누락값 검증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5개 항목 검증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자료·기준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UC09 추천 기준·근거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저장 후 제안 반영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SCR-A-001-P01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검증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UC07 CSV 자료 등록 · UC08 자료 기준·누락값 검증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 &gt; CSV 검증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 후 등록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SCR-A-001-P02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기준·근거 편집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UC09 추천 기준·근거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 &gt; 추천 기준·근거 편집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후 제안 재계산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5532120"/>
            <a:ext cx="1101852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UC01부터 UC05까지, UC07부터 UC12까지 연결합니다. 사례·데이터 현황은 기존 화면 안의 기능입니다.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01 · 로그인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UC 없음 (공통 접근 보조 화면)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 선택 → 계정의 접근 역할 지정 → 이메일·비밀번호 입력 대기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 입력 → 필수값·형식 검사 → 오류 시 입력란 아래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비밀번호 입력 → 필수값 검사 → 로그인 요청 준비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보기 아이콘 클릭 → 입력값은 유지하고 표시 전환 → 비밀번호 보기·숨김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클릭 → 서버에서 계정·역할 인증 → 성공 시 SCR-C-002 이동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7050024" y="5020056"/>
            <a:ext cx="4617720" cy="640080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104888" y="5047488"/>
            <a:ext cx="4507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입력 오류·인증 실패 시 입력 화면을 유지하고 원인을 안내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인증 완료 후 허용된 메뉴만 표시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■ 오류   □ 처리불가   ■ 완료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→ 계정·역할 인증 → SCR-C-002 한눈에 보기</a:t>
            </a:r>
            <a:endParaRPr lang="en-US" sz="900" dirty="0"/>
          </a:p>
        </p:txBody>
      </p:sp>
      <p:sp>
        <p:nvSpPr>
          <p:cNvPr id="35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login" descr="Figma Make v8 screenshot | https://b8207c10-9a31-4235-8de0-46ecdc053e0d-figmacachedpreview.figma.site/#login" title="login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969630" y="1389888"/>
            <a:ext cx="5430804" cy="4242816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969630" y="1389888"/>
            <a:ext cx="5430804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4093382" y="272721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4093382" y="27272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4093382" y="318457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4093382" y="318457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4093382" y="358678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4093382" y="358678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5612311" y="359951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5612311" y="359951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4093382" y="389651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4093382" y="389651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02 · 로그인 · 입력 오류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입력 오류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UC 없음 (공통 접근 보조 화면)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빈 이메일로 로그인 클릭 → 필수값 검사 실패 → 오류 문구 표시·이메일로 초점 이동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 수정 후 로그인 클릭 → 입력값 재검사·계정 인증 → 성공 시 SCR-C-002 이동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2"/>
          <p:cNvSpPr/>
          <p:nvPr/>
        </p:nvSpPr>
        <p:spPr>
          <a:xfrm>
            <a:off x="7050024" y="5020056"/>
            <a:ext cx="4617720" cy="640080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104888" y="5047488"/>
            <a:ext cx="4507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입력 오류 시 다른 입력값은 유지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인증 실패 시 계정 정보 확인을 안내하고 로그인을 완료하지 않음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□ 정상   □ 결과없음   ■ 오류   □ 처리불가   □ 완료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2000" name="Text 1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수정 후 로그인 → 재검사·인증 → SCR-C-002 한눈에 보기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login-error" descr="Figma Make v8 screenshot | https://b8207c10-9a31-4235-8de0-46ecdc053e0d-figmacachedpreview.figma.site/#login" title="login-error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2440797" y="1389888"/>
            <a:ext cx="2488471" cy="4242816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2440797" y="1389888"/>
            <a:ext cx="2488471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2461618" y="381475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2461618" y="38147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2461618" y="295217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2461618" y="295217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03 · 공통 레이아웃 (사이드바·상단바)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레이아웃 (사이드바·상단바)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UC 없음 (로그인 후 공통 영역)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후 모든 화면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46320" y="2777885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 클릭 시 팝업 (실제 캡처)</a:t>
            </a:r>
            <a:endParaRPr lang="en-US" sz="750" dirty="0"/>
          </a:p>
        </p:txBody>
      </p:sp>
      <p:sp>
        <p:nvSpPr>
          <p:cNvPr id="40" name="Shape 35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접기 클릭 → 메뉴를 아이콘형으로 전환 → 본문 영역 확대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경계 드래그·방향키 입력 → 메뉴 폭 조절 → 설정 저장·화면 재배치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초기화 클릭 → 사용자 메뉴 폭 설정 해제 → 기본 폭 복원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보기 클릭 → 선택 지역 유지 → SCR-C-002 이동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제안 클릭 → 선택 지역 유지 → SCR-C-004 이동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결과 조회 클릭 → 권한 내 계획·기록 조회 → SCR-B-002 이동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홍보 일정표 클릭 → 권한 내 계획 조회 → SCR-B-001 이동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분석 클릭 → 선택 지역 유지 → SCR-C-003 이동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⑨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영역 클릭 → 로그아웃 의사 확인 → 로그아웃 확인 팝업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로그아웃 클릭 → 종료 의사 확인 요청 → 로그아웃 확인 팝업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⑪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도움말 클릭 → 이용 방법 조회 → 도움말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⑫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취소·✕ 클릭 → 로그아웃 취소 → 현재 화면 유지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클릭 → 로그인 세션 해제 → SCR-C-001 로그인 이동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4" name="Shape 38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자료·기준 관리(SCR-A-001)는 서비스 운영자에게만 표시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계획·기록은 본인 또는 관리 권한을 받은 사업체만 접근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모바일에서는 서랍 메뉴로 이동</a:t>
            </a:r>
            <a:endParaRPr lang="en-US" sz="800" dirty="0"/>
          </a:p>
        </p:txBody>
      </p:sp>
      <p:sp>
        <p:nvSpPr>
          <p:cNvPr id="46" name="Shape 40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48" name="Text 42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□ 오류   □ 처리불가   ■ 완료</a:t>
            </a:r>
            <a:endParaRPr lang="en-US" sz="900" dirty="0"/>
          </a:p>
        </p:txBody>
      </p:sp>
      <p:sp>
        <p:nvSpPr>
          <p:cNvPr id="49" name="Text 43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50" name="Text 44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 확인 → 세션 해제 → SCR-C-001 로그인</a:t>
            </a:r>
            <a:endParaRPr lang="en-US" sz="900" dirty="0"/>
          </a:p>
        </p:txBody>
      </p:sp>
      <p:sp>
        <p:nvSpPr>
          <p:cNvPr id="52" name="Text 4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common-layout" descr="Figma Make v8 screenshot | https://b8207c10-9a31-4235-8de0-46ecdc053e0d-figmacachedpreview.figma.site/#overview" title="common-layout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603504" y="1893237"/>
            <a:ext cx="4142232" cy="3236119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603504" y="1893237"/>
            <a:ext cx="4142232" cy="3236119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1405233" y="190049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1405233" y="190049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1314621" y="341985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1314621" y="3419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1083795" y="256961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1083795" y="25696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603504" y="280777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603504" y="280777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813504" y="297605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813504" y="297605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603504" y="314433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603504" y="314433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813504" y="331260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813504" y="331260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16" name="Callout 8 circle"/>
          <p:cNvSpPr/>
          <p:nvPr/>
        </p:nvSpPr>
        <p:spPr>
          <a:xfrm>
            <a:off x="603504" y="348088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603504" y="348088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018" name="Callout 9 circle"/>
          <p:cNvSpPr/>
          <p:nvPr/>
        </p:nvSpPr>
        <p:spPr>
          <a:xfrm>
            <a:off x="603504" y="467294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9" name="Callout 9 number"/>
          <p:cNvSpPr txBox="1"/>
          <p:nvPr/>
        </p:nvSpPr>
        <p:spPr>
          <a:xfrm>
            <a:off x="603504" y="467294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020" name="Callout 10 circle"/>
          <p:cNvSpPr/>
          <p:nvPr/>
        </p:nvSpPr>
        <p:spPr>
          <a:xfrm>
            <a:off x="603504" y="487610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1" name="Callout 10 number"/>
          <p:cNvSpPr txBox="1"/>
          <p:nvPr/>
        </p:nvSpPr>
        <p:spPr>
          <a:xfrm>
            <a:off x="603504" y="487610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022" name="Callout 11 circle"/>
          <p:cNvSpPr/>
          <p:nvPr/>
        </p:nvSpPr>
        <p:spPr>
          <a:xfrm>
            <a:off x="4217420" y="189402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3" name="Callout 11 number"/>
          <p:cNvSpPr txBox="1"/>
          <p:nvPr/>
        </p:nvSpPr>
        <p:spPr>
          <a:xfrm>
            <a:off x="4217420" y="189402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pic>
        <p:nvPicPr>
          <p:cNvPr id="501" name="Make v8 logout-confirm" descr="Figma Make v8 screenshot | https://b8207c10-9a31-4235-8de0-46ecdc053e0d-figmacachedpreview.figma.site/#overview" title="logout-confirm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1"/>
          <a:stretch>
            <a:fillRect/>
          </a:stretch>
        </p:blipFill>
        <p:spPr>
          <a:xfrm>
            <a:off x="4846320" y="3070024"/>
            <a:ext cx="1901952" cy="736239"/>
          </a:xfrm>
          <a:prstGeom prst="rect">
            <a:avLst/>
          </a:prstGeom>
        </p:spPr>
      </p:pic>
      <p:sp>
        <p:nvSpPr>
          <p:cNvPr id="601" name="Shape 4"/>
          <p:cNvSpPr/>
          <p:nvPr/>
        </p:nvSpPr>
        <p:spPr>
          <a:xfrm>
            <a:off x="4846320" y="3070024"/>
            <a:ext cx="1901952" cy="736239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24" name="Callout 12 circle"/>
          <p:cNvSpPr/>
          <p:nvPr/>
        </p:nvSpPr>
        <p:spPr>
          <a:xfrm>
            <a:off x="6448231" y="312060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5" name="Callout 12 number"/>
          <p:cNvSpPr txBox="1"/>
          <p:nvPr/>
        </p:nvSpPr>
        <p:spPr>
          <a:xfrm>
            <a:off x="6448231" y="31206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1026" name="Callout 13 circle"/>
          <p:cNvSpPr/>
          <p:nvPr/>
        </p:nvSpPr>
        <p:spPr>
          <a:xfrm>
            <a:off x="6315267" y="354145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7" name="Callout 13 number"/>
          <p:cNvSpPr txBox="1"/>
          <p:nvPr/>
        </p:nvSpPr>
        <p:spPr>
          <a:xfrm>
            <a:off x="6315267" y="354145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04 · 한눈에 보기 · 제안과 일정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보기 · 제안과 일정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UC01·UC02·UC03·UC10·UC11·UC12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메인(한눈에 보기)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선택 → 해당 지역 분석·제안 조회 → 같은 조건을 다른 화면에도 적용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연도 확인 → 분석 기간과 계획 기간을 구분 → 자료 기준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방문·소비 선택 → 해당 지표 조회 → 단위에 맞게 그래프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월별 수치 표 클릭 → 그래프 값 조회 → 월별 표 펼침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기준 클릭 → 출처·기간·단위 조회 → 자료 기준 안내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 한 번에 담기 클릭 → 미추가 제안만 저장 → 일정 수 갱신·완료 알림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보기 클릭 → 저장 계획 조회 → SCR-B-001 이동·빈 달은 추가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일괄 담기 완료 → 추가 개수 표시 → 같은 화면 유지·일정표에서 확인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00" name="Shape 22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제안이 없으면 제안 없음 안내 / 이미 담은 제안은 제외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실패 시 추가 전 상태 복구·“저장에 실패했습니다” 안내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사례·데이터 현황과 제안 상세 이동은 다음 페이지 참조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■ 결과없음   ■ 오류   □ 처리불가   ■ 완료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보기 → SCR-B-001 / 홍보 제안 → SCR-C-004</a:t>
            </a:r>
            <a:endParaRPr lang="en-US" sz="900" dirty="0"/>
          </a:p>
        </p:txBody>
      </p:sp>
      <p:sp>
        <p:nvSpPr>
          <p:cNvPr id="35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overview" descr="Figma Make v8 screenshot | https://b8207c10-9a31-4235-8de0-46ecdc053e0d-figmacachedpreview.figma.site/#overview" title="overview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1281143" y="1389888"/>
            <a:ext cx="4807779" cy="3685032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1281143" y="1389888"/>
            <a:ext cx="4807779" cy="3685032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1723124" y="215179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1723124" y="215179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2077185" y="210986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2077185" y="210986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5229233" y="250585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5229233" y="25058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1436614" y="393782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1436614" y="39378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5354581" y="420424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5354581" y="420424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5126887" y="158728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5126887" y="158728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5250561" y="468495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5250561" y="468495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pic>
        <p:nvPicPr>
          <p:cNvPr id="501" name="Make v8 bulk-saved" descr="Figma Make v8 screenshot | https://b8207c10-9a31-4235-8de0-46ecdc053e0d-figmacachedpreview.figma.site/#recommendations" title="bulk-saved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1"/>
          <a:stretch>
            <a:fillRect/>
          </a:stretch>
        </p:blipFill>
        <p:spPr>
          <a:xfrm>
            <a:off x="2633083" y="5212080"/>
            <a:ext cx="2085610" cy="365760"/>
          </a:xfrm>
          <a:prstGeom prst="rect">
            <a:avLst/>
          </a:prstGeom>
        </p:spPr>
      </p:pic>
      <p:sp>
        <p:nvSpPr>
          <p:cNvPr id="601" name="Shape 4"/>
          <p:cNvSpPr/>
          <p:nvPr/>
        </p:nvSpPr>
        <p:spPr>
          <a:xfrm>
            <a:off x="2633083" y="5212080"/>
            <a:ext cx="2085610" cy="365760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16" name="Callout 8 circle"/>
          <p:cNvSpPr/>
          <p:nvPr/>
        </p:nvSpPr>
        <p:spPr>
          <a:xfrm>
            <a:off x="2633083" y="521560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2633083" y="521560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06 · 지역 분석 · 방문과 계절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분석 · 방문과 계절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UC01 지역별 방문·소비 분석 조회 · UC10 자료 출처·기준 표시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지역 분석 &gt; 방문·계절 비교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2000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선택 → 같은 기간의 방문 자료 조회 → 그래프·지역 비교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 선택 → 자료 보유 여부 확인 → 결과 또는 자료 없음 안내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소비 비교 탭 클릭 → 지역·연도 유지 → 소비 비교 탭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지도에서 지역 클릭 → 분석 지역 변경 → 그래프·비교 표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월별 추이 확인 → 월별 방문 집계 → 최다·최저 방문 구간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방문·소비 선택 → 해당 지표 조회 → 단위에 맞춰 그래프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 표 보기 클릭 → 그래프 값을 표로 변환 → 월별 표 펼침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출처·기준 클릭 → 출처·기간·집계 기준 조회 → 안내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 표 확인 → 같은 기준으로 계절별 집계 → 지역별 최다·최저 월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Shape 26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지역 방문 집계는 개별 가게의 실제 손님 수가 아님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자료가 없는 조건은 자료 없음 상태로 표시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지도는 지역 선택을 위한 위치 개념도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■ 결과없음   □ 오류   □ 처리불가   □ 완료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7" name="Text 32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비교 탭 클릭 → 조건 유지 → SCR-C-003 소비 비교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analysis-visits" descr="Figma Make v8 screenshot | https://b8207c10-9a31-4235-8de0-46ecdc053e0d-figmacachedpreview.figma.site/#analysis" title="analysis-visits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1678347" y="1389888"/>
            <a:ext cx="4013369" cy="4242816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1678347" y="1389888"/>
            <a:ext cx="4013369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2032189" y="201078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2032189" y="201078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2664139" y="201078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2664139" y="201078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2064759" y="223245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2064759" y="223245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1796909" y="285851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1796909" y="285851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3328477" y="301018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3328477" y="301018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4951130" y="258556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4951130" y="25855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3328477" y="383499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3328477" y="383499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16" name="Callout 8 circle"/>
          <p:cNvSpPr/>
          <p:nvPr/>
        </p:nvSpPr>
        <p:spPr>
          <a:xfrm>
            <a:off x="5063544" y="407295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5063544" y="40729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018" name="Callout 9 circle"/>
          <p:cNvSpPr/>
          <p:nvPr/>
        </p:nvSpPr>
        <p:spPr>
          <a:xfrm>
            <a:off x="1695797" y="454563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9" name="Callout 9 number"/>
          <p:cNvSpPr txBox="1"/>
          <p:nvPr/>
        </p:nvSpPr>
        <p:spPr>
          <a:xfrm>
            <a:off x="1695797" y="454563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07 · 지역 분석 · 소비 비교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분석 · 소비 비교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UC01 지역별 방문·소비 분석 조회 · UC10 자료 출처·기준 표시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지역 분석 &gt; 소비 비교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지역·연도 선택 → 같은 조건의 소비 자료 조회 → 비교 표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소비 비교 탭 클릭 → 해당 조건의 자료 조회 → 방문·소비·고객 구분 표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방문·소비 표 확인 → 같은 월 지표를 단위별로 표시 → 없는 값은 미확보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내·외국인 비교 확인 → 제공자·집계 기준 검사 → 일치 시 비교·불일치 시 비교 제한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시간대별 표 확인 → 같은 기준의 소비 분포 집계 → 시간대별 비중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출처·기준 확인 → 출처·기간·단위 표시 → 비교 가능 범위 확인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0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방문·소비 비교는 UC01에 연결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미수집 값은 미확보 표시, 비교 불가 사유 안내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모집단이 달라 전환율·1인당 소비액을 계산하지 않음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■ 결과없음   □ 오류   ■ 처리불가   □ 완료</a:t>
            </a:r>
            <a:endParaRPr lang="en-US" sz="900" dirty="0"/>
          </a:p>
        </p:txBody>
      </p:sp>
      <p:sp>
        <p:nvSpPr>
          <p:cNvPr id="30" name="Text 25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2000" name="Text 26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 제안 클릭 → 조건 유지 → SCR-C-004 홍보 제안</a:t>
            </a:r>
            <a:endParaRPr lang="en-US" sz="900" dirty="0"/>
          </a:p>
        </p:txBody>
      </p:sp>
      <p:sp>
        <p:nvSpPr>
          <p:cNvPr id="33" name="Text 27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analysis-consumption" descr="Figma Make v8 screenshot | https://b8207c10-9a31-4235-8de0-46ecdc053e0d-figmacachedpreview.figma.site/#analysis" title="analysis-consumption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1530216" y="1389888"/>
            <a:ext cx="4309632" cy="4242816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1530216" y="1389888"/>
            <a:ext cx="4309632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1555704" y="202579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1555704" y="202579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1951510" y="230140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1951510" y="230140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1664280" y="297367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1664280" y="297367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1664280" y="379771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1664280" y="379771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3618648" y="379771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3618648" y="379771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1874280" y="362620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1874280" y="362620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08 · 지역 분석 · 자료 없음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분석 · 자료 없음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UC01 지역별 방문·소비 분석 조회 · UC10 자료 출처·기준 표시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지역 분석 &gt; 방문·계절 비교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자료가 없는 지역·연도 선택 → 자료 미보유 확인 → 그래프 대신 자료 없음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없음 안내 확인 → 조회 가능 연도 안내 → 조건 변경 후 SCR-C-003 재조회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00" name="Shape 12"/>
          <p:cNvSpPr/>
          <p:nvPr/>
        </p:nvSpPr>
        <p:spPr>
          <a:xfrm>
            <a:off x="7050024" y="5020056"/>
            <a:ext cx="4617720" cy="640080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104888" y="5047488"/>
            <a:ext cx="4507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자료 미확보를 실제 0명·0원으로 바꾸지 않음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없는 수치를 생성하지 않고 조건 변경을 안내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□ 정상   ■ 결과없음   □ 오류   □ 처리불가   □ 완료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변경 → 자료 재조회 → SCR-C-003 지역 분석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analysis-empty" descr="Figma Make v8 screenshot | https://b8207c10-9a31-4235-8de0-46ecdc053e0d-figmacachedpreview.figma.site/#analysis" title="analysis-empty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585216" y="1612959"/>
            <a:ext cx="6199632" cy="3796674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585216" y="1612959"/>
            <a:ext cx="6199632" cy="3796674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2157825" y="262190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2157825" y="262190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661983" y="335959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661983" y="335959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09 · 홍보 제안 · 월별 목록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제안 · 월별 목록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UC02·UC03·UC10·UC11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홍보 제안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선택 → 해당 지역 자료·추천 기준 적용 → 월별 제안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월별 목록 확인 → 10월·11월·12월로 묶음 → 해당 월 제안과 개수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남은 제안 한 번에 담기 클릭 → 미추가 제안 저장 → 완료 알림·중복 방지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제안이 없는 달 확인 → 기준에 맞는 제안 없음 표시 → 직접 작성 버튼 유지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N월 마케팅 제안 직접 추가 클릭 → 해당 월 날짜 준비 → SCR-B-001-P01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 카드 확인 → 시기·대상·상품·관광지 표시 → 다음 페이지에서 상세 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월별 직접 추가는 일정 계획 저장으로 연결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전부 담으면 완료 안내, 실패하면 기존 계획 유지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하단 사례는 SCR-C-002 사례 영역과 동일한 예시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■ 결과없음   ■ 오류   □ 처리불가   ■ 완료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직접 추가 → SCR-B-001-P01 / 추천 근거 → SCR-C-004-P01</a:t>
            </a:r>
            <a:endParaRPr lang="en-US" sz="900" dirty="0"/>
          </a:p>
        </p:txBody>
      </p:sp>
      <p:sp>
        <p:nvSpPr>
          <p:cNvPr id="2000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recommendations" descr="Figma Make v8 screenshot | https://b8207c10-9a31-4235-8de0-46ecdc053e0d-figmacachedpreview.figma.site/#recommendations" title="recommendations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1073038" y="1389888"/>
            <a:ext cx="5223988" cy="4242816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1073038" y="1389888"/>
            <a:ext cx="5223988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1405210" y="193193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1405210" y="193193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1115546" y="256849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1115546" y="256849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5394152" y="256849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5394152" y="256849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1169126" y="309623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1169126" y="309623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1169126" y="341499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1169126" y="341499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2823389" y="309623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2823389" y="309623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11 · 추천 근거 상세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SCR-C-004-P01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근거 상세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UC02·UC03·UC10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홍보 제안 &gt; 추천 근거 상세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클릭·Esc 입력 → 패널 닫기 → 호출한 추천 근거 버튼으로 초점 복귀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패널 열기 → 선택 제안 조회 → 제목·홍보 시기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흐름 확인 → 관측값·출처 조회 → 해당 지역·기간 자료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조건 확인 → 확인된 조건과 미확인 조건 구분 → 추가 확인 항목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행동 확인 → 제안을 실행 항목으로 정리 → 계획 월·준비 내용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출처·기준 클릭 → 출처·집계 기준 조회 → 안내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일정에 담기 클릭 → 권한·기존 계획 확인 → SCR-B-001-P01 작성 또는 수정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Shape 24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명시적 저장 전까지 일정은 변경되지 않음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이미 담은 제안은 기존 계획 수정으로 연결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권한이 없는 사업체에는 일정 작성 기능을 제공하지 않음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□ 오류   □ 처리불가   □ 완료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일정에 담기 → 권한·기존 계획 확인 → SCR-B-001-P01 계획 작성·수정</a:t>
            </a:r>
            <a:endParaRPr lang="en-US" sz="900" dirty="0"/>
          </a:p>
        </p:txBody>
      </p:sp>
      <p:sp>
        <p:nvSpPr>
          <p:cNvPr id="2000" name="Text 31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evidence" descr="Figma Make v8 screenshot | https://b8207c10-9a31-4235-8de0-46ecdc053e0d-figmacachedpreview.figma.site/#recommendations" title="evidence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2182368" y="1389888"/>
            <a:ext cx="3005328" cy="4242816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2182368" y="1389888"/>
            <a:ext cx="3005328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4701438" y="156712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4701438" y="156712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2196998" y="232839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2196998" y="232839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2196998" y="265130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2196998" y="265130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2196998" y="333597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2196998" y="333597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2196998" y="407570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2196998" y="407570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3688613" y="521292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3688613" y="521292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4219057" y="521292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4219057" y="521292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12 · 3개월 홍보 일정표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홍보 일정표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 · 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UC03 3개월 홍보 일정표 관리 · UC04 사용·실행 기록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3개월 홍보 일정표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계획 추가 클릭 → 기본 날짜의 작성 폼 준비 → SCR-B-001-P01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제안 보기 클릭 → 선택 지역 유지 → SCR-C-004 이동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월별 계획 카드 확인 → 저장 계획 조회 → 날짜·채널·준비 내용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수정 클릭 → 저장된 값 조회 → SCR-B-001-P01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기록 클릭 → 계획 또는 저장 기록 불러오기 → SCR-B-002-P01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N월 계획 추가 클릭 → 해당 월 날짜 자동 입력 → SCR-B-001-P01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없는 달 확인 → 빈 목록 확인 → 안내 문구와 추가 버튼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제안 자동 채우기 클릭 → 미추가 제안 저장 → 목록 갱신·완료 알림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일괄 담기는 확인 팝업 없이 미추가 제안만 저장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전부 담았으면 안내, 실패 시 기존 계획 유지·재시도 안내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계획·기록은 본인 또는 관리 권한을 받은 사업체만 처리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■ 결과없음   ■ 오류   □ 처리불가   ■ 완료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추가·수정 → 입력 폼 준비 → SCR-B-001-P01 계획 작성·수정</a:t>
            </a:r>
            <a:endParaRPr lang="en-US" sz="900" dirty="0"/>
          </a:p>
        </p:txBody>
      </p:sp>
      <p:sp>
        <p:nvSpPr>
          <p:cNvPr id="35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calendar" descr="Figma Make v8 screenshot | https://b8207c10-9a31-4235-8de0-46ecdc053e0d-figmacachedpreview.figma.site/#calendar" title="calendar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878246" y="1389888"/>
            <a:ext cx="5613572" cy="4242816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878246" y="1389888"/>
            <a:ext cx="5613572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5457388" y="163569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5457388" y="163569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5593376" y="224585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5593376" y="224585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1026144" y="310309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1026144" y="310309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1124056" y="379705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1124056" y="37970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2090588" y="379705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2090588" y="37970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4572703" y="362086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4572703" y="362086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4572703" y="310309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4572703" y="310309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16" name="Callout 8 circle"/>
          <p:cNvSpPr/>
          <p:nvPr/>
        </p:nvSpPr>
        <p:spPr>
          <a:xfrm>
            <a:off x="4633048" y="224585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4633048" y="224585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13 · 계획 작성·수정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SCR-B-001-P01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작성·수정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 · 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UC03 3개월 홍보 일정표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3개월 홍보 일정표 &gt; 계획 작성·수정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46320" y="2434985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계획·연결 기록 삭제 확인</a:t>
            </a:r>
            <a:endParaRPr lang="en-US" sz="750" dirty="0"/>
          </a:p>
        </p:txBody>
      </p:sp>
      <p:sp>
        <p:nvSpPr>
          <p:cNvPr id="32" name="Text 27"/>
          <p:cNvSpPr txBox="1"/>
          <p:nvPr/>
        </p:nvSpPr>
        <p:spPr>
          <a:xfrm>
            <a:off x="4846320" y="3706216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저장 성공 시 토스트</a:t>
            </a:r>
            <a:endParaRPr lang="en-US" sz="750" dirty="0"/>
          </a:p>
        </p:txBody>
      </p:sp>
      <p:sp>
        <p:nvSpPr>
          <p:cNvPr id="37" name="Shape 31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클릭 → 변경 내용 저장 취소 → 팝업 닫고 호출 화면 복귀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활동 제목 입력 → 공백·길이 검사 → 오류 시 입력란에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 확인·수정 → 3개월 범위 검사 → 월별 추가는 해당 월 날짜로 시작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채널 확인·선택 → 선택값 반영 → 저장 후 일정 카드에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준비 내용 확인·수정 → 입력값 반영 → 계획에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삭제 클릭 → 연결 기록 삭제 안내 → 삭제 확인 팝업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 클릭 → 변경 내용 저장 취소 → 호출 화면 복귀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클릭 → 권한·입력 검사 후 저장 → 호출 화면의 목록·요약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확인 취소·✕ 클릭 → 삭제 취소 → 팝업 닫고 호출 화면 복귀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클릭 → 계획과 연결 실행 기록 삭제 → 호출 화면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⑪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성공 → 완료 메시지 생성 → 계획 저장 완료 알림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Shape 34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개별 제안 담기: 제목·날짜·채널·준비 내용 자동 입력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진입: SCR-C-004 또는 SCR-B-001 / 취소·저장 후 호출 화면 유지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오류는 입력을 유지하며 저장 실패는 다음 페이지 참조</a:t>
            </a:r>
            <a:endParaRPr lang="en-US" sz="800" dirty="0"/>
          </a:p>
        </p:txBody>
      </p:sp>
      <p:sp>
        <p:nvSpPr>
          <p:cNvPr id="2000" name="Shape 36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45" name="Text 38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■ 오류   □ 처리불가   ■ 완료</a:t>
            </a:r>
            <a:endParaRPr lang="en-US" sz="900" dirty="0"/>
          </a:p>
        </p:txBody>
      </p:sp>
      <p:sp>
        <p:nvSpPr>
          <p:cNvPr id="46" name="Text 39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47" name="Text 40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저장·취소 → 호출 화면(C-004/B-001) / 일정 보기 → SCR-B-001</a:t>
            </a:r>
            <a:endParaRPr lang="en-US" sz="900" dirty="0"/>
          </a:p>
        </p:txBody>
      </p:sp>
      <p:sp>
        <p:nvSpPr>
          <p:cNvPr id="49" name="Text 41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plan-edit" descr="Figma Make v8 screenshot | https://b8207c10-9a31-4235-8de0-46ecdc053e0d-figmacachedpreview.figma.site/#calendar" title="plan-edit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603504" y="1694059"/>
            <a:ext cx="4142232" cy="3634475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603504" y="1694059"/>
            <a:ext cx="4142232" cy="3634475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4199987" y="191078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4199987" y="191078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632322" y="268170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632322" y="26817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632322" y="328425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632322" y="32842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2576499" y="328425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2576499" y="32842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632322" y="388679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632322" y="388679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632322" y="486076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632322" y="48607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3449416" y="486076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3449416" y="48607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16" name="Callout 8 circle"/>
          <p:cNvSpPr/>
          <p:nvPr/>
        </p:nvSpPr>
        <p:spPr>
          <a:xfrm>
            <a:off x="3888171" y="486076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3888171" y="48607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pic>
        <p:nvPicPr>
          <p:cNvPr id="501" name="Make v8 plan-delete-confirm" descr="Figma Make v8 screenshot | https://b8207c10-9a31-4235-8de0-46ecdc053e0d-figmacachedpreview.figma.site/#calendar" title="plan-delete-confirm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1"/>
          <a:stretch>
            <a:fillRect/>
          </a:stretch>
        </p:blipFill>
        <p:spPr>
          <a:xfrm>
            <a:off x="4846320" y="2727124"/>
            <a:ext cx="1901952" cy="736239"/>
          </a:xfrm>
          <a:prstGeom prst="rect">
            <a:avLst/>
          </a:prstGeom>
        </p:spPr>
      </p:pic>
      <p:sp>
        <p:nvSpPr>
          <p:cNvPr id="601" name="Shape 4"/>
          <p:cNvSpPr/>
          <p:nvPr/>
        </p:nvSpPr>
        <p:spPr>
          <a:xfrm>
            <a:off x="4846320" y="2727124"/>
            <a:ext cx="1901952" cy="736239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18" name="Callout 9 circle"/>
          <p:cNvSpPr/>
          <p:nvPr/>
        </p:nvSpPr>
        <p:spPr>
          <a:xfrm>
            <a:off x="6448231" y="277770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9" name="Callout 9 number"/>
          <p:cNvSpPr txBox="1"/>
          <p:nvPr/>
        </p:nvSpPr>
        <p:spPr>
          <a:xfrm>
            <a:off x="6448231" y="27777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020" name="Callout 10 circle"/>
          <p:cNvSpPr/>
          <p:nvPr/>
        </p:nvSpPr>
        <p:spPr>
          <a:xfrm>
            <a:off x="6315267" y="319855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1" name="Callout 10 number"/>
          <p:cNvSpPr txBox="1"/>
          <p:nvPr/>
        </p:nvSpPr>
        <p:spPr>
          <a:xfrm>
            <a:off x="6315267" y="319855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pic>
        <p:nvPicPr>
          <p:cNvPr id="502" name="Make v8 plan-saved" descr="Figma Make v8 screenshot | https://b8207c10-9a31-4235-8de0-46ecdc053e0d-figmacachedpreview.figma.site/#calendar" title="plan-saved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2"/>
          <a:stretch>
            <a:fillRect/>
          </a:stretch>
        </p:blipFill>
        <p:spPr>
          <a:xfrm>
            <a:off x="4846320" y="4000688"/>
            <a:ext cx="1901952" cy="612272"/>
          </a:xfrm>
          <a:prstGeom prst="rect">
            <a:avLst/>
          </a:prstGeom>
        </p:spPr>
      </p:pic>
      <p:sp>
        <p:nvSpPr>
          <p:cNvPr id="602" name="Shape 4"/>
          <p:cNvSpPr/>
          <p:nvPr/>
        </p:nvSpPr>
        <p:spPr>
          <a:xfrm>
            <a:off x="4846320" y="4000688"/>
            <a:ext cx="1901952" cy="612272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22" name="Callout 11 circle"/>
          <p:cNvSpPr/>
          <p:nvPr/>
        </p:nvSpPr>
        <p:spPr>
          <a:xfrm>
            <a:off x="4846320" y="406821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3" name="Callout 11 number"/>
          <p:cNvSpPr txBox="1"/>
          <p:nvPr/>
        </p:nvSpPr>
        <p:spPr>
          <a:xfrm>
            <a:off x="4846320" y="406821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14 · 계획 작성 · 저장 실패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SCR-B-001-P01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작성 · 저장 실패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 · 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UC03 3개월 홍보 일정표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3개월 홍보 일정표 &gt; 계획 작성·수정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내용 확인·수정 → 실패 전 입력값 유지 → 계획 작성 폼에서 재시도 준비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확인 → 기존 저장본 유지 → 저장 실패·재시도 안내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저장 클릭 → 입력 재검사 후 저장 → 성공 시 호출 화면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서비스 운영자는 관리 권한을 받은 사업체의 계획·기록만 처리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실패 시 작성 완료로 표시하지 않고 입력 유지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재시도 성공 후에만 목록 갱신·완료 안내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2000" name="Text 18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□ 정상   □ 결과없음   ■ 오류   □ 처리불가   □ 완료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저장 → 검사·저장 → 호출 화면(C-004/B-001) 갱신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plan-save-error" descr="Figma Make v8 screenshot | https://b8207c10-9a31-4235-8de0-46ecdc053e0d-figmacachedpreview.figma.site/#calendar" title="plan-save-error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1470768" y="1389888"/>
            <a:ext cx="4428528" cy="4242816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1470768" y="1389888"/>
            <a:ext cx="4428528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1507898" y="245278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1507898" y="245278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1507898" y="461102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1507898" y="461102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4988779" y="513814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4988779" y="513814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15 · 실행 결과 조회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결과 조회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 · 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UC04 사용·실행 기록 관리 · UC05 계획 이행·실행 결과 조회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실행 결과 조회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000" name="Shape 2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카드 확인 → 계획·기록 수 집계 → 계획·작성·미기록 수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결과 요약 클릭 → 저장 기록 집계 → SCR-B-002-P02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 확인 → 일정표의 계획과 기록 조회 → 없으면 일정 작성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수정 클릭 → 기존 기록 불러오기 → SCR-B-002-P01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입력 클릭 → 계획 날짜·활동·채택 기본값 채움 → SCR-B-002-P01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저장 성공 → 목록·요약 갱신 → 완료 알림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서비스 운영자는 관리 권한을 받은 사업체의 계획·기록만 처리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미기록은 실행 실패로 처리하지 않음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빈값은 미확보, 숫자 0은 실제 확인한 0건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■ 결과없음   □ 오류   □ 처리불가   ■ 완료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입력·수정 → 선택 계획 조회 → SCR-B-002-P01 기록 입력·수정</a:t>
            </a:r>
            <a:endParaRPr lang="en-US" sz="900" dirty="0"/>
          </a:p>
        </p:txBody>
      </p:sp>
      <p:sp>
        <p:nvSpPr>
          <p:cNvPr id="35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records" descr="Figma Make v8 screenshot | https://b8207c10-9a31-4235-8de0-46ecdc053e0d-figmacachedpreview.figma.site/#records" title="records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585216" y="1456767"/>
            <a:ext cx="6199632" cy="4109058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585216" y="1456767"/>
            <a:ext cx="6199632" cy="4109058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661983" y="241164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661983" y="241164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5651970" y="173778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5651970" y="173778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667990" y="341469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667990" y="341469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5880438" y="360092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5880438" y="360092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5880438" y="419565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5880438" y="419565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2290503" y="524131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2290503" y="524131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16 · 기록 입력·수정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SCR-B-002-P01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입력·수정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 · 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UC04 사용·실행 기록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실행 결과 조회 &gt; 기록 입력·수정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클릭 → 입력 저장 취소 → 팝업 닫고 호출 화면 복귀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소요 시간 입력 → 음수·범위 검사 → 빈칸은 미측정으로 유지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채택 여부 확인·수정 → 제안 연결 시 채택 기본값 → 실제 판단으로 저장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여부 확인·수정 → 기본 실행함을 실제 상태로 변경 → 날짜 조건 적용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 날짜 확인·수정 → 자동 입력된 예정 날짜 검토 → 오류 시 안내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활동 확인·수정 → 채널·준비 내용 기본값 수정 → 실제 활동으로 저장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 수 입력 → 비음수 정수 검사 → 빈칸은 미확보·0은 실제 0건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예약 수 입력 → 비음수 정수 검사 → 빈칸은 미확보로 유지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⑨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쿠폰 사용 수 입력 → 비음수 정수 검사 → 빈칸은 미확보로 유지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결과·수집 방법 입력 → 기록과 연결 → 결과 해석에 활용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⑪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 클릭 → 입력 저장 취소 → 호출 화면 복귀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⑫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저장 클릭 → 권한·입력 검사 후 저장 → 호출 화면 목록·요약 갱신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채움 안내 확인 → 계획 값을 기본값으로 제공 → 실제 실행 내용 확인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Shape 32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최초 작성은 계획 값, 수정은 저장된 기록을 불러옴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시간·클릭·예약·쿠폰 수는 자동 수집하지 않음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오류·저장 실패 시 입력 유지 / 완료 시 저장 알림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■ 오류   □ 처리불가   ■ 완료</a:t>
            </a:r>
            <a:endParaRPr lang="en-US" sz="900" dirty="0"/>
          </a:p>
        </p:txBody>
      </p:sp>
      <p:sp>
        <p:nvSpPr>
          <p:cNvPr id="42" name="Text 3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43" name="Text 3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저장·취소 → 호출 화면(SCR-B-001 또는 SCR-B-002) 복귀</a:t>
            </a:r>
            <a:endParaRPr lang="en-US" sz="900" dirty="0"/>
          </a:p>
        </p:txBody>
      </p:sp>
      <p:sp>
        <p:nvSpPr>
          <p:cNvPr id="45" name="Text 3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record-prefill" descr="Figma Make v8 screenshot | https://b8207c10-9a31-4235-8de0-46ecdc053e0d-figmacachedpreview.figma.site/#records" title="record-prefill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2223618" y="1389888"/>
            <a:ext cx="2922829" cy="4242816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2223618" y="1389888"/>
            <a:ext cx="2922829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4734438" y="151780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4734438" y="151780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2223618" y="229654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2223618" y="229654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3588878" y="229654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3588878" y="229654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2223618" y="272170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2223618" y="272170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2223618" y="314503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2223618" y="314503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2223618" y="357019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2223618" y="35701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2223618" y="416131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2223618" y="416131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16" name="Callout 8 circle"/>
          <p:cNvSpPr/>
          <p:nvPr/>
        </p:nvSpPr>
        <p:spPr>
          <a:xfrm>
            <a:off x="3131596" y="416131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3131596" y="416131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018" name="Callout 9 circle"/>
          <p:cNvSpPr/>
          <p:nvPr/>
        </p:nvSpPr>
        <p:spPr>
          <a:xfrm>
            <a:off x="4046159" y="416131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9" name="Callout 9 number"/>
          <p:cNvSpPr txBox="1"/>
          <p:nvPr/>
        </p:nvSpPr>
        <p:spPr>
          <a:xfrm>
            <a:off x="4046159" y="416131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020" name="Callout 10 circle"/>
          <p:cNvSpPr/>
          <p:nvPr/>
        </p:nvSpPr>
        <p:spPr>
          <a:xfrm>
            <a:off x="2223618" y="470050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1" name="Callout 10 number"/>
          <p:cNvSpPr txBox="1"/>
          <p:nvPr/>
        </p:nvSpPr>
        <p:spPr>
          <a:xfrm>
            <a:off x="2223618" y="470050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022" name="Callout 11 circle"/>
          <p:cNvSpPr/>
          <p:nvPr/>
        </p:nvSpPr>
        <p:spPr>
          <a:xfrm>
            <a:off x="4207916" y="527373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3" name="Callout 11 number"/>
          <p:cNvSpPr txBox="1"/>
          <p:nvPr/>
        </p:nvSpPr>
        <p:spPr>
          <a:xfrm>
            <a:off x="4207916" y="527373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1024" name="Callout 12 circle"/>
          <p:cNvSpPr/>
          <p:nvPr/>
        </p:nvSpPr>
        <p:spPr>
          <a:xfrm>
            <a:off x="4517509" y="527373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5" name="Callout 12 number"/>
          <p:cNvSpPr txBox="1"/>
          <p:nvPr/>
        </p:nvSpPr>
        <p:spPr>
          <a:xfrm>
            <a:off x="4517509" y="527373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1026" name="Callout 13 circle"/>
          <p:cNvSpPr/>
          <p:nvPr/>
        </p:nvSpPr>
        <p:spPr>
          <a:xfrm>
            <a:off x="2223618" y="193074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7" name="Callout 13 number"/>
          <p:cNvSpPr txBox="1"/>
          <p:nvPr/>
        </p:nvSpPr>
        <p:spPr>
          <a:xfrm>
            <a:off x="2223618" y="193074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17 · 사용 결과 요약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SCR-B-002-P02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결과 요약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 · 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UC05 계획 이행·실행 결과 조회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실행 결과 조회 &gt; 사용 결과 요약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열기 → 권한 내 기록을 집계 → 계획·채택·시간·실행 결과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닫기 클릭 → 요약 팝업 닫기 → SCR-B-002 복귀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클릭 → 요약 팝업 닫기 → SCR-B-002 복귀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본인 또는 관리 권한을 받은 사업체의 기록만 조회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기록 없음·미확보 표시 / 계획도 없으면 일정 작성 안내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매출 증가·인과 효과를 추정하지 않음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■ 결과없음   □ 오류   □ 처리불가   □ 완료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 → 요약 종료 → SCR-B-002 실행 결과 조회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summary" descr="Figma Make v8 screenshot | https://b8207c10-9a31-4235-8de0-46ecdc053e0d-figmacachedpreview.figma.site/#records" title="summary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1478198" y="1389888"/>
            <a:ext cx="4413668" cy="4242816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1478198" y="1389888"/>
            <a:ext cx="4413668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1478198" y="208085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1478198" y="208085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5162068" y="513882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5162068" y="513882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5316346" y="162813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5316346" y="162813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18 · 자료·기준 관리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자료·기준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UC07 CSV 자료 등록 · UC08 자료 기준·누락값 검증 · UC09 추천 기준·근거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양식 다운로드 클릭 → 등록 양식 제공 → 파일 저장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파일 선택 → 확장자·크기 검사 → 파일명 또는 오류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출처·버전 입력 → 자료 식별 정보 검사 → 검증 정보에 반영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시작일 입력 → 날짜 형식 검사 → 기준기간 검증에 반영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종료일 입력 → 날짜·선후 관계 검사 → 기준기간 검증에 반영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단위 선택 → 허용 단위 확인 → 집계 기준 검증에 반영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제공자·집계 기준 입력 → 필수값 확인 → 비교 가능성 검증에 반영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형식 안내 클릭 → 필수 열·작성 규칙 조회 → 안내 펼침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⑨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검증 클릭 → 선택 파일의 5개 항목 검사 → SCR-A-001-P01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등록 클릭 → 검증·권한 확인 후 서버 저장 → 등록 자료 수 갱신·완료 알림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⑪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항목 확인 → 기간·집계·지역·누락·제공 기준 판정 → 항목별 상태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⑫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기준·근거 수정 클릭 → 현재 기준 조회 → SCR-A-001-P02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기준 확인 → 적용 기준·등록 자료 조회 → 현재 기준 요약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Shape 34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실패·미확인 항목이 있으면 등록 차단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파일·기준 변경 시 이전 검증 결과 무효화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등록 실패 시 입력·검증 결과를 유지하고 재시도 안내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43" name="Text 38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■ 오류   ■ 처리불가   ■ 완료</a:t>
            </a:r>
            <a:endParaRPr lang="en-US" sz="900" dirty="0"/>
          </a:p>
        </p:txBody>
      </p:sp>
      <p:sp>
        <p:nvSpPr>
          <p:cNvPr id="44" name="Text 39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45" name="Text 40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검증 → 5개 항목 검사 → SCR-A-001-P01 CSV 검증 결과</a:t>
            </a:r>
            <a:endParaRPr lang="en-US" sz="900" dirty="0"/>
          </a:p>
        </p:txBody>
      </p:sp>
      <p:sp>
        <p:nvSpPr>
          <p:cNvPr id="47" name="Text 41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data-admin" descr="Figma Make v8 screenshot | https://b8207c10-9a31-4235-8de0-46ecdc053e0d-figmacachedpreview.figma.site/#data" title="data-admin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917278" y="1389888"/>
            <a:ext cx="5535507" cy="4242816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917278" y="1389888"/>
            <a:ext cx="5535507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5295697" y="163100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5295697" y="16310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1115487" y="292663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1115487" y="29266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2771077" y="292663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2771077" y="29266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4426751" y="292663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4426751" y="29266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1115487" y="348011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1115487" y="34801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2771077" y="348011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2771077" y="34801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4426751" y="348011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4426751" y="34801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16" name="Callout 8 circle"/>
          <p:cNvSpPr/>
          <p:nvPr/>
        </p:nvSpPr>
        <p:spPr>
          <a:xfrm>
            <a:off x="1115487" y="389631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1115487" y="389631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018" name="Callout 9 circle"/>
          <p:cNvSpPr/>
          <p:nvPr/>
        </p:nvSpPr>
        <p:spPr>
          <a:xfrm>
            <a:off x="1115487" y="409260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9" name="Callout 9 number"/>
          <p:cNvSpPr txBox="1"/>
          <p:nvPr/>
        </p:nvSpPr>
        <p:spPr>
          <a:xfrm>
            <a:off x="1115487" y="409260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020" name="Callout 10 circle"/>
          <p:cNvSpPr/>
          <p:nvPr/>
        </p:nvSpPr>
        <p:spPr>
          <a:xfrm>
            <a:off x="1535628" y="409260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1" name="Callout 10 number"/>
          <p:cNvSpPr txBox="1"/>
          <p:nvPr/>
        </p:nvSpPr>
        <p:spPr>
          <a:xfrm>
            <a:off x="1535628" y="409260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022" name="Callout 11 circle"/>
          <p:cNvSpPr/>
          <p:nvPr/>
        </p:nvSpPr>
        <p:spPr>
          <a:xfrm>
            <a:off x="1115487" y="471908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3" name="Callout 11 number"/>
          <p:cNvSpPr txBox="1"/>
          <p:nvPr/>
        </p:nvSpPr>
        <p:spPr>
          <a:xfrm>
            <a:off x="1115487" y="471908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1024" name="Callout 12 circle"/>
          <p:cNvSpPr/>
          <p:nvPr/>
        </p:nvSpPr>
        <p:spPr>
          <a:xfrm>
            <a:off x="5289327" y="515858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5" name="Callout 12 number"/>
          <p:cNvSpPr txBox="1"/>
          <p:nvPr/>
        </p:nvSpPr>
        <p:spPr>
          <a:xfrm>
            <a:off x="5289327" y="515858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1026" name="Callout 13 circle"/>
          <p:cNvSpPr/>
          <p:nvPr/>
        </p:nvSpPr>
        <p:spPr>
          <a:xfrm>
            <a:off x="1115487" y="504728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7" name="Callout 13 number"/>
          <p:cNvSpPr txBox="1"/>
          <p:nvPr/>
        </p:nvSpPr>
        <p:spPr>
          <a:xfrm>
            <a:off x="1115487" y="504728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19 · CSV 검증 결과 · 통과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SCR-A-001-P01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검증 결과 · 통과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UC07 CSV 자료 등록 · UC08 자료 기준·누락값 검증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 &gt; CSV 검증 결과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3017291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등록 성공 시 토스트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완료 → 통과 항목 집계 → 등록 가능 안내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결과 확인 → 5개 기준 판정 → 통과 여부·사용 가능 범위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등록 클릭 → 검증·권한 확인 후 서버 저장 → SCR-A-001 등록 자료 수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성공 → 완료 메시지 생성 → 자료 등록 완료 알림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Shape 18"/>
          <p:cNvSpPr/>
          <p:nvPr/>
        </p:nvSpPr>
        <p:spPr>
          <a:xfrm>
            <a:off x="7050024" y="5020056"/>
            <a:ext cx="4617720" cy="640080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104888" y="5047488"/>
            <a:ext cx="4507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필수 검증 통과 후에만 등록 가능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후 파일·입력 기준이 바뀌면 다시 검증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2000" name="Text 22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□ 오류   □ 처리불가   ■ 완료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등록 → 검증·권한 확인·서버 저장 → SCR-A-001 등록 자료 수 갱신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csv-validation" descr="Figma Make v8 screenshot | https://b8207c10-9a31-4235-8de0-46ecdc053e0d-figmacachedpreview.figma.site/#data" title="csv-validation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603504" y="2134867"/>
            <a:ext cx="4142232" cy="2752858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603504" y="2134867"/>
            <a:ext cx="4142232" cy="2752858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603504" y="381216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603504" y="381216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603504" y="409607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603504" y="409607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927703" y="359211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927703" y="35921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pic>
        <p:nvPicPr>
          <p:cNvPr id="501" name="Make v8 csv-registered" descr="Figma Make v8 screenshot | https://b8207c10-9a31-4235-8de0-46ecdc053e0d-figmacachedpreview.figma.site/#data" title="csv-registered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1"/>
          <a:stretch>
            <a:fillRect/>
          </a:stretch>
        </p:blipFill>
        <p:spPr>
          <a:xfrm>
            <a:off x="4846320" y="3132008"/>
            <a:ext cx="1901952" cy="612272"/>
          </a:xfrm>
          <a:prstGeom prst="rect">
            <a:avLst/>
          </a:prstGeom>
        </p:spPr>
      </p:pic>
      <p:sp>
        <p:nvSpPr>
          <p:cNvPr id="601" name="Shape 4"/>
          <p:cNvSpPr/>
          <p:nvPr/>
        </p:nvSpPr>
        <p:spPr>
          <a:xfrm>
            <a:off x="4846320" y="3132008"/>
            <a:ext cx="1901952" cy="612272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8" name="Callout 4 circle"/>
          <p:cNvSpPr/>
          <p:nvPr/>
        </p:nvSpPr>
        <p:spPr>
          <a:xfrm>
            <a:off x="4846320" y="319953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4846320" y="319953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20 · CSV 검증 결과 · 등록 불가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SCR-A-001-P01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검증 결과 · 등록 불가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UC08 자료 기준·누락값 검증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 &gt; CSV 검증 결과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오류가 있는 파일 검증 → 실패 항목 판별 → 등록 불가 사유·재검증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항목 확인 → 실패한 검증 기준 확인 → 수정 후 재검증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버튼 확인 → 필수 검증 미통과 확인 → 등록 비활성 유지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7050024" y="5020056"/>
            <a:ext cx="4617720" cy="640080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04888" y="5047488"/>
            <a:ext cx="4507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없는 수치를 만들어 채우거나 0으로 대체하지 않음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자료를 수정한 뒤 다시 검증해야 등록 가능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□ 정상   □ 결과없음   ■ 오류   ■ 처리불가   □ 완료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수정 후 검증 → 재검증 → SCR-A-001-P01 결과 갱신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csv-error" descr="Figma Make v8 screenshot | https://b8207c10-9a31-4235-8de0-46ecdc053e0d-figmacachedpreview.figma.site/#data" title="csv-error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585216" y="1399546"/>
            <a:ext cx="6199632" cy="4223499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585216" y="1399546"/>
            <a:ext cx="6199632" cy="4223499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610019" y="395536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610019" y="395536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4163102" y="438027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4163102" y="438027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1115858" y="362600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1115858" y="362600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21 · 추천 기준·근거 편집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SCR-A-001-P02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기준·근거 편집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UC09 추천 기준·근거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 &gt; 추천 기준·근거 편집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46320" y="2988636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저장 성공 시 토스트</a:t>
            </a:r>
            <a:endParaRPr lang="en-US" sz="750" dirty="0"/>
          </a:p>
        </p:txBody>
      </p:sp>
      <p:sp>
        <p:nvSpPr>
          <p:cNvPr id="2000" name="Shape 25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클릭 → 변경 내용 저장 취소 → SCR-A-001 유지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 안내 확인 → 기준 적용 방식 표시 → 저장 후 제안 재계산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 감소 기준 입력 → 숫자·범위 검사 → 추천 기준 저장 준비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출처·기준 입력 → 필수값 검사 → 제안의 출처·기준에 반영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판단 이유 입력 → 필수값 검사 → 제안 설명에 반영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 조건 입력 → 필수값 검사 → 제안의 확인 조건에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 클릭 → 변경 내용 저장 취소 → SCR-A-001 복귀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저장 클릭 → 권한·입력 검사·서버 저장 → 기준·홍보 제안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성공 → 완료 메시지 생성 → 추천 기준 저장 완료 알림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4" name="Shape 28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저장한 기준·근거는 이후 홍보 제안 조회에 반영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필수값 오류는 해당 입력란에 표시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저장 실패 시 기존 적용 기준과 입력값을 유지</a:t>
            </a:r>
            <a:endParaRPr lang="en-US" sz="800" dirty="0"/>
          </a:p>
        </p:txBody>
      </p:sp>
      <p:sp>
        <p:nvSpPr>
          <p:cNvPr id="36" name="Shape 30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8" name="Text 32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■ 오류   □ 처리불가   ■ 완료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40" name="Text 34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저장 → 서버 저장·제안 재계산 → SCR-A-001 기준 요약 갱신</a:t>
            </a:r>
            <a:endParaRPr lang="en-US" sz="900" dirty="0"/>
          </a:p>
        </p:txBody>
      </p:sp>
      <p:sp>
        <p:nvSpPr>
          <p:cNvPr id="42" name="Text 3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criteria" descr="Figma Make v8 screenshot | https://b8207c10-9a31-4235-8de0-46ecdc053e0d-figmacachedpreview.figma.site/#data" title="criteria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960302" y="1426464"/>
            <a:ext cx="3428636" cy="4169664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960302" y="1426464"/>
            <a:ext cx="3428636" cy="4169664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3921454" y="158785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3921454" y="158785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968403" y="207225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968403" y="207225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968403" y="273248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968403" y="273248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968403" y="323122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968403" y="323122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968403" y="372997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968403" y="372997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968403" y="452293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968403" y="452293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3438438" y="519535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3438438" y="519535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16" name="Callout 8 circle"/>
          <p:cNvSpPr/>
          <p:nvPr/>
        </p:nvSpPr>
        <p:spPr>
          <a:xfrm>
            <a:off x="3801607" y="519535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3801607" y="519535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pic>
        <p:nvPicPr>
          <p:cNvPr id="501" name="Make v8 criteria-saved" descr="Figma Make v8 screenshot | https://b8207c10-9a31-4235-8de0-46ecdc053e0d-figmacachedpreview.figma.site/#data" title="criteria-saved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1"/>
          <a:stretch>
            <a:fillRect/>
          </a:stretch>
        </p:blipFill>
        <p:spPr>
          <a:xfrm>
            <a:off x="4846320" y="3282950"/>
            <a:ext cx="1901952" cy="310388"/>
          </a:xfrm>
          <a:prstGeom prst="rect">
            <a:avLst/>
          </a:prstGeom>
        </p:spPr>
      </p:pic>
      <p:sp>
        <p:nvSpPr>
          <p:cNvPr id="601" name="Shape 4"/>
          <p:cNvSpPr/>
          <p:nvPr/>
        </p:nvSpPr>
        <p:spPr>
          <a:xfrm>
            <a:off x="4846320" y="3282950"/>
            <a:ext cx="1901952" cy="310388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18" name="Callout 9 circle"/>
          <p:cNvSpPr/>
          <p:nvPr/>
        </p:nvSpPr>
        <p:spPr>
          <a:xfrm>
            <a:off x="4846320" y="328295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9" name="Callout 9 number"/>
          <p:cNvSpPr txBox="1"/>
          <p:nvPr/>
        </p:nvSpPr>
        <p:spPr>
          <a:xfrm>
            <a:off x="4846320" y="328295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구현 범위와 Figma 공유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/ 범위 · 제출 링크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14400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91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8961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범위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89611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F01 방문 추이 · F02 소비 비교·월별 제안 · F03 일정·실행 결과 · 운영 지원(CSV·추천 기준)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화면 기능: 제안 일괄 담기·기록 자동 채움·활용 사례(UC11)·자료 현황(UC12)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673352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673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65506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제출 범위 제외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1655064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F04(UC06 보고서 초안 작성)는 이번 제출의 구현 범위에서 제외합니다. 이후 도입 여부는 별도 결정합니다.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2432304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4140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설계·시안 구분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2414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인증·저장은 목표 동작입니다. Make v8은 임시 계정·브라우저 저장으로 시연합니다.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CSV는 출처·행 수만 저장하며 그래프는 예시입니다. 실제 실행·성과 자동 수집은 미연결입니다.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3191256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1729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 Make 편집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317296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ScopeMakeEditor"/>
                <a:hlinkClick r:id="rIdScopeMakeEditor"/>
              </a:rPr>
              <a:t>https://www.figma.com/make/AlZOwKZXABo7G6BkUhTG03/Start-Task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931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시안 실행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880360" y="393192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ScopePublishedPreview"/>
              </a:rPr>
              <a:t>https://www.figma.com/make/AlZOwKZXABo7G6BkUhTG03/Start-Task?preview-route=%2F%23overview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4709160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709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690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공유·화면 이동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69087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2026-10-02 비로그인 열람·Make 미리보기의 메뉴·버튼 이동 확인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공개 게시본은 제외했습니다. 별도 Figma Design Prototype 연결은 미확인입니다.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5800" y="5623560"/>
            <a:ext cx="1078992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623560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사례명·효과 수치는 검증 전 예시입니다. 반영률은 상태 비율, 확인일 9월 29일은 고정 문구입니다.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방문은 가게 손님 수와 구분하고, 결과 미확보를 0건으로 처리하지 않습니다.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제출 전 체크리스트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/ 최종 점검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1440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91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91440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PROJECT.md와 최신 월별 제안·사례·자료 현황의 구현 범위를 최종 대조해야 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499616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1499616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가이드의 대표 UC 11개를 화면에 연결했다. 원본 다이어그램 최종 반영·대조는 대기 중이다.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08483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084832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사업체 운영자·서비스 운영자별 화면과 권한이 구분되어 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670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2670048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화면에 Screen ID, 화면명, 관련 Use Case, 경로가 기재되어 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255264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255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25526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입력·버튼·조회결과·팝업 등에 번호가 있고 Description과 대응된다.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84048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상태뿐 아니라 결과 없음·입력 오류·처리 불가·완료 상태를 필요한 경우 표현했다.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425696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4425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4425696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클릭 후 처리 내용과 다음 화면 이동이 명확하다.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5800" y="501091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5010912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서비스와 현재 시안의 범위를 구분하고 예시·미연결 항목을 명시했다.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" y="5760720"/>
            <a:ext cx="10789920" cy="411480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7607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파일명: Red 화면설계서_20260927.pptx  |  최신 수정: 2026-10-02 · Make v8 반영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05 · 한눈에 보기 · 사례와 자료 현황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보기 · 사례와 자료 현황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UC11·UC12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메인(한눈에 보기)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상태 확인 → 사례의 확인 수준 표시 → 검증 전 예시임을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 카드 확인 → 실행 활동·결과·수집 기준 조회 → 참고 사례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자료별 상태 확인 → 예시 자료와 추천 기준 구분 → 자료 준비 현황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현황 확인 → 등록 건수·행 수 표시 → 자료 등록 상태 확인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00" name="Shape 22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사례명·성과 수치는 검증 전 예시이며 실제 성과로 인용하지 않음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표시 25%는 추천 기준을 포함한 상태 비율이며 실자료 적용률 아님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홍보 제안 조회·상세보기 → SCR-C-004 / 별도 사례 상세 화면 없음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□ 오류   □ 처리불가   □ 완료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 제안 조회·제안 상세보기 → SCR-C-004 / 같은 메인 화면 하단</a:t>
            </a:r>
            <a:endParaRPr lang="en-US" sz="900" dirty="0"/>
          </a:p>
        </p:txBody>
      </p:sp>
      <p:sp>
        <p:nvSpPr>
          <p:cNvPr id="35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overview-details" descr="Figma Make v8 screenshot | https://b8207c10-9a31-4235-8de0-46ecdc053e0d-figmacachedpreview.figma.site/#overview" title="overview-details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585216" y="1652007"/>
            <a:ext cx="6199632" cy="3718578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585216" y="1652007"/>
            <a:ext cx="6199632" cy="3718578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5881096" y="170690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5881096" y="170690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661983" y="200952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661983" y="200952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818175" y="386675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818175" y="386675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818175" y="499280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818175" y="49928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10 · 홍보 제안 · 카드 상세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제안 · 카드 상세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UC02·UC03·UC10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홍보 제안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 제목·시기 확인 → 해당 월 제안 조회 → 실행할 주제와 시기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 항목 확인 → 대상·상품·관광지 후보 조회 → 항목별 내용과 확인사항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이유 확인 → 방문 변화와 추천 기준 조회 → 제안 이유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출처·조건 확인 → 자료 기준·미확인 운영 조건 표시 → 적용 전 확인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근거 클릭 → 선택 제안의 이유·자료 조회 → SCR-C-004-P01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일정에 담기 클릭 → 계획 정보 자동 입력 → SCR-B-001-P01 작성·수정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월별 목록의 제안 카드를 확대한 화면이며 별도 페이지가 아님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개별 담기는 저장 전까지 일정 미변경 / 이미 담은 제안은 수정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판매 가능 상품·비용·휴무일·접근 경로는 사업체가 확인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□ 오류   □ 처리불가   □ 완료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근거 → SCR-C-004-P01 / 일정에 담기 → SCR-B-001-P01</a:t>
            </a:r>
            <a:endParaRPr lang="en-US" sz="900" dirty="0"/>
          </a:p>
        </p:txBody>
      </p:sp>
      <p:sp>
        <p:nvSpPr>
          <p:cNvPr id="2000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pic>
        <p:nvPicPr>
          <p:cNvPr id="500" name="Make v8 recommendation-card" descr="Figma Make v8 screenshot | https://b8207c10-9a31-4235-8de0-46ecdc053e0d-figmacachedpreview.figma.site/#recommendations" title="recommendation-card">
            <a:hlinkClick r:id="rIdRevisedMake" tooltip="확인한 Figma Make 파일 열기"/>
          </p:cNvPr>
          <p:cNvPicPr>
            <a:picLocks noChangeAspect="1"/>
          </p:cNvPicPr>
          <p:nvPr/>
        </p:nvPicPr>
        <p:blipFill>
          <a:blip r:embed="rIdCapture0"/>
          <a:stretch>
            <a:fillRect/>
          </a:stretch>
        </p:blipFill>
        <p:spPr>
          <a:xfrm>
            <a:off x="2253565" y="1389888"/>
            <a:ext cx="2862934" cy="4242816"/>
          </a:xfrm>
          <a:prstGeom prst="rect">
            <a:avLst/>
          </a:prstGeom>
        </p:spPr>
      </p:pic>
      <p:sp>
        <p:nvSpPr>
          <p:cNvPr id="600" name="Shape 4"/>
          <p:cNvSpPr/>
          <p:nvPr/>
        </p:nvSpPr>
        <p:spPr>
          <a:xfrm>
            <a:off x="2253565" y="1389888"/>
            <a:ext cx="2862934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002" name="Callout 1 circle"/>
          <p:cNvSpPr/>
          <p:nvPr/>
        </p:nvSpPr>
        <p:spPr>
          <a:xfrm>
            <a:off x="2253565" y="186497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2253565" y="186497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2253565" y="243139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2253565" y="243139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2253565" y="365349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2253565" y="365349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2253565" y="429941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2253565" y="429941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2253565" y="524203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2253565" y="524203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4204242" y="525493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4204242" y="525493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0</ns0:TotalTime>
  <ns0:Words>0</ns0:Words>
  <ns0:Application>Microsoft Office PowerPoint</ns0:Application>
  <ns0:PresentationFormat>On-screen Show (16:9)</ns0:PresentationFormat>
  <ns0:Paragraphs>0</ns0:Paragraphs>
  <ns0:Slides>30</ns0:Slides>
  <ns0:Notes>31</ns0:Notes>
  <ns0:HiddenSlides>0</ns0:HiddenSlides>
  <ns0:MMClips>0</ns0:MMClips>
  <ns0:ScaleCrop>false</ns0:ScaleCrop>
  <ns0:HeadingPairs>
    <ns1:vector size="6" baseType="variant">
      <ns1:variant>
        <ns1:lpstr>Fonts Used</ns1:lpstr>
      </ns1:variant>
      <ns1:variant>
        <ns1:i4>2</ns1:i4>
      </ns1:variant>
      <ns1:variant>
        <ns1:lpstr>Theme</ns1:lpstr>
      </ns1:variant>
      <ns1:variant>
        <ns1:i4>1</ns1:i4>
      </ns1:variant>
      <ns1:variant>
        <ns1:lpstr>Slide Titles</ns1:lpstr>
      </ns1:variant>
      <ns1:variant>
        <ns1:i4>31</ns1:i4>
      </ns1:variant>
    </ns1:vector>
  </ns0:HeadingPairs>
  <ns0:TitlesOfParts>
    <ns1:vector size="34" baseType="lpstr">
      <ns1:lpstr>Arial</ns1:lpstr>
      <ns1:lpstr>Calibri</ns1:lpstr>
      <ns1:lpstr>Office Theme</ns1:lpstr>
      <ns1:lpstr>Slide 1</ns1:lpstr>
      <ns1:lpstr>Slide 2</ns1:lpstr>
      <ns1:lpstr>Slide 3</ns1:lpstr>
      <ns1:lpstr>Slide 4</ns1:lpstr>
      <ns1:lpstr>Slide 5</ns1:lpstr>
      <ns1:lpstr>Slide 6</ns1:lpstr>
      <ns1:lpstr>Slide 7</ns1:lpstr>
      <ns1:lpstr>Slide 8</ns1:lpstr>
      <ns1:lpstr>Slide 9</ns1:lpstr>
      <ns1:lpstr>Slide 10</ns1:lpstr>
      <ns1:lpstr>Slide 11</ns1:lpstr>
      <ns1:lpstr>Slide 12</ns1:lpstr>
      <ns1:lpstr>Slide 13</ns1:lpstr>
      <ns1:lpstr>Slide 14</ns1:lpstr>
      <ns1:lpstr>Slide 15</ns1:lpstr>
      <ns1:lpstr>Slide 16</ns1:lpstr>
      <ns1:lpstr>Slide 17</ns1:lpstr>
      <ns1:lpstr>Slide 18</ns1:lpstr>
      <ns1:lpstr>Slide 19</ns1:lpstr>
      <ns1:lpstr>Slide 20</ns1:lpstr>
      <ns1:lpstr>Slide 21</ns1:lpstr>
      <ns1:lpstr>Slide 22</ns1:lpstr>
      <ns1:lpstr>Slide 23</ns1:lpstr>
      <ns1:lpstr>Slide 24</ns1:lpstr>
      <ns1:lpstr>Slide 25</ns1:lpstr>
      <ns1:lpstr>Slide 26</ns1:lpstr>
      <ns1:lpstr>Slide 27</ns1:lpstr>
      <ns1:lpstr>Slide 28</ns1:lpstr>
      <ns1:lpstr>Slide 29</ns1:lpstr>
      <ns1:lpstr>Slide 30</ns1:lpstr>
      <ns1:lpstr>Slide 31</ns1:lpstr>
    </ns1:vector>
  </ns0:TitlesOfParts>
  <ns0:Company>PptxGenJS</ns0:Company>
  <ns0:LinksUpToDate>false</ns0:LinksUpToDate>
  <ns0:SharedDoc>false</ns0:SharedDoc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 화면설계서</dc:title>
  <dc:subject>PptxGenJS Presentation</dc:subject>
  <dc:creator>PptxGenJS</dc:creator>
  <cp:lastModifiedBy>PptxGenJS</cp:lastModifiedBy>
  <cp:revision>1</cp:revision>
  <dcterms:created xsi:type="dcterms:W3CDTF">2026-09-27T12:03:15Z</dcterms:created>
  <dcterms:modified xsi:type="dcterms:W3CDTF">2026-09-27T12:03:15Z</dcterms:modified>
</cp:coreProperties>
</file>