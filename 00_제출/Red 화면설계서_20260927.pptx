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notesMaster" Target="notesMasters/notesMaster1.xml" /><Relationship Id="rId34" Type="http://schemas.openxmlformats.org/officeDocument/2006/relationships/presProps" Target="presProps.xml" /><Relationship Id="rId35" Type="http://schemas.openxmlformats.org/officeDocument/2006/relationships/viewProps" Target="viewProps.xml" /><Relationship Id="rId36" Type="http://schemas.openxmlformats.org/officeDocument/2006/relationships/theme" Target="theme/theme1.xml" /><Relationship Id="rId37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ns2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사용자 제공 화면설계서 수정본 및 프로젝트 요구사항. 화면 Description은 목표 서비스 동작이며, 현재 시안 구현 현황은 구현 범위 페이지 참조.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ns2:creationId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2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3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5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6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7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8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image" Target="../media/image-10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0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image" Target="../media/image-11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1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image" Target="../media/image-12-1.png" /><Relationship Id="rId2" Type="http://schemas.openxmlformats.org/officeDocument/2006/relationships/image" Target="../media/image-12-2.png" /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12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image" Target="../media/image-13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3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image" Target="../media/image-14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4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image" Target="../media/image-15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5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image" Target="../media/image-16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6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image" Target="../media/image-17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7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image" Target="../media/image-18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18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image" Target="../media/image-20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0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image" Target="../media/image-21-1.png" /><Relationship Id="rId2" Type="http://schemas.openxmlformats.org/officeDocument/2006/relationships/image" Target="../media/image-21-2.png" /><Relationship Id="rId3" Type="http://schemas.openxmlformats.org/officeDocument/2006/relationships/image" Target="../media/image-21-3.png" /><Relationship Id="rId4" Type="http://schemas.openxmlformats.org/officeDocument/2006/relationships/slideLayout" Target="../slideLayouts/slideLayout1.xml" /><Relationship Id="rId5" Type="http://schemas.openxmlformats.org/officeDocument/2006/relationships/notesSlide" Target="../notesSlides/notesSlide21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image" Target="../media/image-22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2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image" Target="../media/image-23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3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image" Target="../media/image-24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4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image" Target="../media/image-25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5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image" Target="../media/image-26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6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image" Target="../media/image-27-1.png" /><Relationship Id="rId2" Type="http://schemas.openxmlformats.org/officeDocument/2006/relationships/image" Target="../media/image-27-2.png" /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27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image" Target="../media/image-28-1.png" /><Relationship Id="rId2" Type="http://schemas.openxmlformats.org/officeDocument/2006/relationships/slideLayout" Target="../slideLayouts/slideLayout1.xml" /><Relationship Id="rId3" Type="http://schemas.openxmlformats.org/officeDocument/2006/relationships/notesSlide" Target="../notesSlides/notesSlide28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image" Target="../media/image-29-1.png" /><Relationship Id="rId2" Type="http://schemas.openxmlformats.org/officeDocument/2006/relationships/image" Target="../media/image-29-2.png" /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29.xml" /><Relationship Id="rIdRevisedMake" Type="http://schemas.openxmlformats.org/officeDocument/2006/relationships/hyperlink" Target="https://www.figma.com/make/AlZOwKZXABo7G6BkUhTG03/Start-Task" TargetMode="External" /></Relationships>
</file>

<file path=ppt/slides/_rels/slide30.xml.rels><?xml version='1.0' encoding='utf-8'?>
<Relationships xmlns="http://schemas.openxmlformats.org/package/2006/relationships"><Relationship Id="rId3" Type="http://schemas.openxmlformats.org/officeDocument/2006/relationships/slideLayout" Target="../slideLayouts/slideLayout1.xml" /><Relationship Id="rId4" Type="http://schemas.openxmlformats.org/officeDocument/2006/relationships/notesSlide" Target="../notesSlides/notesSlide30.xml" /><Relationship Id="rIdScopeMakeEditor" Type="http://schemas.openxmlformats.org/officeDocument/2006/relationships/hyperlink" Target="https://www.figma.com/make/AlZOwKZXABo7G6BkUhTG03/Start-Task" TargetMode="External" /><Relationship Id="rIdScopePublishedPreview" Type="http://schemas.openxmlformats.org/officeDocument/2006/relationships/hyperlink" Target="https://blob-silver-16955234.figma.site" TargetMode="Externa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Relationship Id="rId2" Type="http://schemas.openxmlformats.org/officeDocument/2006/relationships/notesSlide" Target="../notesSlides/notesSlide31.xml" /></Relationships>
</file>

<file path=ppt/slides/slide1.xml><?xml version="1.0" encoding="utf-8"?>
<p:sld xmlns:a="http://schemas.openxmlformats.org/drawingml/2006/main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1143000"/>
            <a:ext cx="109728" cy="3566160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1417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화면설계서 · 스토리보드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19456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 비수기 상권 마케팅 캘린더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297180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PROJECT.md → Use Case Diagram → 화면설계서 → 구현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제주 지역별 방문·소비 데이터를 활용해 소상공인의 비수기 홍보 계획 수립을 돕는 서비스입니다.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  |  제주 비수기 상권 마케팅 캘린더  |  2026-09-27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이승보 · 김예원 · 김혜원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원칙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/ 작성 안내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601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9418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단위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9418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1장에 하나의 주요 화면을 작성합니다.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856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 연결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8562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화면에 관련 Actor와 Use Case ID/명을 반드시 기재합니다.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7889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770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설명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7706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입력·버튼·조회결과·팝업 등에 ①②③ 번호를 붙이고 우측에 동작을 설명합니다.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7033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설계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6850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정상뿐 아니라 조회결과 없음, 입력오류, 처리불가, 완료 등 필요한 상태를 설계합니다.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461772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45994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이동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4599432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[행위] → [처리] → [이동 화면] 형식으로 다음 동작을 명확히 적습니다.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5623560"/>
            <a:ext cx="107899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화면의 예쁜 디자인보다 “무엇을 입력하고 → 시스템이 무엇을 처리하고 → 어떤 결과/화면으로 이어지는가”를 우선합니다.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전체 메뉴 구조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사용자는 로그인한 사업체 운영자·서비스 운영자의 상위 Actor입니다. 로그인 → 메인 → 역할별 기능으로 이동합니다.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(상위 Actor)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1158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158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30886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468880"/>
            <a:ext cx="914" cy="8686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   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1440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728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사업체·서비스 운영자의 공통 기능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후 분석·제안 조회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34340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4340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사업체 운영자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96062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6062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05790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2468880"/>
            <a:ext cx="914" cy="17830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4632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4632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   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6344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4632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37947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46320" y="36118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46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 관리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663440" y="42519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846320" y="40690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84632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기록 입력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62940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434340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사업체의 계획·기록 관리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레이아웃·로그아웃: SCR-C-000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092440" y="1280160"/>
            <a:ext cx="342900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092440" y="1280160"/>
            <a:ext cx="342900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운영자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709660" y="1965960"/>
            <a:ext cx="2194560" cy="50292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09660" y="1965960"/>
            <a:ext cx="219456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/ 메인</a:t>
            </a:r>
            <a:endParaRPr lang="en-US" sz="10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→ SCR-C-002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9806940" y="173736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412480" y="2468880"/>
            <a:ext cx="914" cy="22402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2480" y="2468880"/>
            <a:ext cx="2971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12480" y="28803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595360" y="26974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8595360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   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1037844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8412480" y="33375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595360" y="31546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8595360" y="31546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10378440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8412480" y="37947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595360" y="36118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59536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 관리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10378440" y="36118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8412480" y="42519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595360" y="40690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8595360" y="40690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기록 입력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10378440" y="4069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8412480" y="4709160"/>
            <a:ext cx="18288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595360" y="4526280"/>
            <a:ext cx="2743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8595360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자료·기준 관리   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10378440" y="4526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8092440" y="548640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등록·검증과 추천 기준 관리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969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권한을 받은 사업체의 계획·기록만 처리</a:t>
            </a:r>
            <a:endParaRPr lang="en-US" sz="950" dirty="0"/>
          </a:p>
        </p:txBody>
      </p:sp>
      <p:sp>
        <p:nvSpPr>
          <p:cNvPr id="86" name="Text 84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상세 구조 · 사업체 운영자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사업체 운영자 메뉴별 하위 화면(팝업·패널·상태)입니다. 각 메뉴는 사이드바에서 직접 진입할 수 있습니다.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D7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· 입력 오류 상태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4476" y="169164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메인(한눈에 보기)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 · 로그아웃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SCR-C-000 · 모든 화면 공통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74636" y="2103120"/>
            <a:ext cx="5486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4476" y="233172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9052" y="2560320"/>
            <a:ext cx="9070848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59052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6636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방문·계절 비교 탭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7804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26364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" y="453542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804" y="453542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없음 상태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82668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40252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540252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649980" y="3273552"/>
            <a:ext cx="914" cy="39319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9980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41420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1420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상세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SCR-C-004-P01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606284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63868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63868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673596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673596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765036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765036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작성·수정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SCR-B-001-P01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673596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65036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765036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 상태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0629900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587484" y="2743200"/>
            <a:ext cx="2084832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587484" y="2743200"/>
            <a:ext cx="2084832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기록 입력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697212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97212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788652" y="343814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788652" y="343814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입력·수정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SCR-B-002-P01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9697212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788652" y="3986784"/>
            <a:ext cx="1883664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788652" y="3986784"/>
            <a:ext cx="1883664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결과 요약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SCR-B-002-P02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16636" y="5532120"/>
            <a:ext cx="1115568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532120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조회·추천 근거 → 일정에 담기 → SCR-B-001-P01  |  일정 카드 → 기록 입력 → SCR-B-002-P01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화면구성도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/ 상세 구조 · 서비스 운영자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운영자는 자료·기준을 관리하며, 권한을 받은 사업체의 일정·기록에만 접근합니다.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solidFill>
            <a:srgbClr val="263E5C"/>
          </a:solidFill>
          <a:ln w="9525">
            <a:solidFill>
              <a:srgbClr val="263E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14316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3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D7DE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SCR-C-001 · 입력 오류 상태 포함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4476" y="169164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solidFill>
            <a:srgbClr val="EFF3F7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14316" y="1874520"/>
            <a:ext cx="256032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메인(한눈에 보기)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23276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레이아웃 · 로그아웃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SCR-C-000 · 모든 화면 공통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374636" y="2103120"/>
            <a:ext cx="5486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4476" y="2331720"/>
            <a:ext cx="914" cy="22860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0076" y="2560320"/>
            <a:ext cx="944880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700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66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분석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78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방문·계절 비교 탭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78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78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26364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7804" y="453542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17804" y="453542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없음 상태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7322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88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8788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988564" y="3273552"/>
            <a:ext cx="914" cy="39319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885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800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0800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상세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SCR-C-004-P01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60944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410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410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홍보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일정표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350764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507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4422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422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작성·수정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SCR-B-001-P01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53507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4422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4422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 상태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4566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032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6032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기록 입력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712964" y="3273552"/>
            <a:ext cx="914" cy="94183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129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44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8044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입력·수정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SCR-B-002-P01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7129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8044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8044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결과 요약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SCR-B-002-P02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10818876" y="2560320"/>
            <a:ext cx="914" cy="182880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965436" y="2743200"/>
            <a:ext cx="170688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9AA7B5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965436" y="2743200"/>
            <a:ext cx="1706880" cy="53035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자료·기준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10075164" y="3273552"/>
            <a:ext cx="914" cy="1490472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75164" y="366674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166604" y="343814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66604" y="343814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 검증 결과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SCR-A-001-P01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75164" y="421538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66604" y="398678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0166604" y="398678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 상태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10075164" y="4764024"/>
            <a:ext cx="91440" cy="914"/>
          </a:xfrm>
          <a:prstGeom prst="line">
            <a:avLst/>
          </a:prstGeom>
          <a:noFill/>
          <a:ln w="12700">
            <a:solidFill>
              <a:srgbClr val="A8B3B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66604" y="4535424"/>
            <a:ext cx="1505712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C9D3D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10166604" y="4535424"/>
            <a:ext cx="1505712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기준·근거 편집</a:t>
            </a:r>
            <a:endParaRPr lang="en-US" sz="8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SCR-A-001-P02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16636" y="5532120"/>
            <a:ext cx="1115568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5532120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자료·기준 관리는 서비스 운영자 전용  |  일정·기록은 권한을 받은 사업체만 처리  |  CSV 검증 통과 후 등록</a:t>
            </a:r>
            <a:endParaRPr lang="en-US" sz="1050" dirty="0"/>
          </a:p>
        </p:txBody>
      </p:sp>
      <p:sp>
        <p:nvSpPr>
          <p:cNvPr id="74" name="Text 72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microsoft.com/office/powerpoint/2010/main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(1/4)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SCR-C-000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레이아웃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후 모든 화면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메뉴·로그아웃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 (보조 화면)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인증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UC01·UC02·UC03·UC10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분석·제안·일정 요약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 분석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방문·계절 탭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소비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UC10 자료 출처·기준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결과와 상시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필수·운영 지원 UC01부터 UC05까지, UC07부터 UC10까지 화면에 연결했습니다. 사용자 = 사업체·서비스 운영자의 상위 Actor.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microsoft.com/office/powerpoint/2010/main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(2/4)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시기·대상·상품·관광지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UC10 자료 출처·기준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제안별 출처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UC10 자료 출처·기준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조회 &gt; 추천 근거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부모 화면 내 기능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필수·운영 지원 UC01부터 UC05까지, UC07부터 UC10까지 화면에 연결했습니다. 사용자 = 사업체·서비스 운영자의 상위 Actor.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microsoft.com/office/powerpoint/2010/main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(3/4)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범위의 월별 계획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관리 &gt; 계획 작성·수정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작성·수정·삭제·저장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계획별 기록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 진입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 기록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 &gt; 기록 입력·수정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시간·채택·실행·결과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필수·운영 지원 UC01부터 UC05까지, UC07부터 UC10까지 화면에 연결했습니다. 사용자 = 사업체·서비스 운영자의 상위 Actor.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microsoft.com/office/powerpoint/2010/main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화면 목록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/ Screen List (4/4)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74980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ID: C 공통 · B 사업체 계획·기록 업무군 · A 자료·기준 관리 · Pnn 팝업/패널. 서비스 운영자의 B 화면 접근은 권한을 받은 사업체로 제한합니다.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94360" y="1234440"/>
          <a:ext cx="1101852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143000"/>
                <a:gridCol w="1005840"/>
                <a:gridCol w="1645920"/>
                <a:gridCol w="2834640"/>
                <a:gridCol w="1920240"/>
                <a:gridCol w="1325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Use Case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E5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 &gt; 사용 결과 요약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계획·실행 비교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선택·정보 입력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UC08 자료 기준·누락값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5개 항목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저장 후 제안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UC08 자료 기준·누락값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후 등록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SCR-A-001-P02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기준·근거 편집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추천 기준·근거 편집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후 제안 재계산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5532120"/>
            <a:ext cx="110185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532120"/>
            <a:ext cx="10652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필수·운영 지원 UC01부터 UC05까지, UC07부터 UC10까지 화면에 연결했습니다. 사용자 = 사업체·서비스 운영자의 상위 Actor.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01 · 로그인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(공통 접근 보조 화면)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login | Figma Make screenshot | https://blob-silver-16955234.figma.site/#login" title="login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630" y="1389888"/>
            <a:ext cx="5430804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69630" y="1389888"/>
            <a:ext cx="5430804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선택 → 계정의 접근 역할 지정 → 이메일·비밀번호 입력 대기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입력 → 필수값·형식 검사 → 오류 시 입력란 아래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입력 → 필수값 검사 → 로그인 요청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보기 아이콘 클릭 → 입력값은 유지하고 표시 전환 → 비밀번호 보기·숨김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클릭 → 서버에서 계정·역할 인증 → 성공 시 SCR-C-002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 오류·인증 실패 시 입력 화면을 유지하고 원인을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인증 완료 후 허용된 메뉴만 표시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→ 계정·역할 인증 → SCR-C-002 한눈에 보기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4093382" y="30844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093382" y="30844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4093382" y="354177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4093382" y="354177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4093382" y="394397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4093382" y="394397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5612311" y="395670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5612311" y="39567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4093382" y="425370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4093382" y="425370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02 · 로그인 · 입력 오류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· 입력 오류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(공통 접근 보조 화면)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login-error | Figma Make screenshot | https://blob-silver-16955234.figma.site/#login" title="login-error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32" y="1389888"/>
            <a:ext cx="3160800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104632" y="1389888"/>
            <a:ext cx="3160800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이메일로 로그인 클릭 → 필수값 검사 실패 → 오류 문구 표시·이메일로 초점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 수정 후 로그인 클릭 → 입력값 재검사·계정 인증 → 성공 시 SCR-C-002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Shape 1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 오류 시 다른 입력값은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인증 실패 시 계정 정보 확인을 안내하고 로그인을 완료하지 않음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□ 처리불가   □ 완료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000" name="Text 1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수정 후 로그인 → 재검사·인증 → SCR-C-002 한눈에 보기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2150618" y="450101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150618" y="450101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150618" y="340300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150618" y="340300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03 · 공통 레이아웃 (사이드바·상단바)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레이아웃 (사이드바·상단바)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UC 없음 (로그인 후 공통 영역)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 후 모든 화면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common-layout | Figma Make screenshot | https://blob-silver-16955234.figma.site/#overview" title="common-layout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893237"/>
            <a:ext cx="4142232" cy="323611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3504" y="1893237"/>
            <a:ext cx="4142232" cy="3236119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2777885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클릭 시 팝업 (실제 캡처)</a:t>
            </a:r>
            <a:endParaRPr lang="en-US" sz="750" dirty="0"/>
          </a:p>
        </p:txBody>
      </p:sp>
      <p:pic>
        <p:nvPicPr>
          <p:cNvPr id="34" name="Image 1" descr="logout-confirm | Figma Make screenshot | https://blob-silver-16955234.figma.site/#overview" title="logout-confirm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072205"/>
            <a:ext cx="1901952" cy="731878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4846320" y="3072205"/>
            <a:ext cx="1901952" cy="731878"/>
          </a:xfrm>
          <a:prstGeom prst="rect">
            <a:avLst/>
          </a:prstGeom>
          <a:ln w="12700">
            <a:solidFill>
              <a:srgbClr val="D73737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접기 클릭 → 메뉴를 아이콘형으로 전환 → 본문 영역 확대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경계 드래그·방향키 입력 → 메뉴 폭 조절 → 설정 저장·화면 재배치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초기화 클릭 → 사용자 메뉴 폭 설정 해제 → 기본 폭 복원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 클릭 → 선택 지역 유지 → SCR-C-002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클릭 → 선택 지역 유지 → SCR-C-003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조회 클릭 → 선택 지역 유지 → SCR-C-004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 관리 클릭 → 권한 내 계획 조회 → SCR-B-001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기록 입력 클릭 → 권한 내 기록 조회 → SCR-B-002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계정 영역 클릭 → 로그아웃 의사 확인 → 로그아웃 확인 팝업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로그아웃 클릭 → 종료 의사 확인 요청 → 로그아웃 확인 팝업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도움말 클릭 → 이용 방법 조회 → 도움말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취소·✕ 클릭 → 로그아웃 취소 → 현재 화면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클릭 → 로그인 세션 해제 → SCR-C-001 로그인 이동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4" name="Shape 38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자료·기준 관리(SCR-A-001)는 서비스 운영자에게만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계획·기록은 본인 또는 관리 권한을 받은 사업체만 접근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모바일에서는 서랍 메뉴로 이동</a:t>
            </a:r>
            <a:endParaRPr lang="en-US" sz="800" dirty="0"/>
          </a:p>
        </p:txBody>
      </p:sp>
      <p:sp>
        <p:nvSpPr>
          <p:cNvPr id="46" name="Shape 4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8" name="Text 4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■ 완료</a:t>
            </a:r>
            <a:endParaRPr lang="en-US" sz="900" dirty="0"/>
          </a:p>
        </p:txBody>
      </p:sp>
      <p:sp>
        <p:nvSpPr>
          <p:cNvPr id="49" name="Text 4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50" name="Text 4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 확인 → 세션 해제 → SCR-C-001 로그인</a:t>
            </a:r>
            <a:endParaRPr lang="en-US" sz="900" dirty="0"/>
          </a:p>
        </p:txBody>
      </p:sp>
      <p:sp>
        <p:nvSpPr>
          <p:cNvPr id="52" name="Text 4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1405233" y="190049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405233" y="190049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269316" y="209099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269316" y="209099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083795" y="25696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083795" y="25696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603504" y="28077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603504" y="28077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603504" y="2998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603504" y="2998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603504" y="31887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603504" y="31887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603504" y="3379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603504" y="3379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603504" y="35697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603504" y="35697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603504" y="467294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603504" y="467294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603504" y="487610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603504" y="487610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4217420" y="189402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217420" y="189402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024" name="Callout 12 circle"/>
          <p:cNvSpPr/>
          <p:nvPr/>
        </p:nvSpPr>
        <p:spPr>
          <a:xfrm>
            <a:off x="6448231" y="312063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6448231" y="31206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026" name="Callout 13 circle"/>
          <p:cNvSpPr/>
          <p:nvPr/>
        </p:nvSpPr>
        <p:spPr>
          <a:xfrm>
            <a:off x="6315267" y="354147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7" name="Callout 13 number"/>
          <p:cNvSpPr txBox="1"/>
          <p:nvPr/>
        </p:nvSpPr>
        <p:spPr>
          <a:xfrm>
            <a:off x="6315267" y="354147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04 · 한눈에 보기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보기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UC01·UC02·UC03·UC10 (진입·요약)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메인(한눈에 보기)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overview | Figma Make screenshot | https://blob-silver-16955234.figma.site/#overview" title="overview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6912" y="1389888"/>
            <a:ext cx="4116240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26912" y="1389888"/>
            <a:ext cx="4116240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해당 지역 분석·제안 조회 → 관련 화면에 같은 조건 적용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연도 확인 → 조회 자료의 기간 표시 → 결과의 자료 기준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선택 → 해당 지표 조회 → 그래프 표시·자료 없으면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 표 보기 클릭 → 그래프 값을 표로 변환 → 월별 표 펼침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클릭 → 출처·기간·집계 기준 조회 →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제안 클릭 → 선택 지역 유지 → SCR-C-004 홍보 제안 조회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요약 확인 → 지역별 제안 조회 → 시기·대상·판단 이유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요약 클릭 → 권한 내 계획 조회 → SCR-B-001 이동·계획 없으면 추가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00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 없음은 0으로 대체하지 않고 조건 변경을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 요약은 본인 또는 관리 권한을 받은 사업체의 계획만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메뉴·로그아웃은 SCR-C-000 참조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제안 → SCR-C-004 / 일정 요약 → SCR-B-001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1992167" y="202904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992167" y="20290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295301" y="199315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295301" y="199315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4993966" y="233218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4993966" y="233218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746868" y="355818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746868" y="35581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5101285" y="378627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5101285" y="378627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5108015" y="457103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5108015" y="45710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1647153" y="480387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1647153" y="480387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1647153" y="408941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1647153" y="40894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05 · 지역 분석 · 방문과 계절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방문과 계절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 분석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analysis-visits | Figma Make screenshot | https://blob-silver-16955234.figma.site/#analysis" title="analysis-visits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8261" y="1389888"/>
            <a:ext cx="4013542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678261" y="1389888"/>
            <a:ext cx="4013542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2000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같은 기간의 방문 자료 조회 → 그래프·지역 비교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 선택 → 자료 보유 여부 확인 → 결과 또는 자료 없음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 클릭 → 지역·연도 유지 → 소비 비교 탭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지도에서 지역 클릭 → 분석 지역 변경 → 그래프·비교 표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추이 확인 → 월별 방문 집계 → 최다·최저 방문 구간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선택 → 해당 지표 조회 → 단위에 맞춰 그래프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 표 보기 클릭 → 그래프 값을 표로 변환 → 월별 표 펼침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클릭 → 출처·기간·집계 기준 조회 →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비교 표 확인 → 같은 기준으로 계절별 집계 → 지역별 최다·최저 월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Shape 26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지역 방문 집계는 개별 가게의 실제 손님 수가 아님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자료가 없는 조건은 자료 없음 상태로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지도는 지역 선택을 위한 위치 개념도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36" name="Text 31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7" name="Text 32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 비교 탭 클릭 → 조건 유지 → SCR-C-003 소비 비교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2032122" y="201082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032122" y="20108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664099" y="201082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664099" y="20108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064693" y="223249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064693" y="223249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796832" y="285858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796832" y="285858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3328465" y="301025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3328465" y="3010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4951189" y="25856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4951189" y="25856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328465" y="38351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328465" y="38351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5063608" y="407307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5063608" y="407307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1695716" y="454577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1695716" y="454577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06 · 지역 분석 · 소비 비교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소비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소비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analysis-consumption | Figma Make screenshot | https://blob-silver-16955234.figma.site/#analysis" title="analysis-consumption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785" y="1389888"/>
            <a:ext cx="4310494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529785" y="1389888"/>
            <a:ext cx="4310494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지역·연도 선택 → 같은 조건의 소비 자료 조회 → 비교 표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소비 비교 탭 클릭 → 해당 조건의 자료 조회 → 방문·소비·고객 구분 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방문·소비 표 확인 → 같은 월 지표를 단위별로 표시 → 없는 값은 미확보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내·외국인 비교 확인 → 제공자·집계 기준 검사 → 일치 시 비교·불일치 시 비교 제한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시간대별 표 확인 → 같은 기준의 소비 분포 집계 → 시간대별 비중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확인 → 출처·기간·단위 표시 → 비교 가능 범위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0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UC02 정의에 포함된 방문·소비 비교를 이 탭에서 수행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자료가 없으면 결과 없음, 제공자·집계 기준이 다르면 비교 제한 사유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방문·소비는 모집단이 달라 구매전환율·1인당 소비액을 계산하지 않음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■ 처리불가   □ 완료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000" name="Text 26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홍보 제안 조회 클릭 → 조건 유지 → SCR-C-004 홍보 제안 조회</a:t>
            </a:r>
            <a:endParaRPr lang="en-US" sz="900" dirty="0"/>
          </a:p>
        </p:txBody>
      </p:sp>
      <p:sp>
        <p:nvSpPr>
          <p:cNvPr id="33" name="Text 27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1555296" y="202593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555296" y="202593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951182" y="23016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951182" y="23016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663894" y="297401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663894" y="297401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663894" y="37982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663894" y="37982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3618653" y="37982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3618653" y="37982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1663894" y="39887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1663894" y="39887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07 · 지역 분석 · 자료 없음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분석 · 자료 없음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UC01 지역별 방문 분석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지역 분석 &gt; 방문·계절 비교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analysis-empty | Figma Make screenshot | https://blob-silver-16955234.figma.site/#analysis" title="analysis-empty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615493"/>
            <a:ext cx="6199632" cy="37916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" y="1615493"/>
            <a:ext cx="6199632" cy="3791605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자료가 없는 지역·연도 선택 → 자료 미보유 확인 → 그래프 대신 자료 없음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없음 안내 확인 → 조회 가능 연도 안내 → 조건 변경 후 SCR-C-003 재조회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00" name="Shape 12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 미확보를 실제 0명·0원으로 바꾸지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없는 수치를 생성하지 않고 조건 변경을 안내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■ 결과없음   □ 오류   □ 처리불가   □ 완료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변경 → 자료 재조회 → SCR-C-003 지역 분석</a:t>
            </a:r>
            <a:endParaRPr lang="en-US" sz="900" dirty="0"/>
          </a:p>
        </p:txBody>
      </p:sp>
      <p:sp>
        <p:nvSpPr>
          <p:cNvPr id="25" name="Text 1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2157825" y="262443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157825" y="262443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61983" y="336212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61983" y="336212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08 · 홍보 제안 조회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recommendations | Figma Make screenshot | https://blob-silver-16955234.figma.site/#recommendations" title="recommendations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4717" y="1389888"/>
            <a:ext cx="3620630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874717" y="1389888"/>
            <a:ext cx="3620630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선택 → 해당 지역 자료·기준으로 제안 조회 → 제안 카드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카드 확인 → 시기·대상·상품·관광지 제안 조회 → 항목별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이유 확인 → 적용 기준·출처·기간 조회 → 제안의 근거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클릭 → 선택 제안의 이유·조건 조회 → SCR-C-004-P01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일정에 담기 클릭 → 권한 확인·제안 정보 입력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조건에 맞는 제안이 없으면 결과 없음 안내·일정 담기 미제공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판매 가능성·예산·운영 조건은 사업체가 확인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일정에 담기는 본인 또는 관리 권한을 받은 사업체만 가능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근거 클릭 → 근거 조회 → SCR-C-004-P01 추천 근거 상세</a:t>
            </a:r>
            <a:endParaRPr lang="en-US" sz="900" dirty="0"/>
          </a:p>
        </p:txBody>
      </p:sp>
      <p:sp>
        <p:nvSpPr>
          <p:cNvPr id="2000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2184985" y="194108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2184985" y="194108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881511" y="269132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881511" y="26913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958695" y="394161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958695" y="39416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958695" y="473439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958695" y="473439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4816969" y="474141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4816969" y="47414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09 · 추천 근거 상세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SCR-C-004-P01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근거 상세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UC02 홍보 제안 조회 · UC10 자료 출처·기준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홍보 제안 조회 &gt; 추천 근거 상세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evidence | Figma Make screenshot | https://blob-silver-16955234.figma.site/#recommendations" title="evidence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0442" y="1389888"/>
            <a:ext cx="3009181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180442" y="1389888"/>
            <a:ext cx="3009181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클릭·Esc 입력 → 패널 닫기 → 호출한 추천 근거 버튼으로 초점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패널 열기 → 선택 제안 조회 → 제목·홍보 시기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과거 흐름 확인 → 관측값·출처 조회 → 해당 지역·기간 자료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조건 확인 → 확인된 조건과 미확인 조건 구분 → 추가 확인 항목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행동 확인 → 제안을 실행 항목으로 정리 → 계획 월·준비 내용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출처·기준 클릭 → 출처·집계 기준 조회 →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일정에 담기 클릭 → 권한·기존 계획 확인 → SCR-B-001-P01 작성 또는 수정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Shape 2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명시적 저장 전까지 일정은 변경되지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이미 담은 제안은 기존 계획 수정으로 연결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권한이 없는 사업체에는 일정 작성 기능을 제공하지 않음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□ 완료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5" name="Text 3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일정에 담기 → 권한·기존 계획 확인 → SCR-B-001-P01 계획 작성·수정</a:t>
            </a:r>
            <a:endParaRPr lang="en-US" sz="900" dirty="0"/>
          </a:p>
        </p:txBody>
      </p:sp>
      <p:sp>
        <p:nvSpPr>
          <p:cNvPr id="2000" name="Text 3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4702859" y="156746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702859" y="156746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195208" y="23297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195208" y="23297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195208" y="265304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195208" y="265304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195208" y="333858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195208" y="33385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195208" y="407926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195208" y="407926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3688735" y="521794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3688735" y="52179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219859" y="521794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219859" y="52179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10 · 3개월 홍보 일정표 관리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calendar | Figma Make screenshot | https://blob-silver-16955234.figma.site/#calendar" title="calendar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671" y="1389888"/>
            <a:ext cx="5616722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76671" y="1389888"/>
            <a:ext cx="5616722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계획 추가 클릭 → 빈 계획 폼 준비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제안 조회 클릭 → 선택 지역 유지 → SCR-C-004 이동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월별 계획 카드 확인 → 권한 내 저장된 계획 조회 → 날짜·채널·준비 내용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수정 클릭 → 저장된 값 조회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 클릭 → 선택 계획 연결 →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계획 추가 클릭 → 해당 월 날짜 미리 입력 → SCR-B-001-P01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없는 달 확인 → 빈 목록 확인 → 안내 문구·계획 추가 버튼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작성·수정·삭제·저장 결과는 SCR-B-001-P01에서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 화면은 저장된 월별 목록과 빈 상태를 표시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추가·수정 → 입력 폼 준비 → SCR-B-001-P01 계획 작성·수정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5458434" y="163588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5458434" y="16358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594498" y="224638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594498" y="224638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024703" y="310410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024703" y="310410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1122670" y="379845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1122670" y="379845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089745" y="379845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089745" y="379845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4573253" y="362216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4573253" y="362216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573253" y="310410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573253" y="310410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11 · 계획 작성·수정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관리 &gt; 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plan-edit | Figma Make screenshot | https://blob-silver-16955234.figma.site/#calendar" title="plan-edit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697608"/>
            <a:ext cx="4142232" cy="36273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3504" y="1697608"/>
            <a:ext cx="4142232" cy="362737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0" y="2434985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계획 삭제 클릭 시 팝업</a:t>
            </a:r>
            <a:endParaRPr lang="en-US" sz="750" dirty="0"/>
          </a:p>
        </p:txBody>
      </p:sp>
      <p:pic>
        <p:nvPicPr>
          <p:cNvPr id="26" name="Image 1" descr="plan-delete-confirm | Figma Make screenshot | https://blob-silver-16955234.figma.site/#calendar" title="plan-delete-confirm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729305"/>
            <a:ext cx="1901952" cy="73187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846320" y="2729305"/>
            <a:ext cx="1901952" cy="731878"/>
          </a:xfrm>
          <a:prstGeom prst="rect">
            <a:avLst/>
          </a:prstGeom>
          <a:ln w="12700">
            <a:solidFill>
              <a:srgbClr val="D7373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370621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저장 성공 시 토스트</a:t>
            </a:r>
            <a:endParaRPr lang="en-US" sz="750" dirty="0"/>
          </a:p>
        </p:txBody>
      </p:sp>
      <p:pic>
        <p:nvPicPr>
          <p:cNvPr id="33" name="Image 2" descr="plan-saved | Figma Make screenshot | https://blob-silver-16955234.figma.site/#calendar" title="plan-saved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000536"/>
            <a:ext cx="1901952" cy="6125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846320" y="4000536"/>
            <a:ext cx="1901952" cy="612576"/>
          </a:xfrm>
          <a:prstGeom prst="rect">
            <a:avLst/>
          </a:prstGeom>
          <a:ln w="12700">
            <a:solidFill>
              <a:srgbClr val="D73737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변경 내용 저장 취소 → 팝업 닫고 SCR-B-001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제목 입력 → 공백·길이 검사 → 오류 시 입력란에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예정 날짜 선택 → 3개월 범위 검사 → 범위 밖이면 저장 차단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홍보 채널 선택 → 선택값 반영 → 저장 후 일정 카드에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준비 내용 입력 → 상품·준비사항 반영 → 계획에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삭제 클릭 → 삭제 의사 확인 요청 → 삭제 확인 팝업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변경 내용 저장 취소 → SCR-B-001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클릭 → 권한·입력 검사 후 서버 저장 → 팝업 닫고 목록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확인 취소·✕ 클릭 → 삭제 취소 → 계획 수정 팝업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클릭 → 권한 확인 후 계획 삭제 → SCR-B-001 목록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성공 → 완료 메시지 생성 → 계획 저장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1" name="Shape 3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 오류는 해당 필드에 표시하고 입력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저장 실패는 다음 페이지에서 설명</a:t>
            </a:r>
            <a:endParaRPr lang="en-US" sz="800" dirty="0"/>
          </a:p>
        </p:txBody>
      </p:sp>
      <p:sp>
        <p:nvSpPr>
          <p:cNvPr id="2000" name="Shape 3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5" name="Text 3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46" name="Text 3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7" name="Text 4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→ 권한·입력 검사·서버 저장 → SCR-B-001 목록 갱신</a:t>
            </a:r>
            <a:endParaRPr lang="en-US" sz="900" dirty="0"/>
          </a:p>
        </p:txBody>
      </p:sp>
      <p:sp>
        <p:nvSpPr>
          <p:cNvPr id="49" name="Text 4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4199987" y="1910781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199987" y="191078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32322" y="26817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32322" y="26817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632322" y="32842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632322" y="32842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576499" y="328425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576499" y="328425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632322" y="38867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632322" y="38867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632322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632322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449416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449416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888171" y="486076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888171" y="48607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6448231" y="277773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6448231" y="277773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6315267" y="319857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6315267" y="319857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4846320" y="406617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846320" y="406617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12 · 계획 작성 · 저장 실패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계획 작성 · 저장 실패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UC03 3개월 홍보 일정표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3개월 홍보 일정표 관리 &gt; 계획 작성·수정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plan-save-error | Figma Make screenshot | https://blob-silver-16955234.figma.site/#calendar" title="plan-save-error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6040" y="1389888"/>
            <a:ext cx="4437984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466040" y="1389888"/>
            <a:ext cx="4437984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내용 확인·수정 → 실패 전 입력값 유지 → 계획 작성 폼에서 재시도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확인 → 완료 처리 없이 기존 저장본 유지 → 저장 실패·재시도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저장 클릭 → 권한·입력 재검사 후 저장 → 성공 시 SCR-B-001 목록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실패 시 작성 완료로 표시하지 않고 입력 유지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재시도 성공 후에만 목록 갱신·완료 안내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000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□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저장 → 재검사·서버 저장 → SCR-B-001 목록 갱신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1503445" y="245078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503445" y="245078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503445" y="461362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503445" y="461362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4991758" y="514186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4991758" y="51418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13 · 사용 기록 입력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기록 입력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 기록 입력 · UC05 계획 이행 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records | Figma Make screenshot | https://blob-silver-16955234.figma.site/#records" title="records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456767"/>
            <a:ext cx="6199632" cy="410905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" y="1456767"/>
            <a:ext cx="6199632" cy="410905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000" name="Shape 2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카드 확인 → 계획·기록 수 집계 → 작성·실행·미기록 수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 클릭 → 권한 내 입력 기록 집계 → SCR-B-002-P02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목록 확인 → 계획별 기록 조회 → 없으면 계획 추가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수정 클릭 → 저장된 기록 조회 →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 클릭 → 선택 계획 연결 → 빈 SCR-B-002-P01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저장 성공 → 목록·요약 갱신 →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미기록은 실행 실패로 처리하지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빈값은 미확보, 숫자 0은 실제 확인한 0건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1" name="Text 2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■ 완료</a:t>
            </a:r>
            <a:endParaRPr lang="en-US" sz="900" dirty="0"/>
          </a:p>
        </p:txBody>
      </p:sp>
      <p:sp>
        <p:nvSpPr>
          <p:cNvPr id="32" name="Text 2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3" name="Text 2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입력·수정 → 선택 계획 조회 → SCR-B-002-P01 기록 입력·수정</a:t>
            </a:r>
            <a:endParaRPr lang="en-US" sz="900" dirty="0"/>
          </a:p>
        </p:txBody>
      </p:sp>
      <p:sp>
        <p:nvSpPr>
          <p:cNvPr id="35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661983" y="241164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61983" y="241164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651970" y="173778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651970" y="173778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667990" y="341469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667990" y="341469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5880438" y="360092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5880438" y="360092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5880438" y="419565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5880438" y="419565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290503" y="524131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290503" y="524131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14 · 기록 입력·수정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입력·수정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UC04 사용 기록 입력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 &gt; 기록 입력·수정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record-edit | Figma Make screenshot | https://blob-silver-16955234.figma.site/#records" title="record-edit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4574" y="1389888"/>
            <a:ext cx="3100916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2134574" y="1389888"/>
            <a:ext cx="3100916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입력 저장 취소 → 팝업 닫고 SCR-B-002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소요 시간 입력 → 음수·범위 검사 → 빈값은 미측정으로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채택 여부 선택 → 선택값을 계획과 연결 → 자동 추정 없이 저장 준비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여부 선택 → 실행 여부에 맞춰 필수값 설정 → 날짜 입력 조건 변경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날짜 입력 → 실행한 경우 날짜 검사 → 오류 시 입력란에 안내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활동 입력 → 예정 활동과 구분 → 실제 실행 기록에 포함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 수 입력 → 비음수 정수 검사 → 빈값은 미확보·0은 실제 0건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예약 수 입력 → 비음수 정수 검사 → 빈값은 미확보로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쿠폰 사용 수 입력 → 비음수 정수 검사 → 빈값은 미확보로 유지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결과·수집 방법 입력 → 기록과 연결 → 사용 결과 해석에 활용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입력 저장 취소 → SCR-B-002 복귀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저장 클릭 → 권한·입력 검사 후 서버 저장 → 성공 시 목록 갱신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미실행이면 실행 날짜는 필수가 아님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오류·저장 실패 시 입력 유지, 미확보를 0으로 대체하지 않음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1" name="Text 36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42" name="Text 37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저장 → 권한·입력 검사·서버 저장 → SCR-B-002 사용 기록 입력</a:t>
            </a:r>
            <a:endParaRPr lang="en-US" sz="900" dirty="0"/>
          </a:p>
        </p:txBody>
      </p:sp>
      <p:sp>
        <p:nvSpPr>
          <p:cNvPr id="45" name="Text 3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4803950" y="152648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4803950" y="152648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2134574" y="21036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2134574" y="21036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3588591" y="210360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3588591" y="21036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2134574" y="255467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2134574" y="25546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2134574" y="300379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2134574" y="30037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134574" y="345486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134574" y="345486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2134574" y="408200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2134574" y="40820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103447" y="408200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103447" y="40820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4073734" y="408200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4073734" y="408200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2134574" y="465404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2134574" y="465404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4245347" y="52621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4245347" y="52621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024" name="Callout 12 circle"/>
          <p:cNvSpPr/>
          <p:nvPr/>
        </p:nvSpPr>
        <p:spPr>
          <a:xfrm>
            <a:off x="4573803" y="52621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4573803" y="52621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15 · 사용 결과 요약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SCR-B-002-P02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결과 요약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사업체 운영자 · 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UC05 계획 이행 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사용 기록 입력 &gt; 사용 결과 요약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summary | Figma Make screenshot | https://blob-silver-16955234.figma.site/#records" title="summary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2804" y="1389888"/>
            <a:ext cx="4424455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472804" y="1389888"/>
            <a:ext cx="4424455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열기 → 권한 내 기록을 집계 → 계획·채택·시간·실행 결과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닫기 클릭 → 요약 팝업 닫기 → SCR-B-002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요약 팝업 닫기 → SCR-B-002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서비스 운영자는 관리 권한을 받은 사업체의 계획·기록만 처리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기록이 없으면 기록 없음과 입력 화면 이동 안내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미확보는 그대로 표시하며 매출 증가·인과 효과를 추정하지 않음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■ 결과없음   □ 오류   □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 → 요약 종료 → SCR-B-002 사용 기록 입력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1472804" y="207763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1472804" y="207763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5165901" y="514308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5165901" y="514308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5320557" y="1623815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5320557" y="1623815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16 · 자료·기준 관리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자료·기준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 · UC08 자료 기준·누락값 검증 · UC09 추천 기준·근거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data-admin | Figma Make screenshot | https://blob-silver-16955234.figma.site/#data" title="data-admin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87" y="1389888"/>
            <a:ext cx="5541089" cy="42428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14487" y="1389888"/>
            <a:ext cx="5541089" cy="4242816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양식 다운로드 클릭 → 등록 양식 제공 → 파일 저장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파일 선택 → 확장자·크기 검사 → 파일명 또는 오류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출처·버전 입력 → 자료 식별 정보 검사 → 검증 정보에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시작일 입력 → 날짜 형식 검사 → 기준기간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종료일 입력 → 날짜·선후 관계 검사 → 기준기간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단위 선택 → 허용 단위 확인 → 집계 기준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제공자·집계 기준 입력 → 필수값 확인 → 비교 가능성 검증에 반영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형식 안내 클릭 → 필수 열·작성 규칙 조회 → 안내 펼침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검증 클릭 → 선택 파일의 5개 항목 검사 → SCR-A-001-P01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등록 클릭 → 검증·권한 확인 후 서버 저장 → 등록 자료 수 갱신·완료 알림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⑪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항목 확인 → 기간·집계·지역·누락·제공 기준 판정 → 항목별 상태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⑫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기준·근거 수정 클릭 → 현재 기준 조회 → SCR-A-001-P02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 확인 → 적용 기준·등록 자료 조회 → 현재 기준 요약 표시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9" name="Shape 34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실패·미확인 항목이 있으면 등록 차단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파일·기준 변경 시 이전 검증 결과 무효화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등록 실패 시 입력·검증 결과를 유지하고 재시도 안내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■ 처리불가   ■ 완료</a:t>
            </a:r>
            <a:endParaRPr lang="en-US" sz="900" dirty="0"/>
          </a:p>
        </p:txBody>
      </p:sp>
      <p:sp>
        <p:nvSpPr>
          <p:cNvPr id="44" name="Text 3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검증 → 5개 항목 검사 → SCR-A-001-P01 CSV 검증 결과</a:t>
            </a:r>
            <a:endParaRPr lang="en-US" sz="900" dirty="0"/>
          </a:p>
        </p:txBody>
      </p:sp>
      <p:sp>
        <p:nvSpPr>
          <p:cNvPr id="47" name="Text 4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5297413" y="1631343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5297413" y="1631343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1112988" y="2928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1112988" y="2928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2770248" y="2928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2770248" y="2928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4427591" y="292827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4427591" y="292827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1112988" y="34823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1112988" y="34823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2770248" y="34823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2770248" y="34823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4427591" y="34823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4427591" y="34823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1112988" y="389893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1112988" y="389893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1112988" y="409542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1112988" y="40954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020" name="Callout 10 circle"/>
          <p:cNvSpPr/>
          <p:nvPr/>
        </p:nvSpPr>
        <p:spPr>
          <a:xfrm>
            <a:off x="1533553" y="409542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1" name="Callout 10 number"/>
          <p:cNvSpPr txBox="1"/>
          <p:nvPr/>
        </p:nvSpPr>
        <p:spPr>
          <a:xfrm>
            <a:off x="1533553" y="40954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022" name="Callout 11 circle"/>
          <p:cNvSpPr/>
          <p:nvPr/>
        </p:nvSpPr>
        <p:spPr>
          <a:xfrm>
            <a:off x="1112988" y="472253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3" name="Callout 11 number"/>
          <p:cNvSpPr txBox="1"/>
          <p:nvPr/>
        </p:nvSpPr>
        <p:spPr>
          <a:xfrm>
            <a:off x="1112988" y="472253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024" name="Callout 12 circle"/>
          <p:cNvSpPr/>
          <p:nvPr/>
        </p:nvSpPr>
        <p:spPr>
          <a:xfrm>
            <a:off x="5291037" y="516247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5" name="Callout 12 number"/>
          <p:cNvSpPr txBox="1"/>
          <p:nvPr/>
        </p:nvSpPr>
        <p:spPr>
          <a:xfrm>
            <a:off x="5291037" y="51624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026" name="Callout 13 circle"/>
          <p:cNvSpPr/>
          <p:nvPr/>
        </p:nvSpPr>
        <p:spPr>
          <a:xfrm>
            <a:off x="1112988" y="505106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7" name="Callout 13 number"/>
          <p:cNvSpPr txBox="1"/>
          <p:nvPr/>
        </p:nvSpPr>
        <p:spPr>
          <a:xfrm>
            <a:off x="1112988" y="505106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17 · CSV 검증 결과 · 통과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 · 통과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UC07 CSV 자료 등록 · UC08 자료 기준·누락값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csv-validation | Figma Make screenshot | https://blob-silver-16955234.figma.site/#data" title="csv-validation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136957"/>
            <a:ext cx="4142232" cy="274867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03504" y="2136957"/>
            <a:ext cx="4142232" cy="2748678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3017291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등록 성공 시 토스트</a:t>
            </a:r>
            <a:endParaRPr lang="en-US" sz="750" dirty="0"/>
          </a:p>
        </p:txBody>
      </p:sp>
      <p:pic>
        <p:nvPicPr>
          <p:cNvPr id="16" name="Image 1" descr="csv-registered | Figma Make screenshot | https://blob-silver-16955234.figma.site/#data" title="csv-registered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131856"/>
            <a:ext cx="1901952" cy="61257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46320" y="3131856"/>
            <a:ext cx="1901952" cy="612576"/>
          </a:xfrm>
          <a:prstGeom prst="rect">
            <a:avLst/>
          </a:prstGeom>
          <a:ln w="12700">
            <a:solidFill>
              <a:srgbClr val="D7373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완료 → 통과 항목 집계 → 등록 가능 안내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결과 확인 → 5개 기준 판정 → 통과 여부·사용 가능 범위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등록 클릭 → 검증·권한 확인 후 서버 저장 → SCR-A-001 등록 자료 수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성공 → 완료 메시지 생성 → 자료 등록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Shape 18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필수 검증 통과 후에만 등록 가능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후 파일·입력 기준이 바뀌면 다시 검증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000" name="Text 2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□ 오류   □ 처리불가   ■ 완료</a:t>
            </a:r>
            <a:endParaRPr lang="en-US" sz="900" dirty="0"/>
          </a:p>
        </p:txBody>
      </p:sp>
      <p:sp>
        <p:nvSpPr>
          <p:cNvPr id="29" name="Text 2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30" name="Text 2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등록 → 검증·권한 확인·서버 저장 → SCR-A-001 등록 자료 수 갱신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603504" y="381351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03504" y="38135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603504" y="40974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603504" y="40974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927703" y="3593460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927703" y="359346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4846320" y="3197497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4846320" y="319749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18 · CSV 검증 결과 · 등록 불가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검증 결과 · 등록 불가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UC08 자료 기준·누락값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CSV 검증 결과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csv-error | Figma Make screenshot | https://blob-silver-16955234.figma.site/#data" title="csv-error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402674"/>
            <a:ext cx="6199632" cy="421724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5216" y="1402674"/>
            <a:ext cx="6199632" cy="4217243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오류가 있는 파일 검증 → 실패 항목 판별 → 등록 불가 사유·재검증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항목 확인 → 실패한 검증 기준 확인 → 수정 후 재검증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버튼 확인 → 필수 검증 미통과 확인 → 등록 비활성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7050024" y="5020056"/>
            <a:ext cx="4617720" cy="640080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04888" y="5047488"/>
            <a:ext cx="45079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없는 수치를 만들어 채우거나 0으로 대체하지 않음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자료를 수정한 뒤 다시 검증해야 등록 가능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□ 정상   □ 결과없음   ■ 오류   ■ 처리불가   □ 완료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수정 후 검증 → 재검증 → SCR-A-001-P01 결과 갱신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610019" y="395737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610019" y="395737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4163102" y="438229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4163102" y="43822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1115858" y="362802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1115858" y="36280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화면설계서 · Storyboard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/ 19 · 추천 기준·근거 편집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502920" y="731520"/>
          <a:ext cx="11219688" cy="914400"/>
        </p:xfrm>
        <a:graphic>
          <a:graphicData uri="http://schemas.openxmlformats.org/drawingml/2006/table">
            <a:tbl>
              <a:tblPr/>
              <a:tblGrid>
                <a:gridCol w="804672"/>
                <a:gridCol w="1188720"/>
                <a:gridCol w="621792"/>
                <a:gridCol w="1417320"/>
                <a:gridCol w="548640"/>
                <a:gridCol w="1325880"/>
                <a:gridCol w="658368"/>
                <a:gridCol w="2423160"/>
                <a:gridCol w="475488"/>
                <a:gridCol w="1755648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Screen ID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SCR-A-001-P02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기준·근거 편집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Actor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운영자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UC09 추천 기준·근거 관리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63E5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 &gt; 자료·기준 관리 &gt; 추천 기준·근거 편집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18288" marB="18288" anchor="ctr">
                    <a:lnL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1325880"/>
            <a:ext cx="635508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pic>
        <p:nvPicPr>
          <p:cNvPr id="7" name="Image 0" descr="criteria | Figma Make screenshot | https://blob-silver-16955234.figma.site/#data" title="criteria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698" y="1426464"/>
            <a:ext cx="3429844" cy="416966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959698" y="1426464"/>
            <a:ext cx="3429844" cy="4169664"/>
          </a:xfrm>
          <a:prstGeom prst="rect">
            <a:avLst/>
          </a:prstGeom>
          <a:ln w="6350">
            <a:solidFill>
              <a:srgbClr val="D0D7D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0" y="2988636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저장 성공 시 토스트</a:t>
            </a:r>
            <a:endParaRPr lang="en-US" sz="750" dirty="0"/>
          </a:p>
        </p:txBody>
      </p:sp>
      <p:pic>
        <p:nvPicPr>
          <p:cNvPr id="26" name="Image 1" descr="criteria-saved | Figma Make screenshot | https://blob-silver-16955234.figma.site/#data" title="criteria-saved">
            <a:hlinkClick r:id="rIdRevisedMake" tooltip="Figma Make 수정본 열기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3282956"/>
            <a:ext cx="1901952" cy="310377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846320" y="3282956"/>
            <a:ext cx="1901952" cy="310377"/>
          </a:xfrm>
          <a:prstGeom prst="rect">
            <a:avLst/>
          </a:prstGeom>
          <a:ln w="12700">
            <a:solidFill>
              <a:srgbClr val="D73737"/>
            </a:solidFill>
            <a:prstDash val="solid"/>
          </a:ln>
        </p:spPr>
      </p:sp>
      <p:sp>
        <p:nvSpPr>
          <p:cNvPr id="2000" name="Shape 25"/>
          <p:cNvSpPr/>
          <p:nvPr/>
        </p:nvSpPr>
        <p:spPr>
          <a:xfrm>
            <a:off x="6995160" y="1325880"/>
            <a:ext cx="472744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B9C6D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solidFill>
            <a:srgbClr val="263E5C"/>
          </a:solidFill>
          <a:ln w="12700">
            <a:solidFill>
              <a:srgbClr val="263E5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995160" y="1325880"/>
            <a:ext cx="4727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Description (화면설명)</a:t>
            </a:r>
            <a:endParaRPr lang="en-US" sz="10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ns2:modId val="1579011935"/>
              </p:ext>
            </p:extLst>
          </p:nvPr>
        </p:nvGraphicFramePr>
        <p:xfrm>
          <a:off x="7050024" y="1755648"/>
          <a:ext cx="461772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4343400"/>
              </a:tblGrid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 클릭 → 변경 내용 저장 취소 → SCR-A-001 유지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안내 확인 → 기준 적용 방식 표시 → 저장 후 제안 재계산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 감소 기준 입력 → 숫자·범위 검사 → 추천 기준 저장 준비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출처·기준 입력 → 필수값 검사 → 제안의 출처·기준에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추천 판단 이유 입력 → 필수값 검사 → 제안 설명에 반영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적용 조건 입력 → 필수값 검사 → 제안의 확인 조건에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 클릭 → 변경 내용 저장 취소 → SCR-A-001 복귀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44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⑧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저장 클릭 → 권한·입력 검사·서버 저장 → 기준·홍보 제안 갱신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737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2D2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성공 → 완료 메시지 생성 → 추천 기준 저장 완료 알림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18288" marB="18288" anchor="ctr">
                    <a:lnL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4" name="Shape 28"/>
          <p:cNvSpPr/>
          <p:nvPr/>
        </p:nvSpPr>
        <p:spPr>
          <a:xfrm>
            <a:off x="7050024" y="4967414"/>
            <a:ext cx="4617720" cy="692722"/>
          </a:xfrm>
          <a:prstGeom prst="rect">
            <a:avLst/>
          </a:prstGeom>
          <a:solidFill>
            <a:srgbClr val="F7F9FB"/>
          </a:solidFill>
          <a:ln w="6350">
            <a:solidFill>
              <a:srgbClr val="E1E7E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104888" y="4994846"/>
            <a:ext cx="4507992" cy="637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저장한 기준·근거는 이후 홍보 제안 조회에 반영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필수값 오류는 해당 입력란에 표시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5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저장 실패 시 기존 적용 기준과 입력값을 유지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502920" y="5806440"/>
            <a:ext cx="11219688" cy="475488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85800" y="5806440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</a:t>
            </a:r>
            <a:endParaRPr lang="en-US" sz="900" dirty="0"/>
          </a:p>
        </p:txBody>
      </p:sp>
      <p:sp>
        <p:nvSpPr>
          <p:cNvPr id="38" name="Text 32"/>
          <p:cNvSpPr txBox="1"/>
          <p:nvPr/>
        </p:nvSpPr>
        <p:spPr>
          <a:xfrm>
            <a:off x="1600200" y="58064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■ 정상   □ 결과없음   ■ 오류   □ 처리불가   ■ 완료</a:t>
            </a:r>
            <a:endParaRPr lang="en-US" sz="900" dirty="0"/>
          </a:p>
        </p:txBody>
      </p:sp>
      <p:sp>
        <p:nvSpPr>
          <p:cNvPr id="39" name="Text 33"/>
          <p:cNvSpPr txBox="1"/>
          <p:nvPr/>
        </p:nvSpPr>
        <p:spPr>
          <a:xfrm>
            <a:off x="5669280" y="580644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 화면</a:t>
            </a:r>
            <a:endParaRPr lang="en-US" sz="900" dirty="0"/>
          </a:p>
        </p:txBody>
      </p:sp>
      <p:sp>
        <p:nvSpPr>
          <p:cNvPr id="40" name="Text 34"/>
          <p:cNvSpPr txBox="1"/>
          <p:nvPr/>
        </p:nvSpPr>
        <p:spPr>
          <a:xfrm>
            <a:off x="6537960" y="58064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저장 → 서버 저장·제안 재계산 → SCR-A-001 기준 요약 갱신</a:t>
            </a:r>
            <a:endParaRPr lang="en-US" sz="900" dirty="0"/>
          </a:p>
        </p:txBody>
      </p:sp>
      <p:sp>
        <p:nvSpPr>
          <p:cNvPr id="42" name="Text 35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  <p:sp>
        <p:nvSpPr>
          <p:cNvPr id="1002" name="Callout 1 circle"/>
          <p:cNvSpPr/>
          <p:nvPr/>
        </p:nvSpPr>
        <p:spPr>
          <a:xfrm>
            <a:off x="3921926" y="158724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3" name="Callout 1 number"/>
          <p:cNvSpPr txBox="1"/>
          <p:nvPr/>
        </p:nvSpPr>
        <p:spPr>
          <a:xfrm>
            <a:off x="3921926" y="158724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004" name="Callout 2 circle"/>
          <p:cNvSpPr/>
          <p:nvPr/>
        </p:nvSpPr>
        <p:spPr>
          <a:xfrm>
            <a:off x="967834" y="207181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5" name="Callout 2 number"/>
          <p:cNvSpPr txBox="1"/>
          <p:nvPr/>
        </p:nvSpPr>
        <p:spPr>
          <a:xfrm>
            <a:off x="967834" y="207181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006" name="Callout 3 circle"/>
          <p:cNvSpPr/>
          <p:nvPr/>
        </p:nvSpPr>
        <p:spPr>
          <a:xfrm>
            <a:off x="967834" y="2732288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7" name="Callout 3 number"/>
          <p:cNvSpPr txBox="1"/>
          <p:nvPr/>
        </p:nvSpPr>
        <p:spPr>
          <a:xfrm>
            <a:off x="967834" y="27322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008" name="Callout 4 circle"/>
          <p:cNvSpPr/>
          <p:nvPr/>
        </p:nvSpPr>
        <p:spPr>
          <a:xfrm>
            <a:off x="967834" y="323120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9" name="Callout 4 number"/>
          <p:cNvSpPr txBox="1"/>
          <p:nvPr/>
        </p:nvSpPr>
        <p:spPr>
          <a:xfrm>
            <a:off x="967834" y="323120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010" name="Callout 5 circle"/>
          <p:cNvSpPr/>
          <p:nvPr/>
        </p:nvSpPr>
        <p:spPr>
          <a:xfrm>
            <a:off x="967834" y="3730124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1" name="Callout 5 number"/>
          <p:cNvSpPr txBox="1"/>
          <p:nvPr/>
        </p:nvSpPr>
        <p:spPr>
          <a:xfrm>
            <a:off x="967834" y="37301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012" name="Callout 6 circle"/>
          <p:cNvSpPr/>
          <p:nvPr/>
        </p:nvSpPr>
        <p:spPr>
          <a:xfrm>
            <a:off x="967834" y="4523362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3" name="Callout 6 number"/>
          <p:cNvSpPr txBox="1"/>
          <p:nvPr/>
        </p:nvSpPr>
        <p:spPr>
          <a:xfrm>
            <a:off x="967834" y="452336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014" name="Callout 7 circle"/>
          <p:cNvSpPr/>
          <p:nvPr/>
        </p:nvSpPr>
        <p:spPr>
          <a:xfrm>
            <a:off x="3438739" y="51960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5" name="Callout 7 number"/>
          <p:cNvSpPr txBox="1"/>
          <p:nvPr/>
        </p:nvSpPr>
        <p:spPr>
          <a:xfrm>
            <a:off x="3438739" y="51960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016" name="Callout 8 circle"/>
          <p:cNvSpPr/>
          <p:nvPr/>
        </p:nvSpPr>
        <p:spPr>
          <a:xfrm>
            <a:off x="3802037" y="5196019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7" name="Callout 8 number"/>
          <p:cNvSpPr txBox="1"/>
          <p:nvPr/>
        </p:nvSpPr>
        <p:spPr>
          <a:xfrm>
            <a:off x="3802037" y="5196019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018" name="Callout 9 circle"/>
          <p:cNvSpPr/>
          <p:nvPr/>
        </p:nvSpPr>
        <p:spPr>
          <a:xfrm>
            <a:off x="4846320" y="3282956"/>
            <a:ext cx="182880" cy="182880"/>
          </a:xfrm>
          <a:prstGeom prst="ellipse">
            <a:avLst/>
          </a:prstGeom>
          <a:solidFill>
            <a:srgbClr val="D7373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9" name="Callout 9 number"/>
          <p:cNvSpPr txBox="1"/>
          <p:nvPr/>
        </p:nvSpPr>
        <p:spPr>
          <a:xfrm>
            <a:off x="4846320" y="32829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구현 범위와 Figma 공유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/ 범위 · 제출 링크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1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8961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범위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89611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F01 방문 추이 · F02 소비 비교·홍보 제안 · F03 일정·사용 기록 · 운영 지원(CSV 등록·검증, 추천 기준 관리)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673352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673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6550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제출 범위 제외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1655064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F04(UC06 보고서 초안 작성)는 이번 제출의 구현 범위에서 제외합니다. 이후 도입 여부는 별도 결정합니다.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432304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241401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설계·시안 구분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2414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서버 인증·저장·검증을 기준으로 설계합니다. 현재 시안은 예시 자료와 브라우저 저장을 사용하며 서버 기능은 미연결입니다.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3191256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317296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Figma Make 편집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880360" y="317296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ScopeMakeEditor"/>
              </a:rPr>
              <a:t>https://www.figma.com/make/AlZOwKZXABo7G6BkUhTG03/Start-Task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3950208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9319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시안 실행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880360" y="3931920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ScopePublishedPreview"/>
              </a:rPr>
              <a:t>https://blob-silver-16955234.figma.site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85800" y="4709160"/>
            <a:ext cx="384048" cy="384048"/>
          </a:xfrm>
          <a:prstGeom prst="ellipse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690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공유·화면 이동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690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링크 비로그인 열람 확인(편집은 로그인 필요). 화면 이동: Figma Make 미리보기의 메뉴·버튼으로 확인.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85800" y="5623560"/>
            <a:ext cx="10789920" cy="530352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623560"/>
            <a:ext cx="10424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지역 방문 집계는 개별 가게 손님 수가 아닙니다. 기록 미확보와 0건을 구분하며, 매출 증가나 미래 결과를 보장하지 않습니다.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645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제출 전 체크리스트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82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/ 최종 점검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11338560" cy="27432"/>
          </a:xfrm>
          <a:prstGeom prst="rect">
            <a:avLst/>
          </a:prstGeom>
          <a:solidFill>
            <a:srgbClr val="4371A0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91440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91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91440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PROJECT.md의 주요 기능이 화면에 반영되어 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49961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49961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 Case Diagram의 주요 Use Case가 화면 또는 화면 내 기능과 연결되어 있다. (최종 다이어그램 대조 대기)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08483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08483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사용자/관리자 등 Actor별 화면이 구분되어 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670048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2670048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화면에 Screen ID, 화면명, 관련 Use Case, 경로가 기재되어 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255264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325526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입력·버튼·조회결과·팝업 등에 번호가 있고 Description과 대응된다.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84048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상태뿐 아니라 결과 없음·입력 오류·처리 불가·완료 상태를 필요한 경우 표현했다.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425696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4425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280160" y="442569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 후 처리 내용과 다음 화면 이동이 명확하다.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85800" y="501091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4371A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50109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71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50109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2D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구현하지 않을 기능을 실제 기능처럼 화면설계서에 포함하지 않았다.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5800" y="5760720"/>
            <a:ext cx="10789920" cy="411480"/>
          </a:xfrm>
          <a:prstGeom prst="rect">
            <a:avLst/>
          </a:prstGeom>
          <a:solidFill>
            <a:srgbClr val="EFF3F7"/>
          </a:solidFill>
          <a:ln w="12700">
            <a:solidFill>
              <a:srgbClr val="EFF3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8680" y="57607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3E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파일명: Red 화면설계서_20260927_수정완료.pptx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6519672"/>
            <a:ext cx="11338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282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정보시스템 캡스톤디자인 | 화면설계서·Storyboard Template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0</ns0:Words>
  <ns0:Application>Microsoft Office PowerPoint</ns0:Application>
  <ns0:PresentationFormat>On-screen Show (16:9)</ns0:PresentationFormat>
  <ns0:Paragraphs>0</ns0:Paragraphs>
  <ns0:Slides>30</ns0:Slides>
  <ns0:Notes>31</ns0:Notes>
  <ns0:HiddenSlides>0</ns0:HiddenSlides>
  <ns0:MMClips>0</ns0:MMClips>
  <ns0:ScaleCrop>false</ns0:ScaleCrop>
  <ns0:HeadingPairs>
    <ns1:vector size="6" baseType="variant">
      <ns1:variant>
        <ns1:lpstr>Fonts Used</ns1:lpstr>
      </ns1:variant>
      <ns1:variant>
        <ns1:i4>2</ns1:i4>
      </ns1:variant>
      <ns1:variant>
        <ns1:lpstr>Theme</ns1:lpstr>
      </ns1:variant>
      <ns1:variant>
        <ns1:i4>1</ns1:i4>
      </ns1:variant>
      <ns1:variant>
        <ns1:lpstr>Slide Titles</ns1:lpstr>
      </ns1:variant>
      <ns1:variant>
        <ns1:i4>31</ns1:i4>
      </ns1:variant>
    </ns1:vector>
  </ns0:HeadingPairs>
  <ns0:TitlesOfParts>
    <ns1:vector size="34" baseType="lpstr">
      <ns1:lpstr>Arial</ns1:lpstr>
      <ns1:lpstr>Calibri</ns1:lpstr>
      <ns1:lpstr>Office Theme</ns1:lpstr>
      <ns1:lpstr>Slide 1</ns1:lpstr>
      <ns1:lpstr>Slide 2</ns1:lpstr>
      <ns1:lpstr>Slide 3</ns1:lpstr>
      <ns1:lpstr>Slide 4</ns1:lpstr>
      <ns1:lpstr>Slide 5</ns1:lpstr>
      <ns1:lpstr>Slide 6</ns1:lpstr>
      <ns1:lpstr>Slide 7</ns1:lpstr>
      <ns1:lpstr>Slide 8</ns1:lpstr>
      <ns1:lpstr>Slide 9</ns1:lpstr>
      <ns1:lpstr>Slide 10</ns1:lpstr>
      <ns1:lpstr>Slide 11</ns1:lpstr>
      <ns1:lpstr>Slide 12</ns1:lpstr>
      <ns1:lpstr>Slide 13</ns1:lpstr>
      <ns1:lpstr>Slide 14</ns1:lpstr>
      <ns1:lpstr>Slide 15</ns1:lpstr>
      <ns1:lpstr>Slide 16</ns1:lpstr>
      <ns1:lpstr>Slide 17</ns1:lpstr>
      <ns1:lpstr>Slide 18</ns1:lpstr>
      <ns1:lpstr>Slide 19</ns1:lpstr>
      <ns1:lpstr>Slide 20</ns1:lpstr>
      <ns1:lpstr>Slide 21</ns1:lpstr>
      <ns1:lpstr>Slide 22</ns1:lpstr>
      <ns1:lpstr>Slide 23</ns1:lpstr>
      <ns1:lpstr>Slide 24</ns1:lpstr>
      <ns1:lpstr>Slide 25</ns1:lpstr>
      <ns1:lpstr>Slide 26</ns1:lpstr>
      <ns1:lpstr>Slide 27</ns1:lpstr>
      <ns1:lpstr>Slide 28</ns1:lpstr>
      <ns1:lpstr>Slide 29</ns1:lpstr>
      <ns1:lpstr>Slide 30</ns1:lpstr>
      <ns1:lpstr>Slide 31</ns1:lpstr>
    </ns1:vector>
  </ns0:TitlesOfParts>
  <ns0:Company>PptxGenJS</ns0:Company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화면설계서</dc:title>
  <dc:subject>PptxGenJS Presentation</dc:subject>
  <dc:creator>PptxGenJS</dc:creator>
  <cp:lastModifiedBy>PptxGenJS</cp:lastModifiedBy>
  <cp:revision>1</cp:revision>
  <dcterms:created xsi:type="dcterms:W3CDTF">2026-09-27T12:03:15Z</dcterms:created>
  <dcterms:modified xsi:type="dcterms:W3CDTF">2026-09-27T12:03:15Z</dcterms:modified>
</cp:coreProperties>
</file>